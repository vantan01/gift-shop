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3"/>
    <p:sldId id="273" r:id="rId4"/>
    <p:sldId id="268" r:id="rId6"/>
    <p:sldId id="258" r:id="rId7"/>
    <p:sldId id="272" r:id="rId8"/>
    <p:sldId id="285" r:id="rId9"/>
    <p:sldId id="286" r:id="rId10"/>
    <p:sldId id="280" r:id="rId11"/>
    <p:sldId id="260" r:id="rId12"/>
    <p:sldId id="284" r:id="rId13"/>
    <p:sldId id="261" r:id="rId14"/>
    <p:sldId id="281" r:id="rId15"/>
    <p:sldId id="263" r:id="rId16"/>
    <p:sldId id="276" r:id="rId17"/>
    <p:sldId id="264" r:id="rId18"/>
    <p:sldId id="277" r:id="rId19"/>
    <p:sldId id="265" r:id="rId20"/>
    <p:sldId id="266" r:id="rId21"/>
    <p:sldId id="287" r:id="rId22"/>
    <p:sldId id="288" r:id="rId23"/>
    <p:sldId id="289" r:id="rId24"/>
    <p:sldId id="290" r:id="rId25"/>
    <p:sldId id="282" r:id="rId26"/>
    <p:sldId id="283" r:id="rId27"/>
  </p:sldIdLst>
  <p:sldSz cx="9144000" cy="51435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uthorId_admin"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1" Type="http://schemas.openxmlformats.org/officeDocument/2006/relationships/commentAuthors" Target="commentAuthors.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US"/>
              <a:t>Thứ nhất là xây dựng một hệ thống Web Server sử dụng Docker với kiến trúc 3 tầng. Thứ hai là mô phỏng các lỗ hổng cấu hình th</a:t>
            </a:r>
            <a:r>
              <a:rPr lang="en-US" altLang="en-US"/>
              <a:t>ư</a:t>
            </a:r>
            <a:r>
              <a:rPr lang="en-US" altLang="en-US"/>
              <a:t>ờng gặp trong thực tế. Thứ ba là </a:t>
            </a:r>
            <a:r>
              <a:rPr lang="en-US" altLang="en-US"/>
              <a:t>đ</a:t>
            </a:r>
            <a:r>
              <a:rPr lang="en-US" altLang="en-US"/>
              <a:t>ánh giá mức </a:t>
            </a:r>
            <a:r>
              <a:rPr lang="en-US" altLang="en-US"/>
              <a:t>đ</a:t>
            </a:r>
            <a:r>
              <a:rPr lang="en-US" altLang="en-US"/>
              <a:t>ộ rủi ro của những lỗ hổng này. Và cuối cùng là </a:t>
            </a:r>
            <a:r>
              <a:rPr lang="en-US" altLang="en-US"/>
              <a:t>đ</a:t>
            </a:r>
            <a:r>
              <a:rPr lang="en-US" altLang="en-US"/>
              <a:t>ề xuất các giải pháp khắc phục cụ thể.</a:t>
            </a:r>
            <a:endParaRPr lang="en-US" altLang="en-US"/>
          </a:p>
          <a:p>
            <a:r>
              <a:rPr lang="en-US" altLang="en-US"/>
              <a:t>Ngoài ra, chúng ta c</a:t>
            </a:r>
            <a:r>
              <a:rPr lang="en-US" altLang="en-US"/>
              <a:t>ũ</a:t>
            </a:r>
            <a:r>
              <a:rPr lang="en-US" altLang="en-US"/>
              <a:t>ng sẽ tìm hiểu Docker và Container, triển khai ứng dụng Laravel trên nền tảng modern, phân tích rủi ro theo các tiêu chí bảo mật quốc tế, và áp dụng các biện pháp hardening </a:t>
            </a:r>
            <a:r>
              <a:rPr lang="en-US" altLang="en-US"/>
              <a:t>đ</a:t>
            </a:r>
            <a:r>
              <a:rPr lang="en-US" altLang="en-US"/>
              <a:t>ể bảo vệ hệ thống.</a:t>
            </a:r>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US"/>
              <a:t>Báng cáo </a:t>
            </a:r>
            <a:r>
              <a:rPr lang="en-US" altLang="en-US"/>
              <a:t>đư</a:t>
            </a:r>
            <a:r>
              <a:rPr lang="en-US" altLang="en-US"/>
              <a:t>ợc chia thành 4 phần chính. Phần thứ nhất là nền tảng l</a:t>
            </a:r>
            <a:r>
              <a:rPr lang="en-US" altLang="en-US"/>
              <a:t>ý </a:t>
            </a:r>
            <a:r>
              <a:rPr lang="en-US" altLang="en-US"/>
              <a:t>thuyết - chúng ta sẽ tìm hiểu về Docker, Container, và các khái niệm cơ bản về bảo mật hệ thống.</a:t>
            </a:r>
            <a:endParaRPr lang="en-US" altLang="en-US"/>
          </a:p>
          <a:p>
            <a:r>
              <a:rPr lang="en-US" altLang="en-US"/>
              <a:t>Phần thứ hai là quá trình triển khai thực tế - xây dựng hệ thống từ zero, cấu hình các thành phần, và kiểm thử.</a:t>
            </a:r>
            <a:endParaRPr lang="en-US" altLang="en-US"/>
          </a:p>
          <a:p>
            <a:r>
              <a:rPr lang="en-US" altLang="en-US"/>
              <a:t>Phần thứ ba là phần quan trọng nhất - phân tích chi tiết 4 lỗ hổng cấu hình phổ biến, </a:t>
            </a:r>
            <a:r>
              <a:rPr lang="en-US" altLang="en-US"/>
              <a:t>đ</a:t>
            </a:r>
            <a:r>
              <a:rPr lang="en-US" altLang="en-US"/>
              <a:t>ánh giá tác </a:t>
            </a:r>
            <a:r>
              <a:rPr lang="en-US" altLang="en-US"/>
              <a:t>đ</a:t>
            </a:r>
            <a:r>
              <a:rPr lang="en-US" altLang="en-US"/>
              <a:t>ộng của chúng.</a:t>
            </a:r>
            <a:endParaRPr lang="en-US" altLang="en-US"/>
          </a:p>
          <a:p>
            <a:r>
              <a:rPr lang="en-US" altLang="en-US"/>
              <a:t>Phần cuối cùng là các giải pháp khắc phục cụ thể và bài học kinh nghiệm rút ra từ quá trình này.</a:t>
            </a:r>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US"/>
              <a:t>Đ</a:t>
            </a:r>
            <a:r>
              <a:rPr lang="en-US" altLang="en-US"/>
              <a:t>ể hiểu </a:t>
            </a:r>
            <a:r>
              <a:rPr lang="en-US" altLang="en-US"/>
              <a:t>đư</a:t>
            </a:r>
            <a:r>
              <a:rPr lang="en-US" altLang="en-US"/>
              <a:t>ợc nội dung báng cáo, chúng ta cần nắm r</a:t>
            </a:r>
            <a:r>
              <a:rPr lang="en-US" altLang="en-US"/>
              <a:t>õ </a:t>
            </a:r>
            <a:r>
              <a:rPr lang="en-US" altLang="en-US"/>
              <a:t>Container và Docker là gì.</a:t>
            </a:r>
            <a:endParaRPr lang="en-US" altLang="en-US"/>
          </a:p>
          <a:p>
            <a:r>
              <a:rPr lang="en-US" altLang="en-US"/>
              <a:t>Container là một giải pháp ảo hóa ở cấp </a:t>
            </a:r>
            <a:r>
              <a:rPr lang="en-US" altLang="en-US"/>
              <a:t>đ</a:t>
            </a:r>
            <a:r>
              <a:rPr lang="en-US" altLang="en-US"/>
              <a:t>ộ hệ </a:t>
            </a:r>
            <a:r>
              <a:rPr lang="en-US" altLang="en-US"/>
              <a:t>đ</a:t>
            </a:r>
            <a:r>
              <a:rPr lang="en-US" altLang="en-US"/>
              <a:t>iều hành. Nó cho phép chúng ta </a:t>
            </a:r>
            <a:r>
              <a:rPr lang="en-US" altLang="en-US"/>
              <a:t>đ</a:t>
            </a:r>
            <a:r>
              <a:rPr lang="en-US" altLang="en-US"/>
              <a:t>óng gói toàn bộ ứng dụng - bao gồm mã nguồn, các th</a:t>
            </a:r>
            <a:r>
              <a:rPr lang="en-US" altLang="en-US"/>
              <a:t>ư </a:t>
            </a:r>
            <a:r>
              <a:rPr lang="en-US" altLang="en-US"/>
              <a:t>viện phụ thuộc, cấu hình, và môi tr</a:t>
            </a:r>
            <a:r>
              <a:rPr lang="en-US" altLang="en-US"/>
              <a:t>ư</a:t>
            </a:r>
            <a:r>
              <a:rPr lang="en-US" altLang="en-US"/>
              <a:t>ờng thực thi - vào một </a:t>
            </a:r>
            <a:r>
              <a:rPr lang="en-US" altLang="en-US"/>
              <a:t>đ</a:t>
            </a:r>
            <a:r>
              <a:rPr lang="en-US" altLang="en-US"/>
              <a:t>ơn vị </a:t>
            </a:r>
            <a:r>
              <a:rPr lang="en-US" altLang="en-US"/>
              <a:t>đ</a:t>
            </a:r>
            <a:r>
              <a:rPr lang="en-US" altLang="en-US"/>
              <a:t>ộc lập duy nhất.</a:t>
            </a:r>
            <a:endParaRPr lang="en-US" altLang="en-US"/>
          </a:p>
          <a:p>
            <a:r>
              <a:rPr lang="en-US" altLang="en-US"/>
              <a:t>Khác với máy ảo truyền thống mà mỗi cái phải cài </a:t>
            </a:r>
            <a:r>
              <a:rPr lang="en-US" altLang="en-US"/>
              <a:t>đ</a:t>
            </a:r>
            <a:r>
              <a:rPr lang="en-US" altLang="en-US"/>
              <a:t>ặt toàn bộ hệ </a:t>
            </a:r>
            <a:r>
              <a:rPr lang="en-US" altLang="en-US"/>
              <a:t>đ</a:t>
            </a:r>
            <a:r>
              <a:rPr lang="en-US" altLang="en-US"/>
              <a:t>iều hành riêng, container chia sẻ kernel của máy chủ chính (Host). </a:t>
            </a:r>
            <a:r>
              <a:rPr lang="en-US" altLang="en-US"/>
              <a:t>Đ</a:t>
            </a:r>
            <a:r>
              <a:rPr lang="en-US" altLang="en-US"/>
              <a:t>iều này có một </a:t>
            </a:r>
            <a:r>
              <a:rPr lang="en-US" altLang="en-US"/>
              <a:t>ư</a:t>
            </a:r>
            <a:r>
              <a:rPr lang="en-US" altLang="en-US"/>
              <a:t>u </a:t>
            </a:r>
            <a:r>
              <a:rPr lang="en-US" altLang="en-US"/>
              <a:t>đ</a:t>
            </a:r>
            <a:r>
              <a:rPr lang="en-US" altLang="en-US"/>
              <a:t>iểm rất lớn: container nhẹ hơn, tiêu tốn ít tài nguyên hơn, khởi </a:t>
            </a:r>
            <a:r>
              <a:rPr lang="en-US" altLang="en-US"/>
              <a:t>đ</a:t>
            </a:r>
            <a:r>
              <a:rPr lang="en-US" altLang="en-US"/>
              <a:t>ộng nhanh hơn, nh</a:t>
            </a:r>
            <a:r>
              <a:rPr lang="en-US" altLang="en-US"/>
              <a:t>ư</a:t>
            </a:r>
            <a:r>
              <a:rPr lang="en-US" altLang="en-US"/>
              <a:t>ng vẫn </a:t>
            </a:r>
            <a:r>
              <a:rPr lang="en-US" altLang="en-US"/>
              <a:t>đ</a:t>
            </a:r>
            <a:r>
              <a:rPr lang="en-US" altLang="en-US"/>
              <a:t>ạt </a:t>
            </a:r>
            <a:r>
              <a:rPr lang="en-US" altLang="en-US"/>
              <a:t>đư</a:t>
            </a:r>
            <a:r>
              <a:rPr lang="en-US" altLang="en-US"/>
              <a:t>ợc mục </a:t>
            </a:r>
            <a:r>
              <a:rPr lang="en-US" altLang="en-US"/>
              <a:t>đ</a:t>
            </a:r>
            <a:r>
              <a:rPr lang="en-US" altLang="en-US"/>
              <a:t>ích cô lập ứng dụng.</a:t>
            </a:r>
            <a:endParaRPr lang="en-US" altLang="en-US"/>
          </a:p>
          <a:p>
            <a:r>
              <a:rPr lang="en-US" altLang="en-US"/>
              <a:t>Docker là nền tảng mã nguồn mở hàng </a:t>
            </a:r>
            <a:r>
              <a:rPr lang="en-US" altLang="en-US"/>
              <a:t>đ</a:t>
            </a:r>
            <a:r>
              <a:rPr lang="en-US" altLang="en-US"/>
              <a:t>ầu </a:t>
            </a:r>
            <a:r>
              <a:rPr lang="en-US" altLang="en-US"/>
              <a:t>đ</a:t>
            </a:r>
            <a:r>
              <a:rPr lang="en-US" altLang="en-US"/>
              <a:t>ể tạo, quản l</a:t>
            </a:r>
            <a:r>
              <a:rPr lang="en-US" altLang="en-US"/>
              <a:t>ý, </a:t>
            </a:r>
            <a:r>
              <a:rPr lang="en-US" altLang="en-US"/>
              <a:t>và vận hành các container. Docker cung cấp một bộ công cụ toàn diện bao gồm Docker Engine (runtime), Docker CLI (command line interface), Docker Hub (registry), và Docker Compose (orchestration tool).</a:t>
            </a:r>
            <a:endParaRPr lang="en-US" altLang="en-US"/>
          </a:p>
          <a:p>
            <a:r>
              <a:rPr lang="en-US" altLang="en-US"/>
              <a:t>Tại sao Docker quan trọng? Vì nó giúp chúng ta triển khai ứng dụng một cách nhất quán, không phụ thuộc vào môi tr</a:t>
            </a:r>
            <a:r>
              <a:rPr lang="en-US" altLang="en-US"/>
              <a:t>ư</a:t>
            </a:r>
            <a:r>
              <a:rPr lang="en-US" altLang="en-US"/>
              <a:t>ờng (máy tính cá nhân, máy chủ phát triển, hoặc máy chủ production). Docker c</a:t>
            </a:r>
            <a:r>
              <a:rPr lang="en-US" altLang="en-US"/>
              <a:t>ũ</a:t>
            </a:r>
            <a:r>
              <a:rPr lang="en-US" altLang="en-US"/>
              <a:t>ng tạo ra một cộng </a:t>
            </a:r>
            <a:r>
              <a:rPr lang="en-US" altLang="en-US"/>
              <a:t>đ</a:t>
            </a:r>
            <a:r>
              <a:rPr lang="en-US" altLang="en-US"/>
              <a:t>ồng lớn và một hệ sinh thái phong phú các công cụ hỗ trợ.</a:t>
            </a:r>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US"/>
              <a:t>Đ</a:t>
            </a:r>
            <a:r>
              <a:rPr lang="en-US" altLang="en-US"/>
              <a:t>ể hiểu </a:t>
            </a:r>
            <a:r>
              <a:rPr lang="en-US" altLang="en-US"/>
              <a:t>đư</a:t>
            </a:r>
            <a:r>
              <a:rPr lang="en-US" altLang="en-US"/>
              <a:t>ợc nội dung báng cáo, chúng ta cần nắm r</a:t>
            </a:r>
            <a:r>
              <a:rPr lang="en-US" altLang="en-US"/>
              <a:t>õ </a:t>
            </a:r>
            <a:r>
              <a:rPr lang="en-US" altLang="en-US"/>
              <a:t>Container và Docker là gì.</a:t>
            </a:r>
            <a:endParaRPr lang="en-US" altLang="en-US"/>
          </a:p>
          <a:p>
            <a:r>
              <a:rPr lang="en-US" altLang="en-US"/>
              <a:t>Container là một giải pháp ảo hóa ở cấp </a:t>
            </a:r>
            <a:r>
              <a:rPr lang="en-US" altLang="en-US"/>
              <a:t>đ</a:t>
            </a:r>
            <a:r>
              <a:rPr lang="en-US" altLang="en-US"/>
              <a:t>ộ hệ </a:t>
            </a:r>
            <a:r>
              <a:rPr lang="en-US" altLang="en-US"/>
              <a:t>đ</a:t>
            </a:r>
            <a:r>
              <a:rPr lang="en-US" altLang="en-US"/>
              <a:t>iều hành. Nó cho phép chúng ta </a:t>
            </a:r>
            <a:r>
              <a:rPr lang="en-US" altLang="en-US"/>
              <a:t>đ</a:t>
            </a:r>
            <a:r>
              <a:rPr lang="en-US" altLang="en-US"/>
              <a:t>óng gói toàn bộ ứng dụng - bao gồm mã nguồn, các th</a:t>
            </a:r>
            <a:r>
              <a:rPr lang="en-US" altLang="en-US"/>
              <a:t>ư </a:t>
            </a:r>
            <a:r>
              <a:rPr lang="en-US" altLang="en-US"/>
              <a:t>viện phụ thuộc, cấu hình, và môi tr</a:t>
            </a:r>
            <a:r>
              <a:rPr lang="en-US" altLang="en-US"/>
              <a:t>ư</a:t>
            </a:r>
            <a:r>
              <a:rPr lang="en-US" altLang="en-US"/>
              <a:t>ờng thực thi - vào một </a:t>
            </a:r>
            <a:r>
              <a:rPr lang="en-US" altLang="en-US"/>
              <a:t>đ</a:t>
            </a:r>
            <a:r>
              <a:rPr lang="en-US" altLang="en-US"/>
              <a:t>ơn vị </a:t>
            </a:r>
            <a:r>
              <a:rPr lang="en-US" altLang="en-US"/>
              <a:t>đ</a:t>
            </a:r>
            <a:r>
              <a:rPr lang="en-US" altLang="en-US"/>
              <a:t>ộc lập duy nhất.</a:t>
            </a:r>
            <a:endParaRPr lang="en-US" altLang="en-US"/>
          </a:p>
          <a:p>
            <a:r>
              <a:rPr lang="en-US" altLang="en-US"/>
              <a:t>Khác với máy ảo truyền thống mà mỗi cái phải cài </a:t>
            </a:r>
            <a:r>
              <a:rPr lang="en-US" altLang="en-US"/>
              <a:t>đ</a:t>
            </a:r>
            <a:r>
              <a:rPr lang="en-US" altLang="en-US"/>
              <a:t>ặt toàn bộ hệ </a:t>
            </a:r>
            <a:r>
              <a:rPr lang="en-US" altLang="en-US"/>
              <a:t>đ</a:t>
            </a:r>
            <a:r>
              <a:rPr lang="en-US" altLang="en-US"/>
              <a:t>iều hành riêng, container chia sẻ kernel của máy chủ chính (Host). </a:t>
            </a:r>
            <a:r>
              <a:rPr lang="en-US" altLang="en-US"/>
              <a:t>Đ</a:t>
            </a:r>
            <a:r>
              <a:rPr lang="en-US" altLang="en-US"/>
              <a:t>iều này có một </a:t>
            </a:r>
            <a:r>
              <a:rPr lang="en-US" altLang="en-US"/>
              <a:t>ư</a:t>
            </a:r>
            <a:r>
              <a:rPr lang="en-US" altLang="en-US"/>
              <a:t>u </a:t>
            </a:r>
            <a:r>
              <a:rPr lang="en-US" altLang="en-US"/>
              <a:t>đ</a:t>
            </a:r>
            <a:r>
              <a:rPr lang="en-US" altLang="en-US"/>
              <a:t>iểm rất lớn: container nhẹ hơn, tiêu tốn ít tài nguyên hơn, khởi </a:t>
            </a:r>
            <a:r>
              <a:rPr lang="en-US" altLang="en-US"/>
              <a:t>đ</a:t>
            </a:r>
            <a:r>
              <a:rPr lang="en-US" altLang="en-US"/>
              <a:t>ộng nhanh hơn, nh</a:t>
            </a:r>
            <a:r>
              <a:rPr lang="en-US" altLang="en-US"/>
              <a:t>ư</a:t>
            </a:r>
            <a:r>
              <a:rPr lang="en-US" altLang="en-US"/>
              <a:t>ng vẫn </a:t>
            </a:r>
            <a:r>
              <a:rPr lang="en-US" altLang="en-US"/>
              <a:t>đ</a:t>
            </a:r>
            <a:r>
              <a:rPr lang="en-US" altLang="en-US"/>
              <a:t>ạt </a:t>
            </a:r>
            <a:r>
              <a:rPr lang="en-US" altLang="en-US"/>
              <a:t>đư</a:t>
            </a:r>
            <a:r>
              <a:rPr lang="en-US" altLang="en-US"/>
              <a:t>ợc mục </a:t>
            </a:r>
            <a:r>
              <a:rPr lang="en-US" altLang="en-US"/>
              <a:t>đ</a:t>
            </a:r>
            <a:r>
              <a:rPr lang="en-US" altLang="en-US"/>
              <a:t>ích cô lập ứng dụng.</a:t>
            </a:r>
            <a:endParaRPr lang="en-US" altLang="en-US"/>
          </a:p>
          <a:p>
            <a:r>
              <a:rPr lang="en-US" altLang="en-US"/>
              <a:t>Docker là nền tảng mã nguồn mở hàng </a:t>
            </a:r>
            <a:r>
              <a:rPr lang="en-US" altLang="en-US"/>
              <a:t>đ</a:t>
            </a:r>
            <a:r>
              <a:rPr lang="en-US" altLang="en-US"/>
              <a:t>ầu </a:t>
            </a:r>
            <a:r>
              <a:rPr lang="en-US" altLang="en-US"/>
              <a:t>đ</a:t>
            </a:r>
            <a:r>
              <a:rPr lang="en-US" altLang="en-US"/>
              <a:t>ể tạo, quản l</a:t>
            </a:r>
            <a:r>
              <a:rPr lang="en-US" altLang="en-US"/>
              <a:t>ý, </a:t>
            </a:r>
            <a:r>
              <a:rPr lang="en-US" altLang="en-US"/>
              <a:t>và vận hành các container. Docker cung cấp một bộ công cụ toàn diện bao gồm Docker Engine (runtime), Docker CLI (command line interface), Docker Hub (registry), và Docker Compose (orchestration tool).</a:t>
            </a:r>
            <a:endParaRPr lang="en-US" altLang="en-US"/>
          </a:p>
          <a:p>
            <a:r>
              <a:rPr lang="en-US" altLang="en-US"/>
              <a:t>Tại sao Docker quan trọng? Vì nó giúp chúng ta triển khai ứng dụng một cách nhất quán, không phụ thuộc vào môi tr</a:t>
            </a:r>
            <a:r>
              <a:rPr lang="en-US" altLang="en-US"/>
              <a:t>ư</a:t>
            </a:r>
            <a:r>
              <a:rPr lang="en-US" altLang="en-US"/>
              <a:t>ờng (máy tính cá nhân, máy chủ phát triển, hoặc máy chủ production). Docker c</a:t>
            </a:r>
            <a:r>
              <a:rPr lang="en-US" altLang="en-US"/>
              <a:t>ũ</a:t>
            </a:r>
            <a:r>
              <a:rPr lang="en-US" altLang="en-US"/>
              <a:t>ng tạo ra một cộng </a:t>
            </a:r>
            <a:r>
              <a:rPr lang="en-US" altLang="en-US"/>
              <a:t>đ</a:t>
            </a:r>
            <a:r>
              <a:rPr lang="en-US" altLang="en-US"/>
              <a:t>ồng lớn và một hệ sinh thái phong phú các công cụ hỗ trợ.</a:t>
            </a:r>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US"/>
              <a:t>Đ</a:t>
            </a:r>
            <a:r>
              <a:rPr lang="en-US" altLang="en-US"/>
              <a:t>ể hiểu </a:t>
            </a:r>
            <a:r>
              <a:rPr lang="en-US" altLang="en-US"/>
              <a:t>đư</a:t>
            </a:r>
            <a:r>
              <a:rPr lang="en-US" altLang="en-US"/>
              <a:t>ợc nội dung báng cáo, chúng ta cần nắm r</a:t>
            </a:r>
            <a:r>
              <a:rPr lang="en-US" altLang="en-US"/>
              <a:t>õ </a:t>
            </a:r>
            <a:r>
              <a:rPr lang="en-US" altLang="en-US"/>
              <a:t>Container và Docker là gì.</a:t>
            </a:r>
            <a:endParaRPr lang="en-US" altLang="en-US"/>
          </a:p>
          <a:p>
            <a:r>
              <a:rPr lang="en-US" altLang="en-US"/>
              <a:t>Container là một giải pháp ảo hóa ở cấp </a:t>
            </a:r>
            <a:r>
              <a:rPr lang="en-US" altLang="en-US"/>
              <a:t>đ</a:t>
            </a:r>
            <a:r>
              <a:rPr lang="en-US" altLang="en-US"/>
              <a:t>ộ hệ </a:t>
            </a:r>
            <a:r>
              <a:rPr lang="en-US" altLang="en-US"/>
              <a:t>đ</a:t>
            </a:r>
            <a:r>
              <a:rPr lang="en-US" altLang="en-US"/>
              <a:t>iều hành. Nó cho phép chúng ta </a:t>
            </a:r>
            <a:r>
              <a:rPr lang="en-US" altLang="en-US"/>
              <a:t>đ</a:t>
            </a:r>
            <a:r>
              <a:rPr lang="en-US" altLang="en-US"/>
              <a:t>óng gói toàn bộ ứng dụng - bao gồm mã nguồn, các th</a:t>
            </a:r>
            <a:r>
              <a:rPr lang="en-US" altLang="en-US"/>
              <a:t>ư </a:t>
            </a:r>
            <a:r>
              <a:rPr lang="en-US" altLang="en-US"/>
              <a:t>viện phụ thuộc, cấu hình, và môi tr</a:t>
            </a:r>
            <a:r>
              <a:rPr lang="en-US" altLang="en-US"/>
              <a:t>ư</a:t>
            </a:r>
            <a:r>
              <a:rPr lang="en-US" altLang="en-US"/>
              <a:t>ờng thực thi - vào một </a:t>
            </a:r>
            <a:r>
              <a:rPr lang="en-US" altLang="en-US"/>
              <a:t>đ</a:t>
            </a:r>
            <a:r>
              <a:rPr lang="en-US" altLang="en-US"/>
              <a:t>ơn vị </a:t>
            </a:r>
            <a:r>
              <a:rPr lang="en-US" altLang="en-US"/>
              <a:t>đ</a:t>
            </a:r>
            <a:r>
              <a:rPr lang="en-US" altLang="en-US"/>
              <a:t>ộc lập duy nhất.</a:t>
            </a:r>
            <a:endParaRPr lang="en-US" altLang="en-US"/>
          </a:p>
          <a:p>
            <a:r>
              <a:rPr lang="en-US" altLang="en-US"/>
              <a:t>Khác với máy ảo truyền thống mà mỗi cái phải cài </a:t>
            </a:r>
            <a:r>
              <a:rPr lang="en-US" altLang="en-US"/>
              <a:t>đ</a:t>
            </a:r>
            <a:r>
              <a:rPr lang="en-US" altLang="en-US"/>
              <a:t>ặt toàn bộ hệ </a:t>
            </a:r>
            <a:r>
              <a:rPr lang="en-US" altLang="en-US"/>
              <a:t>đ</a:t>
            </a:r>
            <a:r>
              <a:rPr lang="en-US" altLang="en-US"/>
              <a:t>iều hành riêng, container chia sẻ kernel của máy chủ chính (Host). </a:t>
            </a:r>
            <a:r>
              <a:rPr lang="en-US" altLang="en-US"/>
              <a:t>Đ</a:t>
            </a:r>
            <a:r>
              <a:rPr lang="en-US" altLang="en-US"/>
              <a:t>iều này có một </a:t>
            </a:r>
            <a:r>
              <a:rPr lang="en-US" altLang="en-US"/>
              <a:t>ư</a:t>
            </a:r>
            <a:r>
              <a:rPr lang="en-US" altLang="en-US"/>
              <a:t>u </a:t>
            </a:r>
            <a:r>
              <a:rPr lang="en-US" altLang="en-US"/>
              <a:t>đ</a:t>
            </a:r>
            <a:r>
              <a:rPr lang="en-US" altLang="en-US"/>
              <a:t>iểm rất lớn: container nhẹ hơn, tiêu tốn ít tài nguyên hơn, khởi </a:t>
            </a:r>
            <a:r>
              <a:rPr lang="en-US" altLang="en-US"/>
              <a:t>đ</a:t>
            </a:r>
            <a:r>
              <a:rPr lang="en-US" altLang="en-US"/>
              <a:t>ộng nhanh hơn, nh</a:t>
            </a:r>
            <a:r>
              <a:rPr lang="en-US" altLang="en-US"/>
              <a:t>ư</a:t>
            </a:r>
            <a:r>
              <a:rPr lang="en-US" altLang="en-US"/>
              <a:t>ng vẫn </a:t>
            </a:r>
            <a:r>
              <a:rPr lang="en-US" altLang="en-US"/>
              <a:t>đ</a:t>
            </a:r>
            <a:r>
              <a:rPr lang="en-US" altLang="en-US"/>
              <a:t>ạt </a:t>
            </a:r>
            <a:r>
              <a:rPr lang="en-US" altLang="en-US"/>
              <a:t>đư</a:t>
            </a:r>
            <a:r>
              <a:rPr lang="en-US" altLang="en-US"/>
              <a:t>ợc mục </a:t>
            </a:r>
            <a:r>
              <a:rPr lang="en-US" altLang="en-US"/>
              <a:t>đ</a:t>
            </a:r>
            <a:r>
              <a:rPr lang="en-US" altLang="en-US"/>
              <a:t>ích cô lập ứng dụng.</a:t>
            </a:r>
            <a:endParaRPr lang="en-US" altLang="en-US"/>
          </a:p>
          <a:p>
            <a:r>
              <a:rPr lang="en-US" altLang="en-US"/>
              <a:t>Docker là nền tảng mã nguồn mở hàng </a:t>
            </a:r>
            <a:r>
              <a:rPr lang="en-US" altLang="en-US"/>
              <a:t>đ</a:t>
            </a:r>
            <a:r>
              <a:rPr lang="en-US" altLang="en-US"/>
              <a:t>ầu </a:t>
            </a:r>
            <a:r>
              <a:rPr lang="en-US" altLang="en-US"/>
              <a:t>đ</a:t>
            </a:r>
            <a:r>
              <a:rPr lang="en-US" altLang="en-US"/>
              <a:t>ể tạo, quản l</a:t>
            </a:r>
            <a:r>
              <a:rPr lang="en-US" altLang="en-US"/>
              <a:t>ý, </a:t>
            </a:r>
            <a:r>
              <a:rPr lang="en-US" altLang="en-US"/>
              <a:t>và vận hành các container. Docker cung cấp một bộ công cụ toàn diện bao gồm Docker Engine (runtime), Docker CLI (command line interface), Docker Hub (registry), và Docker Compose (orchestration tool).</a:t>
            </a:r>
            <a:endParaRPr lang="en-US" altLang="en-US"/>
          </a:p>
          <a:p>
            <a:r>
              <a:rPr lang="en-US" altLang="en-US"/>
              <a:t>Tại sao Docker quan trọng? Vì nó giúp chúng ta triển khai ứng dụng một cách nhất quán, không phụ thuộc vào môi tr</a:t>
            </a:r>
            <a:r>
              <a:rPr lang="en-US" altLang="en-US"/>
              <a:t>ư</a:t>
            </a:r>
            <a:r>
              <a:rPr lang="en-US" altLang="en-US"/>
              <a:t>ờng (máy tính cá nhân, máy chủ phát triển, hoặc máy chủ production). Docker c</a:t>
            </a:r>
            <a:r>
              <a:rPr lang="en-US" altLang="en-US"/>
              <a:t>ũ</a:t>
            </a:r>
            <a:r>
              <a:rPr lang="en-US" altLang="en-US"/>
              <a:t>ng tạo ra một cộng </a:t>
            </a:r>
            <a:r>
              <a:rPr lang="en-US" altLang="en-US"/>
              <a:t>đ</a:t>
            </a:r>
            <a:r>
              <a:rPr lang="en-US" altLang="en-US"/>
              <a:t>ồng lớn và một hệ sinh thái phong phú các công cụ hỗ trợ.</a:t>
            </a:r>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US"/>
              <a:t>Đ</a:t>
            </a:r>
            <a:r>
              <a:rPr lang="en-US" altLang="en-US"/>
              <a:t>ể bắt </a:t>
            </a:r>
            <a:r>
              <a:rPr lang="en-US" altLang="en-US"/>
              <a:t>đ</a:t>
            </a:r>
            <a:r>
              <a:rPr lang="en-US" altLang="en-US"/>
              <a:t>ầu triển khai, chúng ta cần chuẩn bị môi tr</a:t>
            </a:r>
            <a:r>
              <a:rPr lang="en-US" altLang="en-US"/>
              <a:t>ư</a:t>
            </a:r>
            <a:r>
              <a:rPr lang="en-US" altLang="en-US"/>
              <a:t>ờng với các công nghệ cụ thể.</a:t>
            </a:r>
            <a:endParaRPr lang="en-US" altLang="en-US"/>
          </a:p>
          <a:p>
            <a:r>
              <a:rPr lang="en-US" altLang="en-US"/>
              <a:t>Stack công nghệ chúng ta sử dụng bao gồm: Docker Desktop phiên bản 28.x, Docker Compose 2.x, Laravel 12.x, PHP-FPM 8.5, Nginx phiên bản mới nhất, PostgreSQL 17, và hệ </a:t>
            </a:r>
            <a:r>
              <a:rPr lang="en-US" altLang="en-US"/>
              <a:t>đ</a:t>
            </a:r>
            <a:r>
              <a:rPr lang="en-US" altLang="en-US"/>
              <a:t>iều hành Windows 11 (mặc dù Docker c</a:t>
            </a:r>
            <a:r>
              <a:rPr lang="en-US" altLang="en-US"/>
              <a:t>ũ</a:t>
            </a:r>
            <a:r>
              <a:rPr lang="en-US" altLang="en-US"/>
              <a:t>ng chạy tốt trên Linux và macOS).</a:t>
            </a:r>
            <a:endParaRPr lang="en-US" altLang="en-US"/>
          </a:p>
          <a:p>
            <a:r>
              <a:rPr lang="en-US" altLang="en-US"/>
              <a:t>Các b</a:t>
            </a:r>
            <a:r>
              <a:rPr lang="en-US" altLang="en-US"/>
              <a:t>ư</a:t>
            </a:r>
            <a:r>
              <a:rPr lang="en-US" altLang="en-US"/>
              <a:t>ớc chuẩn bị thực tế rất </a:t>
            </a:r>
            <a:r>
              <a:rPr lang="en-US" altLang="en-US"/>
              <a:t>đ</a:t>
            </a:r>
            <a:r>
              <a:rPr lang="en-US" altLang="en-US"/>
              <a:t>ơn giản:</a:t>
            </a:r>
            <a:endParaRPr lang="en-US" altLang="en-US"/>
          </a:p>
          <a:p>
            <a:endParaRPr lang="en-US" altLang="en-US"/>
          </a:p>
          <a:p>
            <a:r>
              <a:rPr lang="en-US" altLang="en-US"/>
              <a:t>Cài </a:t>
            </a:r>
            <a:r>
              <a:rPr lang="en-US" altLang="en-US"/>
              <a:t>đ</a:t>
            </a:r>
            <a:r>
              <a:rPr lang="en-US" altLang="en-US"/>
              <a:t>ặt Docker Desktop từ trang chính thức</a:t>
            </a:r>
            <a:endParaRPr lang="en-US" altLang="en-US"/>
          </a:p>
          <a:p>
            <a:r>
              <a:rPr lang="en-US" altLang="en-US"/>
              <a:t>Kiểm tra phiên bản bằng lệnh docker --version</a:t>
            </a:r>
            <a:endParaRPr lang="en-US" altLang="en-US"/>
          </a:p>
          <a:p>
            <a:r>
              <a:rPr lang="en-US" altLang="en-US"/>
              <a:t>Kiểm tra Docker Engine </a:t>
            </a:r>
            <a:r>
              <a:rPr lang="en-US" altLang="en-US"/>
              <a:t>đ</a:t>
            </a:r>
            <a:r>
              <a:rPr lang="en-US" altLang="en-US"/>
              <a:t>ang chạy bằng docker ps</a:t>
            </a:r>
            <a:endParaRPr lang="en-US" altLang="en-US"/>
          </a:p>
          <a:p>
            <a:endParaRPr lang="en-US" altLang="en-US"/>
          </a:p>
          <a:p>
            <a:r>
              <a:rPr lang="en-US" altLang="en-US"/>
              <a:t>Nếu Docker Engine </a:t>
            </a:r>
            <a:r>
              <a:rPr lang="en-US" altLang="en-US"/>
              <a:t>đ</a:t>
            </a:r>
            <a:r>
              <a:rPr lang="en-US" altLang="en-US"/>
              <a:t>ang chạy bình th</a:t>
            </a:r>
            <a:r>
              <a:rPr lang="en-US" altLang="en-US"/>
              <a:t>ư</a:t>
            </a:r>
            <a:r>
              <a:rPr lang="en-US" altLang="en-US"/>
              <a:t>ờng, kết quả sẽ hiển thị danh sách container (có thể rỗng nếu ch</a:t>
            </a:r>
            <a:r>
              <a:rPr lang="en-US" altLang="en-US"/>
              <a:t>ư</a:t>
            </a:r>
            <a:r>
              <a:rPr lang="en-US" altLang="en-US"/>
              <a:t>a có container) mà không báo lỗi.</a:t>
            </a:r>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US"/>
              <a:t>Sau khi chuẩn bị xong môi tr</a:t>
            </a:r>
            <a:r>
              <a:rPr lang="en-US" altLang="en-US"/>
              <a:t>ư</a:t>
            </a:r>
            <a:r>
              <a:rPr lang="en-US" altLang="en-US"/>
              <a:t>ờng, chúng ta bắt </a:t>
            </a:r>
            <a:r>
              <a:rPr lang="en-US" altLang="en-US"/>
              <a:t>đ</a:t>
            </a:r>
            <a:r>
              <a:rPr lang="en-US" altLang="en-US"/>
              <a:t>ầu xây dựng hệ thống bằng hai file quan trọng: Dockerfile và docker-compose.yml.</a:t>
            </a:r>
            <a:endParaRPr lang="en-US" altLang="en-US"/>
          </a:p>
          <a:p>
            <a:r>
              <a:rPr lang="en-US" altLang="en-US"/>
              <a:t>Dockerfile là một tệp chỉ thị dùng </a:t>
            </a:r>
            <a:r>
              <a:rPr lang="en-US" altLang="en-US"/>
              <a:t>đ</a:t>
            </a:r>
            <a:r>
              <a:rPr lang="en-US" altLang="en-US"/>
              <a:t>ể xây dựng Docker Image cho tầng ứng dụng (PHP-FPM + Laravel). Trong Dockerfile này, chúng ta:</a:t>
            </a:r>
            <a:endParaRPr lang="en-US" altLang="en-US"/>
          </a:p>
          <a:p>
            <a:endParaRPr lang="en-US" altLang="en-US"/>
          </a:p>
          <a:p>
            <a:r>
              <a:rPr lang="en-US" altLang="en-US"/>
              <a:t>Bắt </a:t>
            </a:r>
            <a:r>
              <a:rPr lang="en-US" altLang="en-US"/>
              <a:t>đ</a:t>
            </a:r>
            <a:r>
              <a:rPr lang="en-US" altLang="en-US"/>
              <a:t>ầu với base image php:8.5-fpm</a:t>
            </a:r>
            <a:endParaRPr lang="en-US" altLang="en-US"/>
          </a:p>
          <a:p>
            <a:r>
              <a:rPr lang="en-US" altLang="en-US"/>
              <a:t>Cài </a:t>
            </a:r>
            <a:r>
              <a:rPr lang="en-US" altLang="en-US"/>
              <a:t>đ</a:t>
            </a:r>
            <a:r>
              <a:rPr lang="en-US" altLang="en-US"/>
              <a:t>ặt các package cần thiết nh</a:t>
            </a:r>
            <a:r>
              <a:rPr lang="en-US" altLang="en-US"/>
              <a:t>ư </a:t>
            </a:r>
            <a:r>
              <a:rPr lang="en-US" altLang="en-US"/>
              <a:t>postgresql-client (</a:t>
            </a:r>
            <a:r>
              <a:rPr lang="en-US" altLang="en-US"/>
              <a:t>đ</a:t>
            </a:r>
            <a:r>
              <a:rPr lang="en-US" altLang="en-US"/>
              <a:t>ể ứng dụng có thể kết nối PostgreSQL)</a:t>
            </a:r>
            <a:endParaRPr lang="en-US" altLang="en-US"/>
          </a:p>
          <a:p>
            <a:r>
              <a:rPr lang="en-US" altLang="en-US"/>
              <a:t>Cài </a:t>
            </a:r>
            <a:r>
              <a:rPr lang="en-US" altLang="en-US"/>
              <a:t>đ</a:t>
            </a:r>
            <a:r>
              <a:rPr lang="en-US" altLang="en-US"/>
              <a:t>ặt Composer - công cụ quản l</a:t>
            </a:r>
            <a:r>
              <a:rPr lang="en-US" altLang="en-US"/>
              <a:t>ý </a:t>
            </a:r>
            <a:r>
              <a:rPr lang="en-US" altLang="en-US"/>
              <a:t>package PHP</a:t>
            </a:r>
            <a:endParaRPr lang="en-US" altLang="en-US"/>
          </a:p>
          <a:p>
            <a:r>
              <a:rPr lang="en-US" altLang="en-US"/>
              <a:t>Copy mã nguồn Laravel vào container</a:t>
            </a:r>
            <a:endParaRPr lang="en-US" altLang="en-US"/>
          </a:p>
          <a:p>
            <a:r>
              <a:rPr lang="en-US" altLang="en-US"/>
              <a:t>Chạy composer install </a:t>
            </a:r>
            <a:r>
              <a:rPr lang="en-US" altLang="en-US"/>
              <a:t>đ</a:t>
            </a:r>
            <a:r>
              <a:rPr lang="en-US" altLang="en-US"/>
              <a:t>ể cài </a:t>
            </a:r>
            <a:r>
              <a:rPr lang="en-US" altLang="en-US"/>
              <a:t>đ</a:t>
            </a:r>
            <a:r>
              <a:rPr lang="en-US" altLang="en-US"/>
              <a:t>ặt các th</a:t>
            </a:r>
            <a:r>
              <a:rPr lang="en-US" altLang="en-US"/>
              <a:t>ư </a:t>
            </a:r>
            <a:r>
              <a:rPr lang="en-US" altLang="en-US"/>
              <a:t>viện phụ thuộc</a:t>
            </a:r>
            <a:endParaRPr lang="en-US" altLang="en-US"/>
          </a:p>
          <a:p>
            <a:r>
              <a:rPr lang="en-US" altLang="en-US"/>
              <a:t>Chỉ </a:t>
            </a:r>
            <a:r>
              <a:rPr lang="en-US" altLang="en-US"/>
              <a:t>đ</a:t>
            </a:r>
            <a:r>
              <a:rPr lang="en-US" altLang="en-US"/>
              <a:t>ịnh lệnh khởi </a:t>
            </a:r>
            <a:r>
              <a:rPr lang="en-US" altLang="en-US"/>
              <a:t>đ</a:t>
            </a:r>
            <a:r>
              <a:rPr lang="en-US" altLang="en-US"/>
              <a:t>ộng: php-fpm</a:t>
            </a:r>
            <a:endParaRPr lang="en-US" altLang="en-US"/>
          </a:p>
          <a:p>
            <a:endParaRPr lang="en-US" altLang="en-US"/>
          </a:p>
          <a:p>
            <a:r>
              <a:rPr lang="en-US" altLang="en-US"/>
              <a:t>Docker Compose là một công cụ quản l</a:t>
            </a:r>
            <a:r>
              <a:rPr lang="en-US" altLang="en-US"/>
              <a:t>ý </a:t>
            </a:r>
            <a:r>
              <a:rPr lang="en-US" altLang="en-US"/>
              <a:t>ứng dụng multi-container. Thay vì phải chạy nhiều lệnh Docker CLI phức tạp, chúng ta viết tất cả cấu hình vào một file YAML duy nhất có tên docker-compose.yml. File này </a:t>
            </a:r>
            <a:r>
              <a:rPr lang="en-US" altLang="en-US"/>
              <a:t>đ</a:t>
            </a:r>
            <a:r>
              <a:rPr lang="en-US" altLang="en-US"/>
              <a:t>ịnh ngh</a:t>
            </a:r>
            <a:r>
              <a:rPr lang="en-US" altLang="en-US"/>
              <a:t>ĩ</a:t>
            </a:r>
            <a:r>
              <a:rPr lang="en-US" altLang="en-US"/>
              <a:t>a:</a:t>
            </a:r>
            <a:endParaRPr lang="en-US" altLang="en-US"/>
          </a:p>
          <a:p>
            <a:endParaRPr lang="en-US" altLang="en-US"/>
          </a:p>
          <a:p>
            <a:r>
              <a:rPr lang="en-US" altLang="en-US"/>
              <a:t>Ba dịch vụ: nginx, app (PHP-FPM), và db (PostgreSQL)</a:t>
            </a:r>
            <a:endParaRPr lang="en-US" altLang="en-US"/>
          </a:p>
          <a:p>
            <a:r>
              <a:rPr lang="en-US" altLang="en-US"/>
              <a:t>Các volumes </a:t>
            </a:r>
            <a:r>
              <a:rPr lang="en-US" altLang="en-US"/>
              <a:t>đ</a:t>
            </a:r>
            <a:r>
              <a:rPr lang="en-US" altLang="en-US"/>
              <a:t>ể l</a:t>
            </a:r>
            <a:r>
              <a:rPr lang="en-US" altLang="en-US"/>
              <a:t>ư</a:t>
            </a:r>
            <a:r>
              <a:rPr lang="en-US" altLang="en-US"/>
              <a:t>u trữ dữ liệu bền vững</a:t>
            </a:r>
            <a:endParaRPr lang="en-US" altLang="en-US"/>
          </a:p>
          <a:p>
            <a:r>
              <a:rPr lang="en-US" altLang="en-US"/>
              <a:t>Các mạng nội bộ </a:t>
            </a:r>
            <a:r>
              <a:rPr lang="en-US" altLang="en-US"/>
              <a:t>đ</a:t>
            </a:r>
            <a:r>
              <a:rPr lang="en-US" altLang="en-US"/>
              <a:t>ể kết nối container</a:t>
            </a:r>
            <a:endParaRPr lang="en-US" altLang="en-US"/>
          </a:p>
          <a:p>
            <a:r>
              <a:rPr lang="en-US" altLang="en-US"/>
              <a:t>Các biến môi tr</a:t>
            </a:r>
            <a:r>
              <a:rPr lang="en-US" altLang="en-US"/>
              <a:t>ư</a:t>
            </a:r>
            <a:r>
              <a:rPr lang="en-US" altLang="en-US"/>
              <a:t>ờng cần thiết</a:t>
            </a:r>
            <a:endParaRPr lang="en-US" altLang="en-US"/>
          </a:p>
          <a:p>
            <a:endParaRPr lang="en-US" altLang="en-US"/>
          </a:p>
          <a:p>
            <a:r>
              <a:rPr lang="en-US" altLang="en-US"/>
              <a:t>Với Docker Compose, toàn bộ hệ thống ba tầng có thể </a:t>
            </a:r>
            <a:r>
              <a:rPr lang="en-US" altLang="en-US"/>
              <a:t>đư</a:t>
            </a:r>
            <a:r>
              <a:rPr lang="en-US" altLang="en-US"/>
              <a:t>ợc khởi </a:t>
            </a:r>
            <a:r>
              <a:rPr lang="en-US" altLang="en-US"/>
              <a:t>đ</a:t>
            </a:r>
            <a:r>
              <a:rPr lang="en-US" altLang="en-US"/>
              <a:t>ộng chỉ bằng một lệnh duy nhất: docker compose up -d</a:t>
            </a:r>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US"/>
              <a:t>Sau khi viết xong Dockerfile và docker-compose.yml, chúng ta triển khai hệ thống bằng các b</a:t>
            </a:r>
            <a:r>
              <a:rPr lang="en-US" altLang="en-US"/>
              <a:t>ư</a:t>
            </a:r>
            <a:r>
              <a:rPr lang="en-US" altLang="en-US"/>
              <a:t>ớc sau:</a:t>
            </a:r>
            <a:endParaRPr lang="en-US" altLang="en-US"/>
          </a:p>
          <a:p>
            <a:r>
              <a:rPr lang="en-US" altLang="en-US"/>
              <a:t>B</a:t>
            </a:r>
            <a:r>
              <a:rPr lang="en-US" altLang="en-US"/>
              <a:t>ư</a:t>
            </a:r>
            <a:r>
              <a:rPr lang="en-US" altLang="en-US"/>
              <a:t>ớc 1: Build images: docker compose up -d --build. Lệnh này sẽ xây dựng images, tạo containers, và khởi </a:t>
            </a:r>
            <a:r>
              <a:rPr lang="en-US" altLang="en-US"/>
              <a:t>đ</a:t>
            </a:r>
            <a:r>
              <a:rPr lang="en-US" altLang="en-US"/>
              <a:t>ộng chúng ở chế </a:t>
            </a:r>
            <a:r>
              <a:rPr lang="en-US" altLang="en-US"/>
              <a:t>đ</a:t>
            </a:r>
            <a:r>
              <a:rPr lang="en-US" altLang="en-US"/>
              <a:t>ộ detached (chạy ở background).</a:t>
            </a:r>
            <a:endParaRPr lang="en-US" altLang="en-US"/>
          </a:p>
          <a:p>
            <a:r>
              <a:rPr lang="en-US" altLang="en-US"/>
              <a:t>B</a:t>
            </a:r>
            <a:r>
              <a:rPr lang="en-US" altLang="en-US"/>
              <a:t>ư</a:t>
            </a:r>
            <a:r>
              <a:rPr lang="en-US" altLang="en-US"/>
              <a:t>ớc 2: Kiểm tra container: docker ps. Lệnh này liệt kê tất cả container </a:t>
            </a:r>
            <a:r>
              <a:rPr lang="en-US" altLang="en-US"/>
              <a:t>đ</a:t>
            </a:r>
            <a:r>
              <a:rPr lang="en-US" altLang="en-US"/>
              <a:t>ang chạy. Chúng ta cần </a:t>
            </a:r>
            <a:r>
              <a:rPr lang="en-US" altLang="en-US"/>
              <a:t>đ</a:t>
            </a:r>
            <a:r>
              <a:rPr lang="en-US" altLang="en-US"/>
              <a:t>ảm bảo 3 container (nginx, app, db) </a:t>
            </a:r>
            <a:r>
              <a:rPr lang="en-US" altLang="en-US"/>
              <a:t>đ</a:t>
            </a:r>
            <a:r>
              <a:rPr lang="en-US" altLang="en-US"/>
              <a:t>ều ở trạng thái "Up" (</a:t>
            </a:r>
            <a:r>
              <a:rPr lang="en-US" altLang="en-US"/>
              <a:t>đ</a:t>
            </a:r>
            <a:r>
              <a:rPr lang="en-US" altLang="en-US"/>
              <a:t>ang chạy).</a:t>
            </a:r>
            <a:endParaRPr lang="en-US" altLang="en-US"/>
          </a:p>
          <a:p>
            <a:r>
              <a:rPr lang="en-US" altLang="en-US"/>
              <a:t>B</a:t>
            </a:r>
            <a:r>
              <a:rPr lang="en-US" altLang="en-US"/>
              <a:t>ư</a:t>
            </a:r>
            <a:r>
              <a:rPr lang="en-US" altLang="en-US"/>
              <a:t>ớc 3: Xem logs: docker logs &lt;container_name&gt;. Nếu có container bị lỗi, lệnh này giúp chúng ta hiểu vấn </a:t>
            </a:r>
            <a:r>
              <a:rPr lang="en-US" altLang="en-US"/>
              <a:t>đ</a:t>
            </a:r>
            <a:r>
              <a:rPr lang="en-US" altLang="en-US"/>
              <a:t>ề là gì.</a:t>
            </a:r>
            <a:endParaRPr lang="en-US" altLang="en-US"/>
          </a:p>
          <a:p>
            <a:r>
              <a:rPr lang="en-US" altLang="en-US"/>
              <a:t>B</a:t>
            </a:r>
            <a:r>
              <a:rPr lang="en-US" altLang="en-US"/>
              <a:t>ư</a:t>
            </a:r>
            <a:r>
              <a:rPr lang="en-US" altLang="en-US"/>
              <a:t>ớc 4: Kiểm tra kết nối: docker exec app ping db. Lệnh này chạy ping từ container app tới container db </a:t>
            </a:r>
            <a:r>
              <a:rPr lang="en-US" altLang="en-US"/>
              <a:t>đ</a:t>
            </a:r>
            <a:r>
              <a:rPr lang="en-US" altLang="en-US"/>
              <a:t>ể xác minh 3 container có thể liên lạc với nhau.</a:t>
            </a:r>
            <a:endParaRPr lang="en-US" altLang="en-US"/>
          </a:p>
          <a:p>
            <a:r>
              <a:rPr lang="en-US" altLang="en-US"/>
              <a:t>Kiểm thử chức n</a:t>
            </a:r>
            <a:r>
              <a:rPr lang="en-US" altLang="en-US"/>
              <a:t>ă</a:t>
            </a:r>
            <a:r>
              <a:rPr lang="en-US" altLang="en-US"/>
              <a:t>ng:</a:t>
            </a:r>
            <a:endParaRPr lang="en-US" altLang="en-US"/>
          </a:p>
          <a:p>
            <a:endParaRPr lang="en-US" altLang="en-US"/>
          </a:p>
          <a:p>
            <a:r>
              <a:rPr lang="en-US" altLang="en-US"/>
              <a:t>Truy cập Nginx: Mở trình duyệt và vào http://localhost - chúng ta sẽ thấy trang web</a:t>
            </a:r>
            <a:endParaRPr lang="en-US" altLang="en-US"/>
          </a:p>
          <a:p>
            <a:r>
              <a:rPr lang="en-US" altLang="en-US"/>
              <a:t>Kiểm tra PHP: Chạy một file PHP </a:t>
            </a:r>
            <a:r>
              <a:rPr lang="en-US" altLang="en-US"/>
              <a:t>đ</a:t>
            </a:r>
            <a:r>
              <a:rPr lang="en-US" altLang="en-US"/>
              <a:t>ơn giản </a:t>
            </a:r>
            <a:r>
              <a:rPr lang="en-US" altLang="en-US"/>
              <a:t>đ</a:t>
            </a:r>
            <a:r>
              <a:rPr lang="en-US" altLang="en-US"/>
              <a:t>ể xác minh PHP-FPM hoạt </a:t>
            </a:r>
            <a:r>
              <a:rPr lang="en-US" altLang="en-US"/>
              <a:t>đ</a:t>
            </a:r>
            <a:r>
              <a:rPr lang="en-US" altLang="en-US"/>
              <a:t>ộng</a:t>
            </a:r>
            <a:endParaRPr lang="en-US" altLang="en-US"/>
          </a:p>
          <a:p>
            <a:r>
              <a:rPr lang="en-US" altLang="en-US"/>
              <a:t>Kiểm tra Database: Từ container app, kết nối tới PostgreSQL bằng hostname "db"</a:t>
            </a:r>
            <a:endParaRPr lang="en-US" altLang="en-US"/>
          </a:p>
          <a:p>
            <a:endParaRPr lang="en-US" altLang="en-US"/>
          </a:p>
          <a:p>
            <a:r>
              <a:rPr lang="en-US" altLang="en-US"/>
              <a:t>Nếu tất cả container ở trạng thái "Up", không có lỗi startup, và 3 container có thể liên lạc với nhau, chúng ta </a:t>
            </a:r>
            <a:r>
              <a:rPr lang="en-US" altLang="en-US"/>
              <a:t>đ</a:t>
            </a:r>
            <a:r>
              <a:rPr lang="en-US" altLang="en-US"/>
              <a:t>ã triển khai thành công.</a:t>
            </a:r>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US"/>
              <a:t>Tới </a:t>
            </a:r>
            <a:r>
              <a:rPr lang="en-US" altLang="en-US"/>
              <a:t>đ</a:t>
            </a:r>
            <a:r>
              <a:rPr lang="en-US" altLang="en-US"/>
              <a:t>ây, hệ thống </a:t>
            </a:r>
            <a:r>
              <a:rPr lang="en-US" altLang="en-US"/>
              <a:t>đ</a:t>
            </a:r>
            <a:r>
              <a:rPr lang="en-US" altLang="en-US"/>
              <a:t>ã hoạt </a:t>
            </a:r>
            <a:r>
              <a:rPr lang="en-US" altLang="en-US"/>
              <a:t>đ</a:t>
            </a:r>
            <a:r>
              <a:rPr lang="en-US" altLang="en-US"/>
              <a:t>ộng bình th</a:t>
            </a:r>
            <a:r>
              <a:rPr lang="en-US" altLang="en-US"/>
              <a:t>ư</a:t>
            </a:r>
            <a:r>
              <a:rPr lang="en-US" altLang="en-US"/>
              <a:t>ờng. Nh</a:t>
            </a:r>
            <a:r>
              <a:rPr lang="en-US" altLang="en-US"/>
              <a:t>ư</a:t>
            </a:r>
            <a:r>
              <a:rPr lang="en-US" altLang="en-US"/>
              <a:t>ng câu hỏi </a:t>
            </a:r>
            <a:r>
              <a:rPr lang="en-US" altLang="en-US"/>
              <a:t>đ</a:t>
            </a:r>
            <a:r>
              <a:rPr lang="en-US" altLang="en-US"/>
              <a:t>ặt ra là: hệ thống này có an toàn không?</a:t>
            </a:r>
            <a:endParaRPr lang="en-US" altLang="en-US"/>
          </a:p>
          <a:p>
            <a:r>
              <a:rPr lang="en-US" altLang="en-US"/>
              <a:t>Đ</a:t>
            </a:r>
            <a:r>
              <a:rPr lang="en-US" altLang="en-US"/>
              <a:t>ể trả lời câu hỏi này, chúng ta sẽ </a:t>
            </a:r>
            <a:r>
              <a:rPr lang="en-US" altLang="en-US"/>
              <a:t>đ</a:t>
            </a:r>
            <a:r>
              <a:rPr lang="en-US" altLang="en-US"/>
              <a:t>ặc </a:t>
            </a:r>
            <a:r>
              <a:rPr lang="en-US" altLang="en-US"/>
              <a:t>ý </a:t>
            </a:r>
            <a:r>
              <a:rPr lang="en-US" altLang="en-US"/>
              <a:t>mô phỏng các lỗ hổng cấu hình phổ biến mà các nhà phát triển th</a:t>
            </a:r>
            <a:r>
              <a:rPr lang="en-US" altLang="en-US"/>
              <a:t>ư</a:t>
            </a:r>
            <a:r>
              <a:rPr lang="en-US" altLang="en-US"/>
              <a:t>ờng mắc phải. Có 4 lỗ hổng chính mà chúng ta sẽ phân tích:</a:t>
            </a:r>
            <a:endParaRPr lang="en-US" altLang="en-US"/>
          </a:p>
          <a:p>
            <a:r>
              <a:rPr lang="en-US" altLang="en-US"/>
              <a:t>Lỗ hổng #1: PostgreSQL Exposure</a:t>
            </a:r>
            <a:endParaRPr lang="en-US" altLang="en-US"/>
          </a:p>
          <a:p>
            <a:endParaRPr lang="en-US" altLang="en-US"/>
          </a:p>
          <a:p>
            <a:r>
              <a:rPr lang="en-US" altLang="en-US"/>
              <a:t>Công khai cổng 5432 (cổng PostgreSQL mặc </a:t>
            </a:r>
            <a:r>
              <a:rPr lang="en-US" altLang="en-US"/>
              <a:t>đ</a:t>
            </a:r>
            <a:r>
              <a:rPr lang="en-US" altLang="en-US"/>
              <a:t>ịnh) ra Internet. Bất kỳ ai trên mạng có thể kết nối trực tiếp tới cơ sở dữ liệu, bypass Nginx và Laravel.</a:t>
            </a:r>
            <a:endParaRPr lang="en-US" altLang="en-US"/>
          </a:p>
          <a:p>
            <a:r>
              <a:rPr lang="en-US" altLang="en-US"/>
              <a:t>Lỗ hổng #2: Docker Socket Exposure</a:t>
            </a:r>
            <a:endParaRPr lang="en-US" altLang="en-US"/>
          </a:p>
          <a:p>
            <a:endParaRPr lang="en-US" altLang="en-US"/>
          </a:p>
          <a:p>
            <a:r>
              <a:rPr lang="en-US" altLang="en-US"/>
              <a:t>Mount file /var/run/docker.sock vào container. </a:t>
            </a:r>
            <a:r>
              <a:rPr lang="en-US" altLang="en-US"/>
              <a:t>Đ</a:t>
            </a:r>
            <a:r>
              <a:rPr lang="en-US" altLang="en-US"/>
              <a:t>iều này t</a:t>
            </a:r>
            <a:r>
              <a:rPr lang="en-US" altLang="en-US"/>
              <a:t>ư</a:t>
            </a:r>
            <a:r>
              <a:rPr lang="en-US" altLang="en-US"/>
              <a:t>ơng </a:t>
            </a:r>
            <a:r>
              <a:rPr lang="en-US" altLang="en-US"/>
              <a:t>đư</a:t>
            </a:r>
            <a:r>
              <a:rPr lang="en-US" altLang="en-US"/>
              <a:t>ơng với việc cấp quyền "quản trị viên" cho container, cho phép nó tạo hoặc xóa các container khác, thậm chí chiếm quyền toàn bộ máy chủ.</a:t>
            </a:r>
            <a:endParaRPr lang="en-US" altLang="en-US"/>
          </a:p>
          <a:p>
            <a:r>
              <a:rPr lang="en-US" altLang="en-US"/>
              <a:t>Lỗ hổng #3: Container chạy quyền Root</a:t>
            </a:r>
            <a:endParaRPr lang="en-US" altLang="en-US"/>
          </a:p>
          <a:p>
            <a:endParaRPr lang="en-US" altLang="en-US"/>
          </a:p>
          <a:p>
            <a:r>
              <a:rPr lang="en-US" altLang="en-US"/>
              <a:t>Mặc </a:t>
            </a:r>
            <a:r>
              <a:rPr lang="en-US" altLang="en-US"/>
              <a:t>đ</a:t>
            </a:r>
            <a:r>
              <a:rPr lang="en-US" altLang="en-US"/>
              <a:t>ịnh, nếu Dockerfile không khai báo ng</a:t>
            </a:r>
            <a:r>
              <a:rPr lang="en-US" altLang="en-US"/>
              <a:t>ư</a:t>
            </a:r>
            <a:r>
              <a:rPr lang="en-US" altLang="en-US"/>
              <a:t>ời dùng cụ thể, mọi tiến trình trong container sẽ chạy d</a:t>
            </a:r>
            <a:r>
              <a:rPr lang="en-US" altLang="en-US"/>
              <a:t>ư</a:t>
            </a:r>
            <a:r>
              <a:rPr lang="en-US" altLang="en-US"/>
              <a:t>ới quyền root (uid=0). </a:t>
            </a:r>
            <a:r>
              <a:rPr lang="en-US" altLang="en-US"/>
              <a:t>Đ</a:t>
            </a:r>
            <a:r>
              <a:rPr lang="en-US" altLang="en-US"/>
              <a:t>iều này không tuân theo nguyên tắc Least Privilege.</a:t>
            </a:r>
            <a:endParaRPr lang="en-US" altLang="en-US"/>
          </a:p>
          <a:p>
            <a:r>
              <a:rPr lang="en-US" altLang="en-US"/>
              <a:t>Lỗ hổng #4: Flat Network</a:t>
            </a:r>
            <a:endParaRPr lang="en-US" altLang="en-US"/>
          </a:p>
          <a:p>
            <a:endParaRPr lang="en-US" altLang="en-US"/>
          </a:p>
          <a:p>
            <a:r>
              <a:rPr lang="en-US" altLang="en-US"/>
              <a:t>Mặc </a:t>
            </a:r>
            <a:r>
              <a:rPr lang="en-US" altLang="en-US"/>
              <a:t>đ</a:t>
            </a:r>
            <a:r>
              <a:rPr lang="en-US" altLang="en-US"/>
              <a:t>ịnh, tất cả container </a:t>
            </a:r>
            <a:r>
              <a:rPr lang="en-US" altLang="en-US"/>
              <a:t>đư</a:t>
            </a:r>
            <a:r>
              <a:rPr lang="en-US" altLang="en-US"/>
              <a:t>ợc tạo bởi Docker Compose </a:t>
            </a:r>
            <a:r>
              <a:rPr lang="en-US" altLang="en-US"/>
              <a:t>đ</a:t>
            </a:r>
            <a:r>
              <a:rPr lang="en-US" altLang="en-US"/>
              <a:t>ều </a:t>
            </a:r>
            <a:r>
              <a:rPr lang="en-US" altLang="en-US"/>
              <a:t>đư</a:t>
            </a:r>
            <a:r>
              <a:rPr lang="en-US" altLang="en-US"/>
              <a:t>ợc kết nối vào cùng một mạng (bridge). </a:t>
            </a:r>
            <a:r>
              <a:rPr lang="en-US" altLang="en-US"/>
              <a:t>Đ</a:t>
            </a:r>
            <a:r>
              <a:rPr lang="en-US" altLang="en-US"/>
              <a:t>iều này có ngh</a:t>
            </a:r>
            <a:r>
              <a:rPr lang="en-US" altLang="en-US"/>
              <a:t>ĩ</a:t>
            </a:r>
            <a:r>
              <a:rPr lang="en-US" altLang="en-US"/>
              <a:t>a là Nginx có thể kết nối trực tiếp tới PostgreSQL, mà không cần qua Laravel.</a:t>
            </a:r>
            <a:endParaRPr lang="en-US" altLang="en-US"/>
          </a:p>
          <a:p>
            <a:r>
              <a:rPr lang="en-US" altLang="en-US"/>
              <a:t>Mỗi lỗ hổng này t</a:t>
            </a:r>
            <a:r>
              <a:rPr lang="en-US" altLang="en-US"/>
              <a:t>ư</a:t>
            </a:r>
            <a:r>
              <a:rPr lang="en-US" altLang="en-US"/>
              <a:t>ởng chừng nh</a:t>
            </a:r>
            <a:r>
              <a:rPr lang="en-US" altLang="en-US"/>
              <a:t>ư </a:t>
            </a:r>
            <a:r>
              <a:rPr lang="en-US" altLang="en-US"/>
              <a:t>nhỏ, nh</a:t>
            </a:r>
            <a:r>
              <a:rPr lang="en-US" altLang="en-US"/>
              <a:t>ư</a:t>
            </a:r>
            <a:r>
              <a:rPr lang="en-US" altLang="en-US"/>
              <a:t>ng lại mở ra những con </a:t>
            </a:r>
            <a:r>
              <a:rPr lang="en-US" altLang="en-US"/>
              <a:t>đư</a:t>
            </a:r>
            <a:r>
              <a:rPr lang="en-US" altLang="en-US"/>
              <a:t>ờng tấn công rất nguy hiểm. Chúng ta sẽ phân tích chi tiết mỗi lỗi.</a:t>
            </a:r>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US"/>
              <a:t>Bắt </a:t>
            </a:r>
            <a:r>
              <a:rPr lang="en-US" altLang="en-US"/>
              <a:t>đ</a:t>
            </a:r>
            <a:r>
              <a:rPr lang="en-US" altLang="en-US"/>
              <a:t>ầu với lỗ hổng thứ nhất: PostgreSQL Exposure.</a:t>
            </a:r>
            <a:endParaRPr lang="en-US" altLang="en-US"/>
          </a:p>
          <a:p>
            <a:r>
              <a:rPr lang="en-US" altLang="en-US"/>
              <a:t>Trong docker-compose.yml, nếu chúng ta khai báo:</a:t>
            </a:r>
            <a:endParaRPr lang="en-US" altLang="en-US"/>
          </a:p>
          <a:p>
            <a:r>
              <a:rPr lang="en-US" altLang="en-US"/>
              <a:t>yamlservices:</a:t>
            </a:r>
            <a:endParaRPr lang="en-US" altLang="en-US"/>
          </a:p>
          <a:p>
            <a:r>
              <a:rPr lang="en-US" altLang="en-US"/>
              <a:t>  db:</a:t>
            </a:r>
            <a:endParaRPr lang="en-US" altLang="en-US"/>
          </a:p>
          <a:p>
            <a:r>
              <a:rPr lang="en-US" altLang="en-US"/>
              <a:t>    ports:</a:t>
            </a:r>
            <a:endParaRPr lang="en-US" altLang="en-US"/>
          </a:p>
          <a:p>
            <a:r>
              <a:rPr lang="en-US" altLang="en-US"/>
              <a:t>      - "5432:5432"  # Công khai cổng ra ngoài</a:t>
            </a:r>
            <a:endParaRPr lang="en-US" altLang="en-US"/>
          </a:p>
          <a:p>
            <a:r>
              <a:rPr lang="en-US" altLang="en-US"/>
              <a:t>Đ</a:t>
            </a:r>
            <a:r>
              <a:rPr lang="en-US" altLang="en-US"/>
              <a:t>iều này có ngh</a:t>
            </a:r>
            <a:r>
              <a:rPr lang="en-US" altLang="en-US"/>
              <a:t>ĩ</a:t>
            </a:r>
            <a:r>
              <a:rPr lang="en-US" altLang="en-US"/>
              <a:t>a là cổng 5432 của container PostgreSQL </a:t>
            </a:r>
            <a:r>
              <a:rPr lang="en-US" altLang="en-US"/>
              <a:t>đư</a:t>
            </a:r>
            <a:r>
              <a:rPr lang="en-US" altLang="en-US"/>
              <a:t>ợc ánh xạ trực tiếp tới cổng 5432 của máy chủ host. Bất kỳ ng</a:t>
            </a:r>
            <a:r>
              <a:rPr lang="en-US" altLang="en-US"/>
              <a:t>ư</a:t>
            </a:r>
            <a:r>
              <a:rPr lang="en-US" altLang="en-US"/>
              <a:t>ời nào trên Internet (nếu máy chủ này có IP công cộng) </a:t>
            </a:r>
            <a:r>
              <a:rPr lang="en-US" altLang="en-US"/>
              <a:t>đ</a:t>
            </a:r>
            <a:r>
              <a:rPr lang="en-US" altLang="en-US"/>
              <a:t>ều có thể kết nối tới PostgreSQL bằng công cụ nh</a:t>
            </a:r>
            <a:r>
              <a:rPr lang="en-US" altLang="en-US"/>
              <a:t>ư </a:t>
            </a:r>
            <a:r>
              <a:rPr lang="en-US" altLang="en-US"/>
              <a:t>psql hoặc pgAdmin.</a:t>
            </a:r>
            <a:endParaRPr lang="en-US" altLang="en-US"/>
          </a:p>
          <a:p>
            <a:r>
              <a:rPr lang="en-US" altLang="en-US"/>
              <a:t>Nguyên nhân phát sinh lỗi này là gì? Th</a:t>
            </a:r>
            <a:r>
              <a:rPr lang="en-US" altLang="en-US"/>
              <a:t>ư</a:t>
            </a:r>
            <a:r>
              <a:rPr lang="en-US" altLang="en-US"/>
              <a:t>ờng xuất phát từ sự tiện lợi trong giai </a:t>
            </a:r>
            <a:r>
              <a:rPr lang="en-US" altLang="en-US"/>
              <a:t>đ</a:t>
            </a:r>
            <a:r>
              <a:rPr lang="en-US" altLang="en-US"/>
              <a:t>oạn phát triển. Các nhà phát triển cần truy cập trực tiếp tới cơ sở dữ liệu từ các máy tính khác </a:t>
            </a:r>
            <a:r>
              <a:rPr lang="en-US" altLang="en-US"/>
              <a:t>đ</a:t>
            </a:r>
            <a:r>
              <a:rPr lang="en-US" altLang="en-US"/>
              <a:t>ể debug hoặc kiểm thử. Nên họ công khai cổng. Tuy nhiên, khi deploy lên sản xuất, lỗi cấu hình này th</a:t>
            </a:r>
            <a:r>
              <a:rPr lang="en-US" altLang="en-US"/>
              <a:t>ư</a:t>
            </a:r>
            <a:r>
              <a:rPr lang="en-US" altLang="en-US"/>
              <a:t>ờng bị quên, dẫn tới việc cơ sở dữ liệu bị lộ ra ngoài.</a:t>
            </a:r>
            <a:endParaRPr lang="en-US" altLang="en-US"/>
          </a:p>
          <a:p>
            <a:r>
              <a:rPr lang="en-US" altLang="en-US"/>
              <a:t>Tác </a:t>
            </a:r>
            <a:r>
              <a:rPr lang="en-US" altLang="en-US"/>
              <a:t>đ</a:t>
            </a:r>
            <a:r>
              <a:rPr lang="en-US" altLang="en-US"/>
              <a:t>ộng theo CIA Triad:</a:t>
            </a:r>
            <a:endParaRPr lang="en-US" altLang="en-US"/>
          </a:p>
          <a:p>
            <a:endParaRPr lang="en-US" altLang="en-US"/>
          </a:p>
          <a:p>
            <a:r>
              <a:rPr lang="en-US" altLang="en-US"/>
              <a:t>Confidentiality (Bảo mật): Tất cả dữ liệu trong cơ sở dữ liệu có thể bị truy cập trái phép. Dữ liệu nh</a:t>
            </a:r>
            <a:r>
              <a:rPr lang="en-US" altLang="en-US"/>
              <a:t>ư </a:t>
            </a:r>
            <a:r>
              <a:rPr lang="en-US" altLang="en-US"/>
              <a:t>tài khoản ng</a:t>
            </a:r>
            <a:r>
              <a:rPr lang="en-US" altLang="en-US"/>
              <a:t>ư</a:t>
            </a:r>
            <a:r>
              <a:rPr lang="en-US" altLang="en-US"/>
              <a:t>ời dùng, mật khẩu hash, thông tin cá nhân, lịch sử </a:t>
            </a:r>
            <a:r>
              <a:rPr lang="en-US" altLang="en-US"/>
              <a:t>đ</a:t>
            </a:r>
            <a:r>
              <a:rPr lang="en-US" altLang="en-US"/>
              <a:t>ơn hàng - mọi thứ </a:t>
            </a:r>
            <a:r>
              <a:rPr lang="en-US" altLang="en-US"/>
              <a:t>đ</a:t>
            </a:r>
            <a:r>
              <a:rPr lang="en-US" altLang="en-US"/>
              <a:t>ều có nguy cơ bị </a:t>
            </a:r>
            <a:r>
              <a:rPr lang="en-US" altLang="en-US"/>
              <a:t>đ</a:t>
            </a:r>
            <a:r>
              <a:rPr lang="en-US" altLang="en-US"/>
              <a:t>ánh cắp.</a:t>
            </a:r>
            <a:endParaRPr lang="en-US" altLang="en-US"/>
          </a:p>
          <a:p>
            <a:r>
              <a:rPr lang="en-US" altLang="en-US"/>
              <a:t>Integrity (Toàn vẹn): Kẻ tấn công có thể sửa </a:t>
            </a:r>
            <a:r>
              <a:rPr lang="en-US" altLang="en-US"/>
              <a:t>đ</a:t>
            </a:r>
            <a:r>
              <a:rPr lang="en-US" altLang="en-US"/>
              <a:t>ổi dữ liệu bất cứ cách nào họ muốn - thay </a:t>
            </a:r>
            <a:r>
              <a:rPr lang="en-US" altLang="en-US"/>
              <a:t>đ</a:t>
            </a:r>
            <a:r>
              <a:rPr lang="en-US" altLang="en-US"/>
              <a:t>ổi giá sản phẩm, xóa </a:t>
            </a:r>
            <a:r>
              <a:rPr lang="en-US" altLang="en-US"/>
              <a:t>đ</a:t>
            </a:r>
            <a:r>
              <a:rPr lang="en-US" altLang="en-US"/>
              <a:t>ơn hàng, tạo các bản ghi giả mạo. Hệ thống sẽ hoạt </a:t>
            </a:r>
            <a:r>
              <a:rPr lang="en-US" altLang="en-US"/>
              <a:t>đ</a:t>
            </a:r>
            <a:r>
              <a:rPr lang="en-US" altLang="en-US"/>
              <a:t>ộng sai lệch, dẫn tới những quyết </a:t>
            </a:r>
            <a:r>
              <a:rPr lang="en-US" altLang="en-US"/>
              <a:t>đ</a:t>
            </a:r>
            <a:r>
              <a:rPr lang="en-US" altLang="en-US"/>
              <a:t>ịnh kinh doanh sai lầm.</a:t>
            </a:r>
            <a:endParaRPr lang="en-US" altLang="en-US"/>
          </a:p>
          <a:p>
            <a:r>
              <a:rPr lang="en-US" altLang="en-US"/>
              <a:t>Availability (Sẵn sàng): Kẻ tấn công có thể thực hiện những truy vấn nặng, xóa toàn bộ dữ liệu trong bảng, hoặc thực hiện Denial of Service attack </a:t>
            </a:r>
            <a:r>
              <a:rPr lang="en-US" altLang="en-US"/>
              <a:t>đ</a:t>
            </a:r>
            <a:r>
              <a:rPr lang="en-US" altLang="en-US"/>
              <a:t>ể làm quá tải cơ sở dữ liệu. Hệ thống sẽ ngừng phản hồi.</a:t>
            </a:r>
            <a:endParaRPr lang="en-US" altLang="en-US"/>
          </a:p>
          <a:p>
            <a:endParaRPr lang="en-US" altLang="en-US"/>
          </a:p>
          <a:p>
            <a:r>
              <a:rPr lang="en-US" altLang="en-US"/>
              <a:t>Theo OWASP Top 10 2025, lỗi này </a:t>
            </a:r>
            <a:r>
              <a:rPr lang="en-US" altLang="en-US"/>
              <a:t>đư</a:t>
            </a:r>
            <a:r>
              <a:rPr lang="en-US" altLang="en-US"/>
              <a:t>ợc phân loại là A05: Security Misconfiguration, một trong những lỗ hổng phổ biến và nguy hiểm nhất. </a:t>
            </a:r>
            <a:r>
              <a:rPr lang="en-US" altLang="en-US"/>
              <a:t>Đ</a:t>
            </a:r>
            <a:r>
              <a:rPr lang="en-US" altLang="en-US"/>
              <a:t>iểm CVSS của lỗi này là 8.8 (High), chỉ ra rằng </a:t>
            </a:r>
            <a:r>
              <a:rPr lang="en-US" altLang="en-US"/>
              <a:t>đ</a:t>
            </a:r>
            <a:r>
              <a:rPr lang="en-US" altLang="en-US"/>
              <a:t>ây là một vấn </a:t>
            </a:r>
            <a:r>
              <a:rPr lang="en-US" altLang="en-US"/>
              <a:t>đ</a:t>
            </a:r>
            <a:r>
              <a:rPr lang="en-US" altLang="en-US"/>
              <a:t>ề nghiêm trọng cần </a:t>
            </a:r>
            <a:r>
              <a:rPr lang="en-US" altLang="en-US"/>
              <a:t>đư</a:t>
            </a:r>
            <a:r>
              <a:rPr lang="en-US" altLang="en-US"/>
              <a:t>ợc khắc phục ngay.</a:t>
            </a:r>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US"/>
              <a:t>Tiếp theo là lỗ hổng thứ hai, và </a:t>
            </a:r>
            <a:r>
              <a:rPr lang="en-US" altLang="en-US"/>
              <a:t>đ</a:t>
            </a:r>
            <a:r>
              <a:rPr lang="en-US" altLang="en-US"/>
              <a:t>ây là lỗ hổng nguy hiểm nhất trong 4 lỗ: Docker Socket Exposure.</a:t>
            </a:r>
            <a:endParaRPr lang="en-US" altLang="en-US"/>
          </a:p>
          <a:p>
            <a:r>
              <a:rPr lang="en-US" altLang="en-US"/>
              <a:t>Docker hoạt </a:t>
            </a:r>
            <a:r>
              <a:rPr lang="en-US" altLang="en-US"/>
              <a:t>đ</a:t>
            </a:r>
            <a:r>
              <a:rPr lang="en-US" altLang="en-US"/>
              <a:t>ộng theo kiến trúc client-server. Docker CLI (client) giao tiếp với Docker Daemon (server) thông qua một tệp socket </a:t>
            </a:r>
            <a:r>
              <a:rPr lang="en-US" altLang="en-US"/>
              <a:t>đ</a:t>
            </a:r>
            <a:r>
              <a:rPr lang="en-US" altLang="en-US"/>
              <a:t>ặc biệt tên /var/run/docker.sock trên Linux. Tệp socket này là </a:t>
            </a:r>
            <a:r>
              <a:rPr lang="en-US" altLang="en-US"/>
              <a:t>đ</a:t>
            </a:r>
            <a:r>
              <a:rPr lang="en-US" altLang="en-US"/>
              <a:t>iểm truy cập duy nhất </a:t>
            </a:r>
            <a:r>
              <a:rPr lang="en-US" altLang="en-US"/>
              <a:t>đ</a:t>
            </a:r>
            <a:r>
              <a:rPr lang="en-US" altLang="en-US"/>
              <a:t>ể kiểm soát toàn bộ Docker Engine.</a:t>
            </a:r>
            <a:endParaRPr lang="en-US" altLang="en-US"/>
          </a:p>
          <a:p>
            <a:r>
              <a:rPr lang="en-US" altLang="en-US"/>
              <a:t>Một số nhà phát triển, muốn Docker bên trong container có thể xây dựng image hoặc quản l</a:t>
            </a:r>
            <a:r>
              <a:rPr lang="en-US" altLang="en-US"/>
              <a:t>ý </a:t>
            </a:r>
            <a:r>
              <a:rPr lang="en-US" altLang="en-US"/>
              <a:t>các container khác (còn gọi là Docker-in-Docker), nên mount socket này vào container:</a:t>
            </a:r>
            <a:endParaRPr lang="en-US" altLang="en-US"/>
          </a:p>
          <a:p>
            <a:r>
              <a:rPr lang="en-US" altLang="en-US"/>
              <a:t>yamlservices:</a:t>
            </a:r>
            <a:endParaRPr lang="en-US" altLang="en-US"/>
          </a:p>
          <a:p>
            <a:r>
              <a:rPr lang="en-US" altLang="en-US"/>
              <a:t>  app:</a:t>
            </a:r>
            <a:endParaRPr lang="en-US" altLang="en-US"/>
          </a:p>
          <a:p>
            <a:r>
              <a:rPr lang="en-US" altLang="en-US"/>
              <a:t>    volumes:</a:t>
            </a:r>
            <a:endParaRPr lang="en-US" altLang="en-US"/>
          </a:p>
          <a:p>
            <a:r>
              <a:rPr lang="en-US" altLang="en-US"/>
              <a:t>      - /var/run/docker.sock:/var/run/docker.sock  # Lỗi!</a:t>
            </a:r>
            <a:endParaRPr lang="en-US" altLang="en-US"/>
          </a:p>
          <a:p>
            <a:r>
              <a:rPr lang="en-US" altLang="en-US"/>
              <a:t>Tại sao nguy hiểm? Bất kỳ tiến trình nào bên trong container có quyền </a:t>
            </a:r>
            <a:r>
              <a:rPr lang="en-US" altLang="en-US"/>
              <a:t>đ</a:t>
            </a:r>
            <a:r>
              <a:rPr lang="en-US" altLang="en-US"/>
              <a:t>ọc/ghi vào socket này </a:t>
            </a:r>
            <a:r>
              <a:rPr lang="en-US" altLang="en-US"/>
              <a:t>đ</a:t>
            </a:r>
            <a:r>
              <a:rPr lang="en-US" altLang="en-US"/>
              <a:t>ều có thể thực hiện bất cứ hành </a:t>
            </a:r>
            <a:r>
              <a:rPr lang="en-US" altLang="en-US"/>
              <a:t>đ</a:t>
            </a:r>
            <a:r>
              <a:rPr lang="en-US" altLang="en-US"/>
              <a:t>ộng Docker nào. Nó có thể:</a:t>
            </a:r>
            <a:endParaRPr lang="en-US" altLang="en-US"/>
          </a:p>
          <a:p>
            <a:endParaRPr lang="en-US" altLang="en-US"/>
          </a:p>
          <a:p>
            <a:r>
              <a:rPr lang="en-US" altLang="en-US"/>
              <a:t>Tạo container mới bất cứ lúc nào</a:t>
            </a:r>
            <a:endParaRPr lang="en-US" altLang="en-US"/>
          </a:p>
          <a:p>
            <a:r>
              <a:rPr lang="en-US" altLang="en-US"/>
              <a:t>Xóa container hiện có</a:t>
            </a:r>
            <a:endParaRPr lang="en-US" altLang="en-US"/>
          </a:p>
          <a:p>
            <a:r>
              <a:rPr lang="en-US" altLang="en-US"/>
              <a:t>Mount bất kỳ th</a:t>
            </a:r>
            <a:r>
              <a:rPr lang="en-US" altLang="en-US"/>
              <a:t>ư </a:t>
            </a:r>
            <a:r>
              <a:rPr lang="en-US" altLang="en-US"/>
              <a:t>mục nào từ máy chủ host vào container mới (bao gồm root filesystem)</a:t>
            </a:r>
            <a:endParaRPr lang="en-US" altLang="en-US"/>
          </a:p>
          <a:p>
            <a:r>
              <a:rPr lang="en-US" altLang="en-US"/>
              <a:t>Chiếm quyền kiểm soát toàn bộ máy chủ host</a:t>
            </a:r>
            <a:endParaRPr lang="en-US" altLang="en-US"/>
          </a:p>
          <a:p>
            <a:endParaRPr lang="en-US" altLang="en-US"/>
          </a:p>
          <a:p>
            <a:r>
              <a:rPr lang="en-US" altLang="en-US"/>
              <a:t>Kịch bản tấn công: Giả sử ứng dụng Laravel có lỗ hổng RCE (Remote Code Execution). Kẻ tấn công khai thác lỗi này và có quyền execute code bên trong container app. Vì socket </a:t>
            </a:r>
            <a:r>
              <a:rPr lang="en-US" altLang="en-US"/>
              <a:t>đ</a:t>
            </a:r>
            <a:r>
              <a:rPr lang="en-US" altLang="en-US"/>
              <a:t>ã </a:t>
            </a:r>
            <a:r>
              <a:rPr lang="en-US" altLang="en-US"/>
              <a:t>đư</a:t>
            </a:r>
            <a:r>
              <a:rPr lang="en-US" altLang="en-US"/>
              <a:t>ợc mount, kẻ tấn công có thể:</a:t>
            </a:r>
            <a:endParaRPr lang="en-US" altLang="en-US"/>
          </a:p>
          <a:p>
            <a:endParaRPr lang="en-US" altLang="en-US"/>
          </a:p>
          <a:p>
            <a:r>
              <a:rPr lang="en-US" altLang="en-US"/>
              <a:t>Tạo một container mới từ image  ubuntu hoặc busybox</a:t>
            </a:r>
            <a:endParaRPr lang="en-US" altLang="en-US"/>
          </a:p>
          <a:p>
            <a:r>
              <a:rPr lang="en-US" altLang="en-US"/>
              <a:t>Mount toàn bộ filesystem của host vào container này</a:t>
            </a:r>
            <a:endParaRPr lang="en-US" altLang="en-US"/>
          </a:p>
          <a:p>
            <a:r>
              <a:rPr lang="en-US" altLang="en-US"/>
              <a:t>Access tất cả file trên host, bao gồm .env chứa credentials, SSH keys, API keys</a:t>
            </a:r>
            <a:endParaRPr lang="en-US" altLang="en-US"/>
          </a:p>
          <a:p>
            <a:r>
              <a:rPr lang="en-US" altLang="en-US"/>
              <a:t>Với các credentials này, kẻ tấn công có thể truy cập vào các dịch vụ khác</a:t>
            </a:r>
            <a:endParaRPr lang="en-US" altLang="en-US"/>
          </a:p>
          <a:p>
            <a:endParaRPr lang="en-US" altLang="en-US"/>
          </a:p>
          <a:p>
            <a:r>
              <a:rPr lang="en-US" altLang="en-US"/>
              <a:t>Đ</a:t>
            </a:r>
            <a:r>
              <a:rPr lang="en-US" altLang="en-US"/>
              <a:t>ây </a:t>
            </a:r>
            <a:r>
              <a:rPr lang="en-US" altLang="en-US"/>
              <a:t>đư</a:t>
            </a:r>
            <a:r>
              <a:rPr lang="en-US" altLang="en-US"/>
              <a:t>ợc gọi là container escape - khi một container v</a:t>
            </a:r>
            <a:r>
              <a:rPr lang="en-US" altLang="en-US"/>
              <a:t>ư</a:t>
            </a:r>
            <a:r>
              <a:rPr lang="en-US" altLang="en-US"/>
              <a:t>ợt ra ngoài ranh giới cô lập của nó.</a:t>
            </a:r>
            <a:endParaRPr lang="en-US" altLang="en-US"/>
          </a:p>
          <a:p>
            <a:r>
              <a:rPr lang="en-US" altLang="en-US"/>
              <a:t>Đ</a:t>
            </a:r>
            <a:r>
              <a:rPr lang="en-US" altLang="en-US"/>
              <a:t>iểm CVSS của lỗi này là 9.8 (Critical), cao nhất trong các lỗ hổng chúng ta xem xét. </a:t>
            </a:r>
            <a:r>
              <a:rPr lang="en-US" altLang="en-US"/>
              <a:t>Đ</a:t>
            </a:r>
            <a:r>
              <a:rPr lang="en-US" altLang="en-US"/>
              <a:t>ây là l</a:t>
            </a:r>
            <a:r>
              <a:rPr lang="en-US" altLang="en-US"/>
              <a:t>ý </a:t>
            </a:r>
            <a:r>
              <a:rPr lang="en-US" altLang="en-US"/>
              <a:t>do tại sao Docker Socket Exposure là cảnh báo lớn nhất.</a:t>
            </a:r>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r>
              <a:rPr lang="en-US" altLang="en-US"/>
              <a:t>Hai lỗ hổng cuối cùng là Container chạy quyền Root và Flat Network. Mặc dù chúng không nguy hiểm nh</a:t>
            </a:r>
            <a:r>
              <a:rPr lang="en-US" altLang="en-US"/>
              <a:t>ư </a:t>
            </a:r>
            <a:r>
              <a:rPr lang="en-US" altLang="en-US"/>
              <a:t>Docker Socket, nh</a:t>
            </a:r>
            <a:r>
              <a:rPr lang="en-US" altLang="en-US"/>
              <a:t>ư</a:t>
            </a:r>
            <a:r>
              <a:rPr lang="en-US" altLang="en-US"/>
              <a:t>ng khi kết hợp lại chúng tạo ra một con </a:t>
            </a:r>
            <a:r>
              <a:rPr lang="en-US" altLang="en-US"/>
              <a:t>đư</a:t>
            </a:r>
            <a:r>
              <a:rPr lang="en-US" altLang="en-US"/>
              <a:t>ờng tấn công rất mạnh gọi là lateral movement.</a:t>
            </a:r>
            <a:endParaRPr lang="en-US" altLang="en-US"/>
          </a:p>
          <a:p>
            <a:r>
              <a:rPr lang="en-US" altLang="en-US"/>
              <a:t>Lỗ hổng #3: Container chạy quyền Root</a:t>
            </a:r>
            <a:endParaRPr lang="en-US" altLang="en-US"/>
          </a:p>
          <a:p>
            <a:r>
              <a:rPr lang="en-US" altLang="en-US"/>
              <a:t>Trong Dockerfile, nếu chúng ta không khai báo ng</a:t>
            </a:r>
            <a:r>
              <a:rPr lang="en-US" altLang="en-US"/>
              <a:t>ư</a:t>
            </a:r>
            <a:r>
              <a:rPr lang="en-US" altLang="en-US"/>
              <a:t>ời dùng cụ thể:</a:t>
            </a:r>
            <a:endParaRPr lang="en-US" altLang="en-US"/>
          </a:p>
          <a:p>
            <a:r>
              <a:rPr lang="en-US" altLang="en-US"/>
              <a:t>dockerfileRUN apt-get install ...</a:t>
            </a:r>
            <a:endParaRPr lang="en-US" altLang="en-US"/>
          </a:p>
          <a:p>
            <a:r>
              <a:rPr lang="en-US" altLang="en-US"/>
              <a:t>CMD ["php-fpm"]</a:t>
            </a:r>
            <a:endParaRPr lang="en-US" altLang="en-US"/>
          </a:p>
          <a:p>
            <a:r>
              <a:rPr lang="en-US" altLang="en-US"/>
              <a:t># Mặc </a:t>
            </a:r>
            <a:r>
              <a:rPr lang="en-US" altLang="en-US"/>
              <a:t>đ</a:t>
            </a:r>
            <a:r>
              <a:rPr lang="en-US" altLang="en-US"/>
              <a:t>ịnh chạy với uid=0 (root)</a:t>
            </a:r>
            <a:endParaRPr lang="en-US" altLang="en-US"/>
          </a:p>
          <a:p>
            <a:r>
              <a:rPr lang="en-US" altLang="en-US"/>
              <a:t>Mọi tiến trình bên trong container sẽ chạy d</a:t>
            </a:r>
            <a:r>
              <a:rPr lang="en-US" altLang="en-US"/>
              <a:t>ư</a:t>
            </a:r>
            <a:r>
              <a:rPr lang="en-US" altLang="en-US"/>
              <a:t>ới quyền root. </a:t>
            </a:r>
            <a:r>
              <a:rPr lang="en-US" altLang="en-US"/>
              <a:t>Đ</a:t>
            </a:r>
            <a:r>
              <a:rPr lang="en-US" altLang="en-US"/>
              <a:t>iều này vi phạm nguyên tắc Least Privilege. Mặc dù root bên trong container bị hạn chế hơn so với root trên host (do Linux Capabilities), nh</a:t>
            </a:r>
            <a:r>
              <a:rPr lang="en-US" altLang="en-US"/>
              <a:t>ư</a:t>
            </a:r>
            <a:r>
              <a:rPr lang="en-US" altLang="en-US"/>
              <a:t>ng nếu ứng dụng bị khai thác, kẻ tấn công sẽ có các quyền cao.</a:t>
            </a:r>
            <a:endParaRPr lang="en-US" altLang="en-US"/>
          </a:p>
          <a:p>
            <a:r>
              <a:rPr lang="en-US" altLang="en-US"/>
              <a:t>Lỗ hổng #4: Flat Network</a:t>
            </a:r>
            <a:endParaRPr lang="en-US" altLang="en-US"/>
          </a:p>
          <a:p>
            <a:r>
              <a:rPr lang="en-US" altLang="en-US"/>
              <a:t>Khi sử dụng Docker Compose mà không khai báo các mạng riêng biệt, mặc </a:t>
            </a:r>
            <a:r>
              <a:rPr lang="en-US" altLang="en-US"/>
              <a:t>đ</a:t>
            </a:r>
            <a:r>
              <a:rPr lang="en-US" altLang="en-US"/>
              <a:t>ịnh tất cả container </a:t>
            </a:r>
            <a:r>
              <a:rPr lang="en-US" altLang="en-US"/>
              <a:t>đư</a:t>
            </a:r>
            <a:r>
              <a:rPr lang="en-US" altLang="en-US"/>
              <a:t>ợc kết nối vào cùng một mạng bridge (cơ chế kết nối mạng mặc </a:t>
            </a:r>
            <a:r>
              <a:rPr lang="en-US" altLang="en-US"/>
              <a:t>đ</a:t>
            </a:r>
            <a:r>
              <a:rPr lang="en-US" altLang="en-US"/>
              <a:t>ịnh của Docker). </a:t>
            </a:r>
            <a:r>
              <a:rPr lang="en-US" altLang="en-US"/>
              <a:t>Đ</a:t>
            </a:r>
            <a:r>
              <a:rPr lang="en-US" altLang="en-US"/>
              <a:t>iều này có ngh</a:t>
            </a:r>
            <a:r>
              <a:rPr lang="en-US" altLang="en-US"/>
              <a:t>ĩ</a:t>
            </a:r>
            <a:r>
              <a:rPr lang="en-US" altLang="en-US"/>
              <a:t>a là:</a:t>
            </a:r>
            <a:endParaRPr lang="en-US" altLang="en-US"/>
          </a:p>
          <a:p>
            <a:endParaRPr lang="en-US" altLang="en-US"/>
          </a:p>
          <a:p>
            <a:r>
              <a:rPr lang="en-US" altLang="en-US"/>
              <a:t>Nginx container có thể truy cập trực tiếp PostgreSQL container</a:t>
            </a:r>
            <a:endParaRPr lang="en-US" altLang="en-US"/>
          </a:p>
          <a:p>
            <a:r>
              <a:rPr lang="en-US" altLang="en-US"/>
              <a:t>Bất kỳ container nào c</a:t>
            </a:r>
            <a:r>
              <a:rPr lang="en-US" altLang="en-US"/>
              <a:t>ũ</a:t>
            </a:r>
            <a:r>
              <a:rPr lang="en-US" altLang="en-US"/>
              <a:t>ng có thể quét các container khác</a:t>
            </a:r>
            <a:endParaRPr lang="en-US" altLang="en-US"/>
          </a:p>
          <a:p>
            <a:r>
              <a:rPr lang="en-US" altLang="en-US"/>
              <a:t>Không có sự phân tách giữa tầng frontend và tầng backend</a:t>
            </a:r>
            <a:endParaRPr lang="en-US" altLang="en-US"/>
          </a:p>
          <a:p>
            <a:endParaRPr lang="en-US" altLang="en-US"/>
          </a:p>
          <a:p>
            <a:r>
              <a:rPr lang="en-US" altLang="en-US"/>
              <a:t>Kịch bản Lateral Movement:</a:t>
            </a:r>
            <a:endParaRPr lang="en-US" altLang="en-US"/>
          </a:p>
          <a:p>
            <a:endParaRPr lang="en-US" altLang="en-US"/>
          </a:p>
          <a:p>
            <a:r>
              <a:rPr lang="en-US" altLang="en-US"/>
              <a:t>Kẻ tấn công khai thác lỗ trong ứng dụng Laravel → RCE</a:t>
            </a:r>
            <a:endParaRPr lang="en-US" altLang="en-US"/>
          </a:p>
          <a:p>
            <a:r>
              <a:rPr lang="en-US" altLang="en-US"/>
              <a:t>Vì container chạy quyền root, kẻ tấn công có quyền cao</a:t>
            </a:r>
            <a:endParaRPr lang="en-US" altLang="en-US"/>
          </a:p>
          <a:p>
            <a:r>
              <a:rPr lang="en-US" altLang="en-US"/>
              <a:t>Kẻ tấn công dùng công cụ quét mạng (nmap) </a:t>
            </a:r>
            <a:r>
              <a:rPr lang="en-US" altLang="en-US"/>
              <a:t>đ</a:t>
            </a:r>
            <a:r>
              <a:rPr lang="en-US" altLang="en-US"/>
              <a:t>ể phát hiện các container khác</a:t>
            </a:r>
            <a:endParaRPr lang="en-US" altLang="en-US"/>
          </a:p>
          <a:p>
            <a:r>
              <a:rPr lang="en-US" altLang="en-US"/>
              <a:t>Phát hiện container PostgreSQL </a:t>
            </a:r>
            <a:r>
              <a:rPr lang="en-US" altLang="en-US"/>
              <a:t>đ</a:t>
            </a:r>
            <a:r>
              <a:rPr lang="en-US" altLang="en-US"/>
              <a:t>ang chạy trên cùng mạng flat</a:t>
            </a:r>
            <a:endParaRPr lang="en-US" altLang="en-US"/>
          </a:p>
          <a:p>
            <a:r>
              <a:rPr lang="en-US" altLang="en-US"/>
              <a:t>Thực hiện brute force hoặc khai thác lỗi trong PostgreSQL</a:t>
            </a:r>
            <a:endParaRPr lang="en-US" altLang="en-US"/>
          </a:p>
          <a:p>
            <a:r>
              <a:rPr lang="en-US" altLang="en-US"/>
              <a:t>Chiếm quyền truy cập cơ sở dữ liệu</a:t>
            </a:r>
            <a:endParaRPr lang="en-US" altLang="en-US"/>
          </a:p>
          <a:p>
            <a:endParaRPr lang="en-US" altLang="en-US"/>
          </a:p>
          <a:p>
            <a:r>
              <a:rPr lang="en-US" altLang="en-US"/>
              <a:t>Đ</a:t>
            </a:r>
            <a:r>
              <a:rPr lang="en-US" altLang="en-US"/>
              <a:t>iểm CVSS của kết hợp này là 8.6 (High). Mặc dù thấp hơn Docker Socket, nh</a:t>
            </a:r>
            <a:r>
              <a:rPr lang="en-US" altLang="en-US"/>
              <a:t>ư</a:t>
            </a:r>
            <a:r>
              <a:rPr lang="en-US" altLang="en-US"/>
              <a:t>ng lỗi này vẫn nghiêm trọng và phản ánh sự thiếu hiểu biết về các nguyên tắc bảo mật cơ bản.</a:t>
            </a:r>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image" Target="../media/image5.png"/><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5" Type="http://schemas.openxmlformats.org/officeDocument/2006/relationships/image" Target="../media/image2.png"/><Relationship Id="rId4" Type="http://schemas.openxmlformats.org/officeDocument/2006/relationships/image" Target="../media/image5.png"/><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6" Type="http://schemas.openxmlformats.org/officeDocument/2006/relationships/hyperlink" Target="http://bit.ly/2TtBDfr" TargetMode="External"/><Relationship Id="rId5" Type="http://schemas.openxmlformats.org/officeDocument/2006/relationships/hyperlink" Target="https://bit.ly/3A1uf1Q" TargetMode="External"/><Relationship Id="rId4" Type="http://schemas.openxmlformats.org/officeDocument/2006/relationships/image" Target="../media/image3.png"/><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pic>
        <p:nvPicPr>
          <p:cNvPr id="2" name="Google Shape;9;p2"/>
          <p:cNvPicPr/>
          <p:nvPr/>
        </p:nvPicPr>
        <p:blipFill>
          <a:blip r:embed="rId2"/>
          <a:stretch>
            <a:fillRect/>
          </a:stretch>
        </p:blipFill>
        <p:spPr>
          <a:xfrm>
            <a:off x="1800" y="0"/>
            <a:ext cx="9140040" cy="5143320"/>
          </a:xfrm>
          <a:prstGeom prst="rect">
            <a:avLst/>
          </a:prstGeom>
          <a:noFill/>
          <a:ln w="0">
            <a:noFill/>
          </a:ln>
        </p:spPr>
      </p:pic>
      <p:sp>
        <p:nvSpPr>
          <p:cNvPr id="3" name="PlaceHolder 1"/>
          <p:cNvSpPr>
            <a:spLocks noGrp="1"/>
          </p:cNvSpPr>
          <p:nvPr>
            <p:ph type="title" hasCustomPrompt="1"/>
          </p:nvPr>
        </p:nvSpPr>
        <p:spPr>
          <a:xfrm>
            <a:off x="715320" y="1195560"/>
            <a:ext cx="7713360" cy="1498320"/>
          </a:xfrm>
          <a:prstGeom prst="rect">
            <a:avLst/>
          </a:prstGeom>
          <a:noFill/>
          <a:ln w="0">
            <a:noFill/>
          </a:ln>
        </p:spPr>
        <p:txBody>
          <a:bodyPr lIns="91440" tIns="91440" rIns="91440" bIns="91440" anchor="b">
            <a:noAutofit/>
          </a:bodyPr>
          <a:p>
            <a:pPr indent="0">
              <a:buNone/>
            </a:pPr>
            <a:r>
              <a:rPr lang="fr-FR" sz="7200" b="0" u="none" strike="noStrike">
                <a:solidFill>
                  <a:schemeClr val="dk1"/>
                </a:solidFill>
                <a:effectLst/>
                <a:uFillTx/>
                <a:latin typeface="Arial" panose="020B0604020202020204"/>
              </a:rPr>
              <a:t>Click to edit the title text format</a:t>
            </a:r>
            <a:endParaRPr lang="fr-FR" sz="7200" b="0" u="none" strike="noStrike">
              <a:solidFill>
                <a:schemeClr val="dk1"/>
              </a:solidFill>
              <a:effectLst/>
              <a:uFillTx/>
              <a:latin typeface="Arial" panose="020B0604020202020204"/>
            </a:endParaRPr>
          </a:p>
        </p:txBody>
      </p:sp>
      <p:grpSp>
        <p:nvGrpSpPr>
          <p:cNvPr id="4" name="Google Shape;12;p2"/>
          <p:cNvGrpSpPr/>
          <p:nvPr/>
        </p:nvGrpSpPr>
        <p:grpSpPr>
          <a:xfrm>
            <a:off x="-424800" y="-1078200"/>
            <a:ext cx="10569600" cy="6823080"/>
            <a:chOff x="-424800" y="-1078200"/>
            <a:chExt cx="10569600" cy="6823080"/>
          </a:xfrm>
        </p:grpSpPr>
        <p:pic>
          <p:nvPicPr>
            <p:cNvPr id="5" name="Google Shape;13;p2"/>
            <p:cNvPicPr/>
            <p:nvPr/>
          </p:nvPicPr>
          <p:blipFill>
            <a:blip r:embed="rId3"/>
            <a:srcRect t="8682" b="25474"/>
            <a:stretch>
              <a:fillRect/>
            </a:stretch>
          </p:blipFill>
          <p:spPr>
            <a:xfrm>
              <a:off x="-276120" y="2993040"/>
              <a:ext cx="9419760" cy="2201040"/>
            </a:xfrm>
            <a:prstGeom prst="rect">
              <a:avLst/>
            </a:prstGeom>
            <a:noFill/>
            <a:ln w="0">
              <a:noFill/>
            </a:ln>
          </p:spPr>
        </p:pic>
        <p:pic>
          <p:nvPicPr>
            <p:cNvPr id="6" name="Google Shape;14;p2"/>
            <p:cNvPicPr/>
            <p:nvPr/>
          </p:nvPicPr>
          <p:blipFill>
            <a:blip r:embed="rId4">
              <a:alphaModFix amt="37000"/>
            </a:blip>
            <a:srcRect l="22932" b="43561"/>
            <a:stretch>
              <a:fillRect/>
            </a:stretch>
          </p:blipFill>
          <p:spPr>
            <a:xfrm rot="397800">
              <a:off x="-340920" y="3833640"/>
              <a:ext cx="4060440" cy="1682280"/>
            </a:xfrm>
            <a:prstGeom prst="rect">
              <a:avLst/>
            </a:prstGeom>
            <a:noFill/>
            <a:ln w="0">
              <a:noFill/>
            </a:ln>
          </p:spPr>
        </p:pic>
        <p:pic>
          <p:nvPicPr>
            <p:cNvPr id="7" name="Google Shape;15;p2"/>
            <p:cNvPicPr/>
            <p:nvPr/>
          </p:nvPicPr>
          <p:blipFill>
            <a:blip r:embed="rId5">
              <a:alphaModFix amt="31000"/>
            </a:blip>
            <a:srcRect l="27627" t="37156"/>
            <a:stretch>
              <a:fillRect/>
            </a:stretch>
          </p:blipFill>
          <p:spPr>
            <a:xfrm>
              <a:off x="-424800" y="-609120"/>
              <a:ext cx="3687120" cy="1384920"/>
            </a:xfrm>
            <a:prstGeom prst="rect">
              <a:avLst/>
            </a:prstGeom>
            <a:noFill/>
            <a:ln w="0">
              <a:noFill/>
            </a:ln>
          </p:spPr>
        </p:pic>
        <p:pic>
          <p:nvPicPr>
            <p:cNvPr id="8" name="Google Shape;16;p2"/>
            <p:cNvPicPr/>
            <p:nvPr/>
          </p:nvPicPr>
          <p:blipFill>
            <a:blip r:embed="rId6">
              <a:alphaModFix amt="31000"/>
            </a:blip>
            <a:srcRect l="12047" t="40696" r="30099"/>
            <a:stretch>
              <a:fillRect/>
            </a:stretch>
          </p:blipFill>
          <p:spPr>
            <a:xfrm rot="1168800">
              <a:off x="6186600" y="-463680"/>
              <a:ext cx="3879720" cy="1135800"/>
            </a:xfrm>
            <a:prstGeom prst="rect">
              <a:avLst/>
            </a:prstGeom>
            <a:noFill/>
            <a:ln w="0">
              <a:noFill/>
            </a:ln>
          </p:spPr>
        </p:pic>
      </p:grpSp>
      <p:sp>
        <p:nvSpPr>
          <p:cNvPr id="9" name="PlaceHolder 2"/>
          <p:cNvSpPr>
            <a:spLocks noGrp="1"/>
          </p:cNvSpPr>
          <p:nvPr>
            <p:ph type="body" hasCustomPrompt="1"/>
          </p:nvPr>
        </p:nvSpPr>
        <p:spPr>
          <a:xfrm>
            <a:off x="457200" y="1203480"/>
            <a:ext cx="8229240" cy="2982960"/>
          </a:xfrm>
          <a:prstGeom prst="rect">
            <a:avLst/>
          </a:prstGeom>
          <a:noFill/>
          <a:ln w="0">
            <a:noFill/>
          </a:ln>
        </p:spPr>
        <p:txBody>
          <a:bodyPr lIns="0" tIns="0" rIns="0" bIns="0" anchor="t">
            <a:normAutofit/>
          </a:bodyPr>
          <a:p>
            <a:pPr marL="431800" indent="-323850">
              <a:spcBef>
                <a:spcPts val="1415"/>
              </a:spcBef>
              <a:buClr>
                <a:srgbClr val="FFFFFF"/>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Click to edit the outline text format</a:t>
            </a:r>
            <a:endParaRPr lang="fr-FR" sz="1400" b="0" u="none" strike="noStrike">
              <a:solidFill>
                <a:srgbClr val="000000"/>
              </a:solidFill>
              <a:effectLst/>
              <a:uFillTx/>
              <a:latin typeface="Arial" panose="020B0604020202020204"/>
            </a:endParaRPr>
          </a:p>
          <a:p>
            <a:pPr marL="864235" lvl="1" indent="-323850">
              <a:spcBef>
                <a:spcPts val="1135"/>
              </a:spcBef>
              <a:buClr>
                <a:srgbClr val="FFFFFF"/>
              </a:buClr>
              <a:buSzPct val="75000"/>
              <a:buFont typeface="Symbol" panose="05050102010706020507" charset="2"/>
              <a:buChar char=""/>
            </a:pPr>
            <a:r>
              <a:rPr lang="fr-FR" sz="1400" b="0" u="none" strike="noStrike">
                <a:solidFill>
                  <a:srgbClr val="000000"/>
                </a:solidFill>
                <a:effectLst/>
                <a:uFillTx/>
                <a:latin typeface="Arial" panose="020B0604020202020204"/>
              </a:rPr>
              <a:t>Second Outline Level</a:t>
            </a:r>
            <a:endParaRPr lang="fr-FR" sz="1400" b="0" u="none" strike="noStrike">
              <a:solidFill>
                <a:srgbClr val="000000"/>
              </a:solidFill>
              <a:effectLst/>
              <a:uFillTx/>
              <a:latin typeface="Arial" panose="020B0604020202020204"/>
            </a:endParaRPr>
          </a:p>
          <a:p>
            <a:pPr marL="1296035" lvl="2" indent="-288290">
              <a:spcBef>
                <a:spcPts val="850"/>
              </a:spcBef>
              <a:buClr>
                <a:srgbClr val="FFFFFF"/>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Third Outline Level</a:t>
            </a:r>
            <a:endParaRPr lang="fr-FR" sz="1400" b="0" u="none" strike="noStrike">
              <a:solidFill>
                <a:srgbClr val="000000"/>
              </a:solidFill>
              <a:effectLst/>
              <a:uFillTx/>
              <a:latin typeface="Arial" panose="020B0604020202020204"/>
            </a:endParaRPr>
          </a:p>
          <a:p>
            <a:pPr marL="1727835" lvl="3" indent="-215900">
              <a:spcBef>
                <a:spcPts val="565"/>
              </a:spcBef>
              <a:buClr>
                <a:srgbClr val="FFFFFF"/>
              </a:buClr>
              <a:buSzPct val="75000"/>
              <a:buFont typeface="Symbol" panose="05050102010706020507" charset="2"/>
              <a:buChar char=""/>
            </a:pPr>
            <a:r>
              <a:rPr lang="fr-FR" sz="1400" b="0" u="none" strike="noStrike">
                <a:solidFill>
                  <a:srgbClr val="000000"/>
                </a:solidFill>
                <a:effectLst/>
                <a:uFillTx/>
                <a:latin typeface="Arial" panose="020B0604020202020204"/>
              </a:rPr>
              <a:t>Fourth Outline Level</a:t>
            </a:r>
            <a:endParaRPr lang="fr-FR" sz="1400" b="0" u="none" strike="noStrike">
              <a:solidFill>
                <a:srgbClr val="000000"/>
              </a:solidFill>
              <a:effectLst/>
              <a:uFillTx/>
              <a:latin typeface="Arial" panose="020B0604020202020204"/>
            </a:endParaRPr>
          </a:p>
          <a:p>
            <a:pPr marL="2160270" lvl="4" indent="-215900">
              <a:spcBef>
                <a:spcPts val="285"/>
              </a:spcBef>
              <a:buClr>
                <a:srgbClr val="FFFFFF"/>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Fifth Outline Level</a:t>
            </a:r>
            <a:endParaRPr lang="fr-FR" sz="2000" b="0" u="none" strike="noStrike">
              <a:solidFill>
                <a:srgbClr val="000000"/>
              </a:solidFill>
              <a:effectLst/>
              <a:uFillTx/>
              <a:latin typeface="Arial" panose="020B0604020202020204"/>
            </a:endParaRPr>
          </a:p>
          <a:p>
            <a:pPr marL="2592070" lvl="5" indent="-215900">
              <a:spcBef>
                <a:spcPts val="285"/>
              </a:spcBef>
              <a:buClr>
                <a:srgbClr val="FFFFFF"/>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Sixth Outline Level</a:t>
            </a:r>
            <a:endParaRPr lang="fr-FR" sz="2000" b="0" u="none" strike="noStrike">
              <a:solidFill>
                <a:srgbClr val="000000"/>
              </a:solidFill>
              <a:effectLst/>
              <a:uFillTx/>
              <a:latin typeface="Arial" panose="020B0604020202020204"/>
            </a:endParaRPr>
          </a:p>
          <a:p>
            <a:pPr marL="3023870" lvl="6" indent="-215900">
              <a:spcBef>
                <a:spcPts val="285"/>
              </a:spcBef>
              <a:buClr>
                <a:srgbClr val="FFFFFF"/>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Seventh Outline Level</a:t>
            </a:r>
            <a:endParaRPr lang="fr-FR" sz="2000" b="0" u="none" strike="noStrike">
              <a:solidFill>
                <a:srgbClr val="000000"/>
              </a:solidFill>
              <a:effectLst/>
              <a:uFillTx/>
              <a:latin typeface="Arial" panose="020B06040202020202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_1_1">
    <p:bg>
      <p:bgPr>
        <a:solidFill>
          <a:schemeClr val="lt1"/>
        </a:solidFill>
        <a:effectLst/>
      </p:bgPr>
    </p:bg>
    <p:spTree>
      <p:nvGrpSpPr>
        <p:cNvPr id="1" name=""/>
        <p:cNvGrpSpPr/>
        <p:nvPr/>
      </p:nvGrpSpPr>
      <p:grpSpPr>
        <a:xfrm>
          <a:off x="0" y="0"/>
          <a:ext cx="0" cy="0"/>
          <a:chOff x="0" y="0"/>
          <a:chExt cx="0" cy="0"/>
        </a:xfrm>
      </p:grpSpPr>
      <p:pic>
        <p:nvPicPr>
          <p:cNvPr id="10" name="Google Shape;100;p14"/>
          <p:cNvPicPr/>
          <p:nvPr/>
        </p:nvPicPr>
        <p:blipFill>
          <a:blip r:embed="rId2"/>
          <a:stretch>
            <a:fillRect/>
          </a:stretch>
        </p:blipFill>
        <p:spPr>
          <a:xfrm>
            <a:off x="1800" y="0"/>
            <a:ext cx="9140040" cy="5143320"/>
          </a:xfrm>
          <a:prstGeom prst="rect">
            <a:avLst/>
          </a:prstGeom>
          <a:noFill/>
          <a:ln w="0">
            <a:noFill/>
          </a:ln>
        </p:spPr>
      </p:pic>
      <p:sp>
        <p:nvSpPr>
          <p:cNvPr id="11" name="PlaceHolder 1"/>
          <p:cNvSpPr>
            <a:spLocks noGrp="1"/>
          </p:cNvSpPr>
          <p:nvPr>
            <p:ph type="title" hasCustomPrompt="1"/>
          </p:nvPr>
        </p:nvSpPr>
        <p:spPr>
          <a:xfrm>
            <a:off x="720000" y="534960"/>
            <a:ext cx="7703640" cy="572400"/>
          </a:xfrm>
          <a:prstGeom prst="rect">
            <a:avLst/>
          </a:prstGeom>
          <a:noFill/>
          <a:ln w="0">
            <a:noFill/>
          </a:ln>
        </p:spPr>
        <p:txBody>
          <a:bodyPr lIns="91440" tIns="91440" rIns="91440" bIns="91440" anchor="t">
            <a:noAutofit/>
          </a:bodyPr>
          <a:p>
            <a:pPr indent="0">
              <a:buNone/>
            </a:pPr>
            <a:r>
              <a:rPr lang="fr-FR" sz="3000" b="0" u="none" strike="noStrike">
                <a:solidFill>
                  <a:schemeClr val="dk1"/>
                </a:solidFill>
                <a:effectLst/>
                <a:uFillTx/>
                <a:latin typeface="Arial" panose="020B0604020202020204"/>
              </a:rPr>
              <a:t>Click to edit the title text format</a:t>
            </a:r>
            <a:endParaRPr lang="fr-FR" sz="3000" b="0" u="none" strike="noStrike">
              <a:solidFill>
                <a:schemeClr val="dk1"/>
              </a:solidFill>
              <a:effectLst/>
              <a:uFillTx/>
              <a:latin typeface="Arial" panose="020B0604020202020204"/>
            </a:endParaRPr>
          </a:p>
        </p:txBody>
      </p:sp>
      <p:grpSp>
        <p:nvGrpSpPr>
          <p:cNvPr id="12" name="Google Shape;102;p14"/>
          <p:cNvGrpSpPr/>
          <p:nvPr/>
        </p:nvGrpSpPr>
        <p:grpSpPr>
          <a:xfrm>
            <a:off x="-1764720" y="-2189160"/>
            <a:ext cx="12540600" cy="4805640"/>
            <a:chOff x="-1764720" y="-2189160"/>
            <a:chExt cx="12540600" cy="4805640"/>
          </a:xfrm>
        </p:grpSpPr>
        <p:pic>
          <p:nvPicPr>
            <p:cNvPr id="13" name="Google Shape;103;p14"/>
            <p:cNvPicPr/>
            <p:nvPr/>
          </p:nvPicPr>
          <p:blipFill>
            <a:blip r:embed="rId3">
              <a:alphaModFix amt="78000"/>
            </a:blip>
            <a:srcRect l="22932" b="43561"/>
            <a:stretch>
              <a:fillRect/>
            </a:stretch>
          </p:blipFill>
          <p:spPr>
            <a:xfrm rot="12350400" flipH="1">
              <a:off x="4594680" y="-1017000"/>
              <a:ext cx="5941440" cy="2462040"/>
            </a:xfrm>
            <a:prstGeom prst="rect">
              <a:avLst/>
            </a:prstGeom>
            <a:noFill/>
            <a:ln w="0">
              <a:noFill/>
            </a:ln>
          </p:spPr>
        </p:pic>
        <p:pic>
          <p:nvPicPr>
            <p:cNvPr id="14" name="Google Shape;104;p14"/>
            <p:cNvPicPr/>
            <p:nvPr/>
          </p:nvPicPr>
          <p:blipFill>
            <a:blip r:embed="rId4">
              <a:alphaModFix amt="31000"/>
            </a:blip>
            <a:stretch>
              <a:fillRect/>
            </a:stretch>
          </p:blipFill>
          <p:spPr>
            <a:xfrm rot="21145200">
              <a:off x="-1667520" y="-1319400"/>
              <a:ext cx="6707160" cy="1915560"/>
            </a:xfrm>
            <a:prstGeom prst="rect">
              <a:avLst/>
            </a:prstGeom>
            <a:noFill/>
            <a:ln w="0">
              <a:noFill/>
            </a:ln>
          </p:spPr>
        </p:pic>
      </p:grpSp>
      <p:sp>
        <p:nvSpPr>
          <p:cNvPr id="15" name="PlaceHolder 2"/>
          <p:cNvSpPr>
            <a:spLocks noGrp="1"/>
          </p:cNvSpPr>
          <p:nvPr>
            <p:ph type="body" hasCustomPrompt="1"/>
          </p:nvPr>
        </p:nvSpPr>
        <p:spPr>
          <a:xfrm>
            <a:off x="457200" y="1203480"/>
            <a:ext cx="8229240" cy="2982960"/>
          </a:xfrm>
          <a:prstGeom prst="rect">
            <a:avLst/>
          </a:prstGeom>
          <a:noFill/>
          <a:ln w="0">
            <a:noFill/>
          </a:ln>
        </p:spPr>
        <p:txBody>
          <a:bodyPr lIns="0" tIns="0" rIns="0" bIns="0" anchor="t">
            <a:normAutofit/>
          </a:bodyPr>
          <a:p>
            <a:pPr marL="431800" indent="-323850">
              <a:spcBef>
                <a:spcPts val="1415"/>
              </a:spcBef>
              <a:buClr>
                <a:srgbClr val="FFFFFF"/>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Click to edit the outline text format</a:t>
            </a:r>
            <a:endParaRPr lang="fr-FR" sz="1400" b="0" u="none" strike="noStrike">
              <a:solidFill>
                <a:srgbClr val="000000"/>
              </a:solidFill>
              <a:effectLst/>
              <a:uFillTx/>
              <a:latin typeface="Arial" panose="020B0604020202020204"/>
            </a:endParaRPr>
          </a:p>
          <a:p>
            <a:pPr marL="864235" lvl="1" indent="-323850">
              <a:spcBef>
                <a:spcPts val="1135"/>
              </a:spcBef>
              <a:buClr>
                <a:srgbClr val="FFFFFF"/>
              </a:buClr>
              <a:buSzPct val="75000"/>
              <a:buFont typeface="Symbol" panose="05050102010706020507" charset="2"/>
              <a:buChar char=""/>
            </a:pPr>
            <a:r>
              <a:rPr lang="fr-FR" sz="1400" b="0" u="none" strike="noStrike">
                <a:solidFill>
                  <a:srgbClr val="000000"/>
                </a:solidFill>
                <a:effectLst/>
                <a:uFillTx/>
                <a:latin typeface="Arial" panose="020B0604020202020204"/>
              </a:rPr>
              <a:t>Second Outline Level</a:t>
            </a:r>
            <a:endParaRPr lang="fr-FR" sz="1400" b="0" u="none" strike="noStrike">
              <a:solidFill>
                <a:srgbClr val="000000"/>
              </a:solidFill>
              <a:effectLst/>
              <a:uFillTx/>
              <a:latin typeface="Arial" panose="020B0604020202020204"/>
            </a:endParaRPr>
          </a:p>
          <a:p>
            <a:pPr marL="1296035" lvl="2" indent="-288290">
              <a:spcBef>
                <a:spcPts val="850"/>
              </a:spcBef>
              <a:buClr>
                <a:srgbClr val="FFFFFF"/>
              </a:buClr>
              <a:buSzPct val="45000"/>
              <a:buFont typeface="Wingdings" panose="05000000000000000000" pitchFamily="2" charset="2"/>
              <a:buChar char=""/>
            </a:pPr>
            <a:r>
              <a:rPr lang="fr-FR" sz="1400" b="0" u="none" strike="noStrike">
                <a:solidFill>
                  <a:srgbClr val="000000"/>
                </a:solidFill>
                <a:effectLst/>
                <a:uFillTx/>
                <a:latin typeface="Arial" panose="020B0604020202020204"/>
              </a:rPr>
              <a:t>Third Outline Level</a:t>
            </a:r>
            <a:endParaRPr lang="fr-FR" sz="1400" b="0" u="none" strike="noStrike">
              <a:solidFill>
                <a:srgbClr val="000000"/>
              </a:solidFill>
              <a:effectLst/>
              <a:uFillTx/>
              <a:latin typeface="Arial" panose="020B0604020202020204"/>
            </a:endParaRPr>
          </a:p>
          <a:p>
            <a:pPr marL="1727835" lvl="3" indent="-215900">
              <a:spcBef>
                <a:spcPts val="565"/>
              </a:spcBef>
              <a:buClr>
                <a:srgbClr val="FFFFFF"/>
              </a:buClr>
              <a:buSzPct val="75000"/>
              <a:buFont typeface="Symbol" panose="05050102010706020507" charset="2"/>
              <a:buChar char=""/>
            </a:pPr>
            <a:r>
              <a:rPr lang="fr-FR" sz="1400" b="0" u="none" strike="noStrike">
                <a:solidFill>
                  <a:srgbClr val="000000"/>
                </a:solidFill>
                <a:effectLst/>
                <a:uFillTx/>
                <a:latin typeface="Arial" panose="020B0604020202020204"/>
              </a:rPr>
              <a:t>Fourth Outline Level</a:t>
            </a:r>
            <a:endParaRPr lang="fr-FR" sz="1400" b="0" u="none" strike="noStrike">
              <a:solidFill>
                <a:srgbClr val="000000"/>
              </a:solidFill>
              <a:effectLst/>
              <a:uFillTx/>
              <a:latin typeface="Arial" panose="020B0604020202020204"/>
            </a:endParaRPr>
          </a:p>
          <a:p>
            <a:pPr marL="2160270" lvl="4" indent="-215900">
              <a:spcBef>
                <a:spcPts val="285"/>
              </a:spcBef>
              <a:buClr>
                <a:srgbClr val="FFFFFF"/>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Fifth Outline Level</a:t>
            </a:r>
            <a:endParaRPr lang="fr-FR" sz="2000" b="0" u="none" strike="noStrike">
              <a:solidFill>
                <a:srgbClr val="000000"/>
              </a:solidFill>
              <a:effectLst/>
              <a:uFillTx/>
              <a:latin typeface="Arial" panose="020B0604020202020204"/>
            </a:endParaRPr>
          </a:p>
          <a:p>
            <a:pPr marL="2592070" lvl="5" indent="-215900">
              <a:spcBef>
                <a:spcPts val="285"/>
              </a:spcBef>
              <a:buClr>
                <a:srgbClr val="FFFFFF"/>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Sixth Outline Level</a:t>
            </a:r>
            <a:endParaRPr lang="fr-FR" sz="2000" b="0" u="none" strike="noStrike">
              <a:solidFill>
                <a:srgbClr val="000000"/>
              </a:solidFill>
              <a:effectLst/>
              <a:uFillTx/>
              <a:latin typeface="Arial" panose="020B0604020202020204"/>
            </a:endParaRPr>
          </a:p>
          <a:p>
            <a:pPr marL="3023870" lvl="6" indent="-215900">
              <a:spcBef>
                <a:spcPts val="285"/>
              </a:spcBef>
              <a:buClr>
                <a:srgbClr val="FFFFFF"/>
              </a:buClr>
              <a:buSzPct val="45000"/>
              <a:buFont typeface="Wingdings" panose="05000000000000000000" pitchFamily="2" charset="2"/>
              <a:buChar char=""/>
            </a:pPr>
            <a:r>
              <a:rPr lang="fr-FR" sz="2000" b="0" u="none" strike="noStrike">
                <a:solidFill>
                  <a:srgbClr val="000000"/>
                </a:solidFill>
                <a:effectLst/>
                <a:uFillTx/>
                <a:latin typeface="Arial" panose="020B0604020202020204"/>
              </a:rPr>
              <a:t>Seventh Outline Level</a:t>
            </a:r>
            <a:endParaRPr lang="fr-FR" sz="2000" b="0" u="none" strike="noStrike">
              <a:solidFill>
                <a:srgbClr val="000000"/>
              </a:solidFill>
              <a:effectLst/>
              <a:uFillTx/>
              <a:latin typeface="Arial" panose="020B060402020202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lt1"/>
        </a:solidFill>
        <a:effectLst/>
      </p:bgPr>
    </p:bg>
    <p:spTree>
      <p:nvGrpSpPr>
        <p:cNvPr id="1" name=""/>
        <p:cNvGrpSpPr/>
        <p:nvPr/>
      </p:nvGrpSpPr>
      <p:grpSpPr>
        <a:xfrm>
          <a:off x="0" y="0"/>
          <a:ext cx="0" cy="0"/>
          <a:chOff x="0" y="0"/>
          <a:chExt cx="0" cy="0"/>
        </a:xfrm>
      </p:grpSpPr>
      <p:pic>
        <p:nvPicPr>
          <p:cNvPr id="16" name="Google Shape;186;p22"/>
          <p:cNvPicPr/>
          <p:nvPr/>
        </p:nvPicPr>
        <p:blipFill>
          <a:blip r:embed="rId2"/>
          <a:stretch>
            <a:fillRect/>
          </a:stretch>
        </p:blipFill>
        <p:spPr>
          <a:xfrm>
            <a:off x="1800" y="0"/>
            <a:ext cx="9140040" cy="5143320"/>
          </a:xfrm>
          <a:prstGeom prst="rect">
            <a:avLst/>
          </a:prstGeom>
          <a:noFill/>
          <a:ln w="0">
            <a:noFill/>
          </a:ln>
        </p:spPr>
      </p:pic>
      <p:sp>
        <p:nvSpPr>
          <p:cNvPr id="17" name="PlaceHolder 1"/>
          <p:cNvSpPr>
            <a:spLocks noGrp="1"/>
          </p:cNvSpPr>
          <p:nvPr>
            <p:ph type="body" hasCustomPrompt="1"/>
          </p:nvPr>
        </p:nvSpPr>
        <p:spPr>
          <a:xfrm>
            <a:off x="917280" y="1658880"/>
            <a:ext cx="4462200" cy="2926080"/>
          </a:xfrm>
          <a:prstGeom prst="rect">
            <a:avLst/>
          </a:prstGeom>
          <a:noFill/>
          <a:ln w="0">
            <a:noFill/>
          </a:ln>
        </p:spPr>
        <p:txBody>
          <a:bodyPr lIns="91440" tIns="91440" rIns="91440" bIns="91440" anchor="t">
            <a:noAutofit/>
          </a:bodyPr>
          <a:p>
            <a:pPr marL="431800" indent="-323850">
              <a:spcBef>
                <a:spcPts val="1415"/>
              </a:spcBef>
              <a:buClr>
                <a:srgbClr val="FFFFFF"/>
              </a:buClr>
              <a:buSzPct val="45000"/>
              <a:buFont typeface="Wingdings" panose="05000000000000000000" pitchFamily="2" charset="2"/>
              <a:buChar char=""/>
            </a:pPr>
            <a:r>
              <a:rPr lang="fr-FR" sz="1200" b="0" u="none" strike="noStrike">
                <a:solidFill>
                  <a:srgbClr val="000000"/>
                </a:solidFill>
                <a:effectLst/>
                <a:uFillTx/>
                <a:latin typeface="Arial" panose="020B0604020202020204"/>
              </a:rPr>
              <a:t>Click to edit the outline text format</a:t>
            </a:r>
            <a:endParaRPr lang="fr-FR" sz="1200" b="0" u="none" strike="noStrike">
              <a:solidFill>
                <a:srgbClr val="000000"/>
              </a:solidFill>
              <a:effectLst/>
              <a:uFillTx/>
              <a:latin typeface="Arial" panose="020B0604020202020204"/>
            </a:endParaRPr>
          </a:p>
          <a:p>
            <a:pPr marL="864235" lvl="1" indent="-323850">
              <a:spcBef>
                <a:spcPts val="1135"/>
              </a:spcBef>
              <a:buClr>
                <a:srgbClr val="FFFFFF"/>
              </a:buClr>
              <a:buSzPct val="75000"/>
              <a:buFont typeface="Symbol" panose="05050102010706020507" charset="2"/>
              <a:buChar char=""/>
            </a:pPr>
            <a:r>
              <a:rPr lang="fr-FR" sz="1200" b="0" u="none" strike="noStrike">
                <a:solidFill>
                  <a:srgbClr val="000000"/>
                </a:solidFill>
                <a:effectLst/>
                <a:uFillTx/>
                <a:latin typeface="Arial" panose="020B0604020202020204"/>
              </a:rPr>
              <a:t>Second Outline Level</a:t>
            </a:r>
            <a:endParaRPr lang="fr-FR" sz="1200" b="0" u="none" strike="noStrike">
              <a:solidFill>
                <a:srgbClr val="000000"/>
              </a:solidFill>
              <a:effectLst/>
              <a:uFillTx/>
              <a:latin typeface="Arial" panose="020B0604020202020204"/>
            </a:endParaRPr>
          </a:p>
          <a:p>
            <a:pPr marL="1296035" lvl="2" indent="-288290">
              <a:spcBef>
                <a:spcPts val="850"/>
              </a:spcBef>
              <a:buClr>
                <a:srgbClr val="FFFFFF"/>
              </a:buClr>
              <a:buSzPct val="45000"/>
              <a:buFont typeface="Wingdings" panose="05000000000000000000" pitchFamily="2" charset="2"/>
              <a:buChar char=""/>
            </a:pPr>
            <a:r>
              <a:rPr lang="fr-FR" sz="1200" b="0" u="none" strike="noStrike">
                <a:solidFill>
                  <a:srgbClr val="000000"/>
                </a:solidFill>
                <a:effectLst/>
                <a:uFillTx/>
                <a:latin typeface="Arial" panose="020B0604020202020204"/>
              </a:rPr>
              <a:t>Third Outline Level</a:t>
            </a:r>
            <a:endParaRPr lang="fr-FR" sz="1200" b="0" u="none" strike="noStrike">
              <a:solidFill>
                <a:srgbClr val="000000"/>
              </a:solidFill>
              <a:effectLst/>
              <a:uFillTx/>
              <a:latin typeface="Arial" panose="020B0604020202020204"/>
            </a:endParaRPr>
          </a:p>
          <a:p>
            <a:pPr marL="1727835" lvl="3" indent="-215900">
              <a:spcBef>
                <a:spcPts val="565"/>
              </a:spcBef>
              <a:buClr>
                <a:srgbClr val="FFFFFF"/>
              </a:buClr>
              <a:buSzPct val="75000"/>
              <a:buFont typeface="Symbol" panose="05050102010706020507" charset="2"/>
              <a:buChar char=""/>
            </a:pPr>
            <a:r>
              <a:rPr lang="fr-FR" sz="1200" b="0" u="none" strike="noStrike">
                <a:solidFill>
                  <a:srgbClr val="000000"/>
                </a:solidFill>
                <a:effectLst/>
                <a:uFillTx/>
                <a:latin typeface="Arial" panose="020B0604020202020204"/>
              </a:rPr>
              <a:t>Fourth Outline Level</a:t>
            </a:r>
            <a:endParaRPr lang="fr-FR" sz="1200" b="0" u="none" strike="noStrike">
              <a:solidFill>
                <a:srgbClr val="000000"/>
              </a:solidFill>
              <a:effectLst/>
              <a:uFillTx/>
              <a:latin typeface="Arial" panose="020B0604020202020204"/>
            </a:endParaRPr>
          </a:p>
          <a:p>
            <a:pPr marL="2160270" lvl="4" indent="-215900">
              <a:spcBef>
                <a:spcPts val="285"/>
              </a:spcBef>
              <a:buClr>
                <a:srgbClr val="FFFFFF"/>
              </a:buClr>
              <a:buSzPct val="45000"/>
              <a:buFont typeface="Wingdings" panose="05000000000000000000" pitchFamily="2" charset="2"/>
              <a:buChar char=""/>
            </a:pPr>
            <a:r>
              <a:rPr lang="fr-FR" sz="1200" b="0" u="none" strike="noStrike">
                <a:solidFill>
                  <a:srgbClr val="000000"/>
                </a:solidFill>
                <a:effectLst/>
                <a:uFillTx/>
                <a:latin typeface="Arial" panose="020B0604020202020204"/>
              </a:rPr>
              <a:t>Fifth Outline Level</a:t>
            </a:r>
            <a:endParaRPr lang="fr-FR" sz="1200" b="0" u="none" strike="noStrike">
              <a:solidFill>
                <a:srgbClr val="000000"/>
              </a:solidFill>
              <a:effectLst/>
              <a:uFillTx/>
              <a:latin typeface="Arial" panose="020B0604020202020204"/>
            </a:endParaRPr>
          </a:p>
          <a:p>
            <a:pPr marL="2592070" lvl="5" indent="-215900">
              <a:spcBef>
                <a:spcPts val="285"/>
              </a:spcBef>
              <a:buClr>
                <a:srgbClr val="FFFFFF"/>
              </a:buClr>
              <a:buSzPct val="45000"/>
              <a:buFont typeface="Wingdings" panose="05000000000000000000" pitchFamily="2" charset="2"/>
              <a:buChar char=""/>
            </a:pPr>
            <a:r>
              <a:rPr lang="fr-FR" sz="1200" b="0" u="none" strike="noStrike">
                <a:solidFill>
                  <a:srgbClr val="000000"/>
                </a:solidFill>
                <a:effectLst/>
                <a:uFillTx/>
                <a:latin typeface="Arial" panose="020B0604020202020204"/>
              </a:rPr>
              <a:t>Sixth Outline Level</a:t>
            </a:r>
            <a:endParaRPr lang="fr-FR" sz="1200" b="0" u="none" strike="noStrike">
              <a:solidFill>
                <a:srgbClr val="000000"/>
              </a:solidFill>
              <a:effectLst/>
              <a:uFillTx/>
              <a:latin typeface="Arial" panose="020B0604020202020204"/>
            </a:endParaRPr>
          </a:p>
          <a:p>
            <a:pPr marL="3023870" lvl="6" indent="-215900">
              <a:spcBef>
                <a:spcPts val="285"/>
              </a:spcBef>
              <a:buClr>
                <a:srgbClr val="FFFFFF"/>
              </a:buClr>
              <a:buSzPct val="45000"/>
              <a:buFont typeface="Wingdings" panose="05000000000000000000" pitchFamily="2" charset="2"/>
              <a:buChar char=""/>
            </a:pPr>
            <a:r>
              <a:rPr lang="fr-FR" sz="1200" b="0" u="none" strike="noStrike">
                <a:solidFill>
                  <a:srgbClr val="000000"/>
                </a:solidFill>
                <a:effectLst/>
                <a:uFillTx/>
                <a:latin typeface="Arial" panose="020B0604020202020204"/>
              </a:rPr>
              <a:t>Seventh Outline Level</a:t>
            </a:r>
            <a:endParaRPr lang="fr-FR" sz="1200" b="0" u="none" strike="noStrike">
              <a:solidFill>
                <a:srgbClr val="000000"/>
              </a:solidFill>
              <a:effectLst/>
              <a:uFillTx/>
              <a:latin typeface="Arial" panose="020B0604020202020204"/>
            </a:endParaRPr>
          </a:p>
        </p:txBody>
      </p:sp>
      <p:sp>
        <p:nvSpPr>
          <p:cNvPr id="18" name="PlaceHolder 2"/>
          <p:cNvSpPr>
            <a:spLocks noGrp="1"/>
          </p:cNvSpPr>
          <p:nvPr>
            <p:ph type="title" hasCustomPrompt="1"/>
          </p:nvPr>
        </p:nvSpPr>
        <p:spPr>
          <a:xfrm>
            <a:off x="917280" y="534960"/>
            <a:ext cx="3321360" cy="1146600"/>
          </a:xfrm>
          <a:prstGeom prst="rect">
            <a:avLst/>
          </a:prstGeom>
          <a:noFill/>
          <a:ln w="0">
            <a:noFill/>
          </a:ln>
        </p:spPr>
        <p:txBody>
          <a:bodyPr lIns="91440" tIns="91440" rIns="91440" bIns="91440" anchor="t">
            <a:noAutofit/>
          </a:bodyPr>
          <a:p>
            <a:pPr indent="0">
              <a:buNone/>
            </a:pPr>
            <a:r>
              <a:rPr lang="fr-FR" sz="3000" b="0" u="none" strike="noStrike">
                <a:solidFill>
                  <a:schemeClr val="dk1"/>
                </a:solidFill>
                <a:effectLst/>
                <a:uFillTx/>
                <a:latin typeface="Arial" panose="020B0604020202020204"/>
              </a:rPr>
              <a:t>Click to edit the title text format</a:t>
            </a:r>
            <a:endParaRPr lang="fr-FR" sz="3000" b="0" u="none" strike="noStrike">
              <a:solidFill>
                <a:schemeClr val="dk1"/>
              </a:solidFill>
              <a:effectLst/>
              <a:uFillTx/>
              <a:latin typeface="Arial" panose="020B0604020202020204"/>
            </a:endParaRPr>
          </a:p>
        </p:txBody>
      </p:sp>
      <p:grpSp>
        <p:nvGrpSpPr>
          <p:cNvPr id="19" name="Google Shape;189;p22"/>
          <p:cNvGrpSpPr/>
          <p:nvPr/>
        </p:nvGrpSpPr>
        <p:grpSpPr>
          <a:xfrm>
            <a:off x="-1303560" y="-1943280"/>
            <a:ext cx="12059640" cy="8490960"/>
            <a:chOff x="-1303560" y="-1943280"/>
            <a:chExt cx="12059640" cy="8490960"/>
          </a:xfrm>
        </p:grpSpPr>
        <p:pic>
          <p:nvPicPr>
            <p:cNvPr id="20" name="Google Shape;190;p22"/>
            <p:cNvPicPr/>
            <p:nvPr/>
          </p:nvPicPr>
          <p:blipFill>
            <a:blip r:embed="rId3">
              <a:alphaModFix amt="44000"/>
            </a:blip>
            <a:srcRect l="22932" b="43561"/>
            <a:stretch>
              <a:fillRect/>
            </a:stretch>
          </p:blipFill>
          <p:spPr>
            <a:xfrm rot="20155800">
              <a:off x="4570920" y="2981160"/>
              <a:ext cx="5941440" cy="2462040"/>
            </a:xfrm>
            <a:prstGeom prst="rect">
              <a:avLst/>
            </a:prstGeom>
            <a:noFill/>
            <a:ln w="0">
              <a:noFill/>
            </a:ln>
          </p:spPr>
        </p:pic>
        <p:pic>
          <p:nvPicPr>
            <p:cNvPr id="21" name="Google Shape;191;p22"/>
            <p:cNvPicPr/>
            <p:nvPr/>
          </p:nvPicPr>
          <p:blipFill>
            <a:blip r:embed="rId4">
              <a:alphaModFix amt="31000"/>
            </a:blip>
            <a:stretch>
              <a:fillRect/>
            </a:stretch>
          </p:blipFill>
          <p:spPr>
            <a:xfrm rot="20928600">
              <a:off x="-1181160" y="-1310400"/>
              <a:ext cx="6707160" cy="1915560"/>
            </a:xfrm>
            <a:prstGeom prst="rect">
              <a:avLst/>
            </a:prstGeom>
            <a:noFill/>
            <a:ln w="0">
              <a:noFill/>
            </a:ln>
          </p:spPr>
        </p:pic>
      </p:grpSp>
      <p:pic>
        <p:nvPicPr>
          <p:cNvPr id="22" name="Google Shape;192;p22"/>
          <p:cNvPicPr/>
          <p:nvPr/>
        </p:nvPicPr>
        <p:blipFill>
          <a:blip r:embed="rId5"/>
          <a:srcRect r="36313"/>
          <a:stretch>
            <a:fillRect/>
          </a:stretch>
        </p:blipFill>
        <p:spPr>
          <a:xfrm rot="4432200">
            <a:off x="4563360" y="824400"/>
            <a:ext cx="5998680" cy="3343680"/>
          </a:xfrm>
          <a:prstGeom prst="rect">
            <a:avLst/>
          </a:prstGeom>
          <a:noFill/>
          <a:ln w="0">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ONE_COLUMN_TEXT_1_1">
    <p:bg>
      <p:bgPr>
        <a:solidFill>
          <a:schemeClr val="lt1"/>
        </a:solidFill>
        <a:effectLst/>
      </p:bgPr>
    </p:bg>
    <p:spTree>
      <p:nvGrpSpPr>
        <p:cNvPr id="1" name=""/>
        <p:cNvGrpSpPr/>
        <p:nvPr/>
      </p:nvGrpSpPr>
      <p:grpSpPr>
        <a:xfrm>
          <a:off x="0" y="0"/>
          <a:ext cx="0" cy="0"/>
          <a:chOff x="0" y="0"/>
          <a:chExt cx="0" cy="0"/>
        </a:xfrm>
      </p:grpSpPr>
      <p:pic>
        <p:nvPicPr>
          <p:cNvPr id="23" name="Google Shape;194;p23"/>
          <p:cNvPicPr/>
          <p:nvPr/>
        </p:nvPicPr>
        <p:blipFill>
          <a:blip r:embed="rId2"/>
          <a:stretch>
            <a:fillRect/>
          </a:stretch>
        </p:blipFill>
        <p:spPr>
          <a:xfrm>
            <a:off x="1800" y="0"/>
            <a:ext cx="9140040" cy="5143320"/>
          </a:xfrm>
          <a:prstGeom prst="rect">
            <a:avLst/>
          </a:prstGeom>
          <a:noFill/>
          <a:ln w="0">
            <a:noFill/>
          </a:ln>
        </p:spPr>
      </p:pic>
      <p:grpSp>
        <p:nvGrpSpPr>
          <p:cNvPr id="24" name="Google Shape;195;p23"/>
          <p:cNvGrpSpPr/>
          <p:nvPr/>
        </p:nvGrpSpPr>
        <p:grpSpPr>
          <a:xfrm>
            <a:off x="-630000" y="-1157400"/>
            <a:ext cx="10897920" cy="7275960"/>
            <a:chOff x="-630000" y="-1157400"/>
            <a:chExt cx="10897920" cy="7275960"/>
          </a:xfrm>
        </p:grpSpPr>
        <p:pic>
          <p:nvPicPr>
            <p:cNvPr id="25" name="Google Shape;196;p23"/>
            <p:cNvPicPr/>
            <p:nvPr/>
          </p:nvPicPr>
          <p:blipFill>
            <a:blip r:embed="rId3"/>
            <a:srcRect l="22932" b="43561"/>
            <a:stretch>
              <a:fillRect/>
            </a:stretch>
          </p:blipFill>
          <p:spPr>
            <a:xfrm rot="1806000" flipH="1">
              <a:off x="-453240" y="3029040"/>
              <a:ext cx="4848480" cy="2008800"/>
            </a:xfrm>
            <a:prstGeom prst="rect">
              <a:avLst/>
            </a:prstGeom>
            <a:noFill/>
            <a:ln w="0">
              <a:noFill/>
            </a:ln>
          </p:spPr>
        </p:pic>
        <p:pic>
          <p:nvPicPr>
            <p:cNvPr id="26" name="Google Shape;197;p23"/>
            <p:cNvPicPr/>
            <p:nvPr/>
          </p:nvPicPr>
          <p:blipFill>
            <a:blip r:embed="rId4">
              <a:alphaModFix amt="31000"/>
            </a:blip>
            <a:stretch>
              <a:fillRect/>
            </a:stretch>
          </p:blipFill>
          <p:spPr>
            <a:xfrm flipH="1">
              <a:off x="5172840" y="-1157400"/>
              <a:ext cx="5095080" cy="2203920"/>
            </a:xfrm>
            <a:prstGeom prst="rect">
              <a:avLst/>
            </a:prstGeom>
            <a:noFill/>
            <a:ln w="0">
              <a:noFill/>
            </a:ln>
          </p:spPr>
        </p:pic>
      </p:grpSp>
      <p:sp>
        <p:nvSpPr>
          <p:cNvPr id="27" name="PlaceHolder 1"/>
          <p:cNvSpPr>
            <a:spLocks noGrp="1"/>
          </p:cNvSpPr>
          <p:nvPr>
            <p:ph type="body" hasCustomPrompt="1"/>
          </p:nvPr>
        </p:nvSpPr>
        <p:spPr>
          <a:xfrm>
            <a:off x="917280" y="1658880"/>
            <a:ext cx="4462200" cy="2926080"/>
          </a:xfrm>
          <a:prstGeom prst="rect">
            <a:avLst/>
          </a:prstGeom>
          <a:noFill/>
          <a:ln w="0">
            <a:noFill/>
          </a:ln>
        </p:spPr>
        <p:txBody>
          <a:bodyPr lIns="91440" tIns="91440" rIns="91440" bIns="91440" anchor="t">
            <a:noAutofit/>
          </a:bodyPr>
          <a:p>
            <a:pPr marL="431800" indent="-323850">
              <a:spcBef>
                <a:spcPts val="1415"/>
              </a:spcBef>
              <a:buClr>
                <a:srgbClr val="FFFFFF"/>
              </a:buClr>
              <a:buSzPct val="45000"/>
              <a:buFont typeface="Wingdings" panose="05000000000000000000" pitchFamily="2" charset="2"/>
              <a:buChar char=""/>
            </a:pPr>
            <a:r>
              <a:rPr lang="fr-FR" sz="1200" b="0" u="none" strike="noStrike">
                <a:solidFill>
                  <a:srgbClr val="000000"/>
                </a:solidFill>
                <a:effectLst/>
                <a:uFillTx/>
                <a:latin typeface="Arial" panose="020B0604020202020204"/>
              </a:rPr>
              <a:t>Click to edit the outline text format</a:t>
            </a:r>
            <a:endParaRPr lang="fr-FR" sz="1200" b="0" u="none" strike="noStrike">
              <a:solidFill>
                <a:srgbClr val="000000"/>
              </a:solidFill>
              <a:effectLst/>
              <a:uFillTx/>
              <a:latin typeface="Arial" panose="020B0604020202020204"/>
            </a:endParaRPr>
          </a:p>
          <a:p>
            <a:pPr marL="864235" lvl="1" indent="-323850">
              <a:spcBef>
                <a:spcPts val="1135"/>
              </a:spcBef>
              <a:buClr>
                <a:srgbClr val="FFFFFF"/>
              </a:buClr>
              <a:buSzPct val="75000"/>
              <a:buFont typeface="Symbol" panose="05050102010706020507" charset="2"/>
              <a:buChar char=""/>
            </a:pPr>
            <a:r>
              <a:rPr lang="fr-FR" sz="1200" b="0" u="none" strike="noStrike">
                <a:solidFill>
                  <a:srgbClr val="000000"/>
                </a:solidFill>
                <a:effectLst/>
                <a:uFillTx/>
                <a:latin typeface="Arial" panose="020B0604020202020204"/>
              </a:rPr>
              <a:t>Second Outline Level</a:t>
            </a:r>
            <a:endParaRPr lang="fr-FR" sz="1200" b="0" u="none" strike="noStrike">
              <a:solidFill>
                <a:srgbClr val="000000"/>
              </a:solidFill>
              <a:effectLst/>
              <a:uFillTx/>
              <a:latin typeface="Arial" panose="020B0604020202020204"/>
            </a:endParaRPr>
          </a:p>
          <a:p>
            <a:pPr marL="1296035" lvl="2" indent="-288290">
              <a:spcBef>
                <a:spcPts val="850"/>
              </a:spcBef>
              <a:buClr>
                <a:srgbClr val="FFFFFF"/>
              </a:buClr>
              <a:buSzPct val="45000"/>
              <a:buFont typeface="Wingdings" panose="05000000000000000000" pitchFamily="2" charset="2"/>
              <a:buChar char=""/>
            </a:pPr>
            <a:r>
              <a:rPr lang="fr-FR" sz="1200" b="0" u="none" strike="noStrike">
                <a:solidFill>
                  <a:srgbClr val="000000"/>
                </a:solidFill>
                <a:effectLst/>
                <a:uFillTx/>
                <a:latin typeface="Arial" panose="020B0604020202020204"/>
              </a:rPr>
              <a:t>Third Outline Level</a:t>
            </a:r>
            <a:endParaRPr lang="fr-FR" sz="1200" b="0" u="none" strike="noStrike">
              <a:solidFill>
                <a:srgbClr val="000000"/>
              </a:solidFill>
              <a:effectLst/>
              <a:uFillTx/>
              <a:latin typeface="Arial" panose="020B0604020202020204"/>
            </a:endParaRPr>
          </a:p>
          <a:p>
            <a:pPr marL="1727835" lvl="3" indent="-215900">
              <a:spcBef>
                <a:spcPts val="565"/>
              </a:spcBef>
              <a:buClr>
                <a:srgbClr val="FFFFFF"/>
              </a:buClr>
              <a:buSzPct val="75000"/>
              <a:buFont typeface="Symbol" panose="05050102010706020507" charset="2"/>
              <a:buChar char=""/>
            </a:pPr>
            <a:r>
              <a:rPr lang="fr-FR" sz="1200" b="0" u="none" strike="noStrike">
                <a:solidFill>
                  <a:srgbClr val="000000"/>
                </a:solidFill>
                <a:effectLst/>
                <a:uFillTx/>
                <a:latin typeface="Arial" panose="020B0604020202020204"/>
              </a:rPr>
              <a:t>Fourth Outline Level</a:t>
            </a:r>
            <a:endParaRPr lang="fr-FR" sz="1200" b="0" u="none" strike="noStrike">
              <a:solidFill>
                <a:srgbClr val="000000"/>
              </a:solidFill>
              <a:effectLst/>
              <a:uFillTx/>
              <a:latin typeface="Arial" panose="020B0604020202020204"/>
            </a:endParaRPr>
          </a:p>
          <a:p>
            <a:pPr marL="2160270" lvl="4" indent="-215900">
              <a:spcBef>
                <a:spcPts val="285"/>
              </a:spcBef>
              <a:buClr>
                <a:srgbClr val="FFFFFF"/>
              </a:buClr>
              <a:buSzPct val="45000"/>
              <a:buFont typeface="Wingdings" panose="05000000000000000000" pitchFamily="2" charset="2"/>
              <a:buChar char=""/>
            </a:pPr>
            <a:r>
              <a:rPr lang="fr-FR" sz="1200" b="0" u="none" strike="noStrike">
                <a:solidFill>
                  <a:srgbClr val="000000"/>
                </a:solidFill>
                <a:effectLst/>
                <a:uFillTx/>
                <a:latin typeface="Arial" panose="020B0604020202020204"/>
              </a:rPr>
              <a:t>Fifth Outline Level</a:t>
            </a:r>
            <a:endParaRPr lang="fr-FR" sz="1200" b="0" u="none" strike="noStrike">
              <a:solidFill>
                <a:srgbClr val="000000"/>
              </a:solidFill>
              <a:effectLst/>
              <a:uFillTx/>
              <a:latin typeface="Arial" panose="020B0604020202020204"/>
            </a:endParaRPr>
          </a:p>
          <a:p>
            <a:pPr marL="2592070" lvl="5" indent="-215900">
              <a:spcBef>
                <a:spcPts val="285"/>
              </a:spcBef>
              <a:buClr>
                <a:srgbClr val="FFFFFF"/>
              </a:buClr>
              <a:buSzPct val="45000"/>
              <a:buFont typeface="Wingdings" panose="05000000000000000000" pitchFamily="2" charset="2"/>
              <a:buChar char=""/>
            </a:pPr>
            <a:r>
              <a:rPr lang="fr-FR" sz="1200" b="0" u="none" strike="noStrike">
                <a:solidFill>
                  <a:srgbClr val="000000"/>
                </a:solidFill>
                <a:effectLst/>
                <a:uFillTx/>
                <a:latin typeface="Arial" panose="020B0604020202020204"/>
              </a:rPr>
              <a:t>Sixth Outline Level</a:t>
            </a:r>
            <a:endParaRPr lang="fr-FR" sz="1200" b="0" u="none" strike="noStrike">
              <a:solidFill>
                <a:srgbClr val="000000"/>
              </a:solidFill>
              <a:effectLst/>
              <a:uFillTx/>
              <a:latin typeface="Arial" panose="020B0604020202020204"/>
            </a:endParaRPr>
          </a:p>
          <a:p>
            <a:pPr marL="3023870" lvl="6" indent="-215900">
              <a:spcBef>
                <a:spcPts val="285"/>
              </a:spcBef>
              <a:buClr>
                <a:srgbClr val="FFFFFF"/>
              </a:buClr>
              <a:buSzPct val="45000"/>
              <a:buFont typeface="Wingdings" panose="05000000000000000000" pitchFamily="2" charset="2"/>
              <a:buChar char=""/>
            </a:pPr>
            <a:r>
              <a:rPr lang="fr-FR" sz="1200" b="0" u="none" strike="noStrike">
                <a:solidFill>
                  <a:srgbClr val="000000"/>
                </a:solidFill>
                <a:effectLst/>
                <a:uFillTx/>
                <a:latin typeface="Arial" panose="020B0604020202020204"/>
              </a:rPr>
              <a:t>Seventh Outline Level</a:t>
            </a:r>
            <a:endParaRPr lang="fr-FR" sz="1200" b="0" u="none" strike="noStrike">
              <a:solidFill>
                <a:srgbClr val="000000"/>
              </a:solidFill>
              <a:effectLst/>
              <a:uFillTx/>
              <a:latin typeface="Arial" panose="020B0604020202020204"/>
            </a:endParaRPr>
          </a:p>
        </p:txBody>
      </p:sp>
      <p:sp>
        <p:nvSpPr>
          <p:cNvPr id="28" name="PlaceHolder 2"/>
          <p:cNvSpPr>
            <a:spLocks noGrp="1"/>
          </p:cNvSpPr>
          <p:nvPr>
            <p:ph type="title" hasCustomPrompt="1"/>
          </p:nvPr>
        </p:nvSpPr>
        <p:spPr>
          <a:xfrm>
            <a:off x="917280" y="534960"/>
            <a:ext cx="4462200" cy="1146600"/>
          </a:xfrm>
          <a:prstGeom prst="rect">
            <a:avLst/>
          </a:prstGeom>
          <a:noFill/>
          <a:ln w="0">
            <a:noFill/>
          </a:ln>
        </p:spPr>
        <p:txBody>
          <a:bodyPr lIns="91440" tIns="91440" rIns="91440" bIns="91440" anchor="t">
            <a:noAutofit/>
          </a:bodyPr>
          <a:p>
            <a:pPr indent="0">
              <a:buNone/>
            </a:pPr>
            <a:r>
              <a:rPr lang="fr-FR" sz="3000" b="0" u="none" strike="noStrike">
                <a:solidFill>
                  <a:schemeClr val="dk1"/>
                </a:solidFill>
                <a:effectLst/>
                <a:uFillTx/>
                <a:latin typeface="Arial" panose="020B0604020202020204"/>
              </a:rPr>
              <a:t>Click to edit the title text format</a:t>
            </a:r>
            <a:endParaRPr lang="fr-FR" sz="3000" b="0" u="none" strike="noStrike">
              <a:solidFill>
                <a:schemeClr val="dk1"/>
              </a:solidFill>
              <a:effectLst/>
              <a:uFillTx/>
              <a:latin typeface="Arial" panose="020B0604020202020204"/>
            </a:endParaRPr>
          </a:p>
        </p:txBody>
      </p:sp>
      <p:sp>
        <p:nvSpPr>
          <p:cNvPr id="29" name="PlaceHolder 3"/>
          <p:cNvSpPr>
            <a:spLocks noGrp="1"/>
          </p:cNvSpPr>
          <p:nvPr>
            <p:ph type="body" hasCustomPrompt="1"/>
          </p:nvPr>
        </p:nvSpPr>
        <p:spPr>
          <a:xfrm>
            <a:off x="5616720" y="534960"/>
            <a:ext cx="3061080" cy="4050000"/>
          </a:xfrm>
          <a:prstGeom prst="rect">
            <a:avLst/>
          </a:prstGeom>
          <a:noFill/>
          <a:ln w="0">
            <a:noFill/>
          </a:ln>
        </p:spPr>
        <p:txBody>
          <a:bodyPr lIns="90000" tIns="45000" rIns="90000" bIns="45000" anchor="t">
            <a:normAutofit fontScale="62500" lnSpcReduction="19999"/>
          </a:bodyPr>
          <a:p>
            <a:pPr marL="431800" indent="-323850">
              <a:spcBef>
                <a:spcPts val="1415"/>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Click to edit the outline text format</a:t>
            </a:r>
            <a:endParaRPr lang="fr-FR" sz="1800" b="0" u="none" strike="noStrike">
              <a:solidFill>
                <a:srgbClr val="000000"/>
              </a:solidFill>
              <a:effectLst/>
              <a:uFillTx/>
              <a:latin typeface="Arial" panose="020B0604020202020204"/>
            </a:endParaRPr>
          </a:p>
          <a:p>
            <a:pPr marL="864235" lvl="1" indent="-323850">
              <a:spcBef>
                <a:spcPts val="1135"/>
              </a:spcBef>
              <a:buClr>
                <a:srgbClr val="FFFFFF"/>
              </a:buClr>
              <a:buSzPct val="75000"/>
              <a:buFont typeface="Symbol" panose="05050102010706020507" charset="2"/>
              <a:buChar char=""/>
            </a:pPr>
            <a:r>
              <a:rPr lang="fr-FR" sz="1800" b="0" u="none" strike="noStrike">
                <a:solidFill>
                  <a:srgbClr val="000000"/>
                </a:solidFill>
                <a:effectLst/>
                <a:uFillTx/>
                <a:latin typeface="Arial" panose="020B0604020202020204"/>
              </a:rPr>
              <a:t>Second Outline Level</a:t>
            </a:r>
            <a:endParaRPr lang="fr-FR" sz="1800" b="0" u="none" strike="noStrike">
              <a:solidFill>
                <a:srgbClr val="000000"/>
              </a:solidFill>
              <a:effectLst/>
              <a:uFillTx/>
              <a:latin typeface="Arial" panose="020B0604020202020204"/>
            </a:endParaRPr>
          </a:p>
          <a:p>
            <a:pPr marL="1296035" lvl="2" indent="-288290">
              <a:spcBef>
                <a:spcPts val="850"/>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Third Outline Level</a:t>
            </a:r>
            <a:endParaRPr lang="fr-FR" sz="1800" b="0" u="none" strike="noStrike">
              <a:solidFill>
                <a:srgbClr val="000000"/>
              </a:solidFill>
              <a:effectLst/>
              <a:uFillTx/>
              <a:latin typeface="Arial" panose="020B0604020202020204"/>
            </a:endParaRPr>
          </a:p>
          <a:p>
            <a:pPr marL="1727835" lvl="3" indent="-215900">
              <a:spcBef>
                <a:spcPts val="565"/>
              </a:spcBef>
              <a:buClr>
                <a:srgbClr val="FFFFFF"/>
              </a:buClr>
              <a:buSzPct val="75000"/>
              <a:buFont typeface="Symbol" panose="05050102010706020507" charset="2"/>
              <a:buChar char=""/>
            </a:pPr>
            <a:r>
              <a:rPr lang="fr-FR" sz="1800" b="0" u="none" strike="noStrike">
                <a:solidFill>
                  <a:srgbClr val="000000"/>
                </a:solidFill>
                <a:effectLst/>
                <a:uFillTx/>
                <a:latin typeface="Arial" panose="020B0604020202020204"/>
              </a:rPr>
              <a:t>Fourth Outline Level</a:t>
            </a:r>
            <a:endParaRPr lang="fr-FR" sz="1800" b="0" u="none" strike="noStrike">
              <a:solidFill>
                <a:srgbClr val="000000"/>
              </a:solidFill>
              <a:effectLst/>
              <a:uFillTx/>
              <a:latin typeface="Arial" panose="020B0604020202020204"/>
            </a:endParaRPr>
          </a:p>
          <a:p>
            <a:pPr marL="2160270" lvl="4" indent="-215900">
              <a:spcBef>
                <a:spcPts val="285"/>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Fifth Outline Level</a:t>
            </a:r>
            <a:endParaRPr lang="fr-FR" sz="1800" b="0" u="none" strike="noStrike">
              <a:solidFill>
                <a:srgbClr val="000000"/>
              </a:solidFill>
              <a:effectLst/>
              <a:uFillTx/>
              <a:latin typeface="Arial" panose="020B0604020202020204"/>
            </a:endParaRPr>
          </a:p>
          <a:p>
            <a:pPr marL="2592070" lvl="5" indent="-215900">
              <a:spcBef>
                <a:spcPts val="285"/>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Sixth Outline Level</a:t>
            </a:r>
            <a:endParaRPr lang="fr-FR" sz="1800" b="0" u="none" strike="noStrike">
              <a:solidFill>
                <a:srgbClr val="000000"/>
              </a:solidFill>
              <a:effectLst/>
              <a:uFillTx/>
              <a:latin typeface="Arial" panose="020B0604020202020204"/>
            </a:endParaRPr>
          </a:p>
          <a:p>
            <a:pPr marL="3023870" lvl="6" indent="-215900">
              <a:spcBef>
                <a:spcPts val="285"/>
              </a:spcBef>
              <a:buClr>
                <a:srgbClr val="FFFFFF"/>
              </a:buClr>
              <a:buSzPct val="45000"/>
              <a:buFont typeface="Wingdings" panose="05000000000000000000" pitchFamily="2" charset="2"/>
              <a:buChar char=""/>
            </a:pPr>
            <a:r>
              <a:rPr lang="fr-FR" sz="1800" b="0" u="none" strike="noStrike">
                <a:solidFill>
                  <a:srgbClr val="000000"/>
                </a:solidFill>
                <a:effectLst/>
                <a:uFillTx/>
                <a:latin typeface="Arial" panose="020B0604020202020204"/>
              </a:rPr>
              <a:t>Seventh Outline Level</a:t>
            </a:r>
            <a:endParaRPr lang="fr-FR" sz="1800" b="0" u="none" strike="noStrike">
              <a:solidFill>
                <a:srgbClr val="000000"/>
              </a:solidFill>
              <a:effectLst/>
              <a:uFillTx/>
              <a:latin typeface="Arial" panose="020B06040202020202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_1_1_1_1_1_1_2">
    <p:bg>
      <p:bgPr>
        <a:solidFill>
          <a:schemeClr val="lt1"/>
        </a:solidFill>
        <a:effectLst/>
      </p:bgPr>
    </p:bg>
    <p:spTree>
      <p:nvGrpSpPr>
        <p:cNvPr id="1" name=""/>
        <p:cNvGrpSpPr/>
        <p:nvPr/>
      </p:nvGrpSpPr>
      <p:grpSpPr>
        <a:xfrm>
          <a:off x="0" y="0"/>
          <a:ext cx="0" cy="0"/>
          <a:chOff x="0" y="0"/>
          <a:chExt cx="0" cy="0"/>
        </a:xfrm>
      </p:grpSpPr>
      <p:pic>
        <p:nvPicPr>
          <p:cNvPr id="30" name="Google Shape;202;p24"/>
          <p:cNvPicPr/>
          <p:nvPr/>
        </p:nvPicPr>
        <p:blipFill>
          <a:blip r:embed="rId2"/>
          <a:stretch>
            <a:fillRect/>
          </a:stretch>
        </p:blipFill>
        <p:spPr>
          <a:xfrm>
            <a:off x="1800" y="0"/>
            <a:ext cx="9140040" cy="5143320"/>
          </a:xfrm>
          <a:prstGeom prst="rect">
            <a:avLst/>
          </a:prstGeom>
          <a:noFill/>
          <a:ln w="0">
            <a:noFill/>
          </a:ln>
        </p:spPr>
      </p:pic>
      <p:sp>
        <p:nvSpPr>
          <p:cNvPr id="31" name="PlaceHolder 1"/>
          <p:cNvSpPr>
            <a:spLocks noGrp="1"/>
          </p:cNvSpPr>
          <p:nvPr>
            <p:ph type="title" hasCustomPrompt="1"/>
          </p:nvPr>
        </p:nvSpPr>
        <p:spPr>
          <a:xfrm>
            <a:off x="842400" y="534960"/>
            <a:ext cx="5265000" cy="1055880"/>
          </a:xfrm>
          <a:prstGeom prst="rect">
            <a:avLst/>
          </a:prstGeom>
          <a:noFill/>
          <a:ln w="0">
            <a:noFill/>
          </a:ln>
        </p:spPr>
        <p:txBody>
          <a:bodyPr lIns="91440" tIns="91440" rIns="91440" bIns="91440" anchor="t">
            <a:noAutofit/>
          </a:bodyPr>
          <a:p>
            <a:pPr indent="0">
              <a:buNone/>
            </a:pPr>
            <a:r>
              <a:rPr lang="fr-FR" sz="6000" b="0" u="none" strike="noStrike">
                <a:solidFill>
                  <a:schemeClr val="dk1"/>
                </a:solidFill>
                <a:effectLst/>
                <a:uFillTx/>
                <a:latin typeface="Arial" panose="020B0604020202020204"/>
              </a:rPr>
              <a:t>Click to edit the title text format</a:t>
            </a:r>
            <a:endParaRPr lang="fr-FR" sz="6000" b="0" u="none" strike="noStrike">
              <a:solidFill>
                <a:schemeClr val="dk1"/>
              </a:solidFill>
              <a:effectLst/>
              <a:uFillTx/>
              <a:latin typeface="Arial" panose="020B0604020202020204"/>
            </a:endParaRPr>
          </a:p>
        </p:txBody>
      </p:sp>
      <p:grpSp>
        <p:nvGrpSpPr>
          <p:cNvPr id="32" name="Google Shape;205;p24"/>
          <p:cNvGrpSpPr/>
          <p:nvPr/>
        </p:nvGrpSpPr>
        <p:grpSpPr>
          <a:xfrm>
            <a:off x="-798480" y="-1628280"/>
            <a:ext cx="12666600" cy="8308800"/>
            <a:chOff x="-798480" y="-1628280"/>
            <a:chExt cx="12666600" cy="8308800"/>
          </a:xfrm>
        </p:grpSpPr>
        <p:pic>
          <p:nvPicPr>
            <p:cNvPr id="33" name="Google Shape;206;p24"/>
            <p:cNvPicPr/>
            <p:nvPr/>
          </p:nvPicPr>
          <p:blipFill>
            <a:blip r:embed="rId3">
              <a:alphaModFix amt="93000"/>
            </a:blip>
            <a:stretch>
              <a:fillRect/>
            </a:stretch>
          </p:blipFill>
          <p:spPr>
            <a:xfrm rot="12328800" flipH="1">
              <a:off x="5074920" y="-278640"/>
              <a:ext cx="6707160" cy="1915560"/>
            </a:xfrm>
            <a:prstGeom prst="rect">
              <a:avLst/>
            </a:prstGeom>
            <a:noFill/>
            <a:ln w="0">
              <a:noFill/>
            </a:ln>
          </p:spPr>
        </p:pic>
        <p:pic>
          <p:nvPicPr>
            <p:cNvPr id="34" name="Google Shape;207;p24"/>
            <p:cNvPicPr/>
            <p:nvPr/>
          </p:nvPicPr>
          <p:blipFill>
            <a:blip r:embed="rId4">
              <a:alphaModFix amt="71000"/>
            </a:blip>
            <a:srcRect l="22932" b="43561"/>
            <a:stretch>
              <a:fillRect/>
            </a:stretch>
          </p:blipFill>
          <p:spPr>
            <a:xfrm rot="1872600" flipH="1">
              <a:off x="-592200" y="2890440"/>
              <a:ext cx="5889960" cy="2440440"/>
            </a:xfrm>
            <a:prstGeom prst="rect">
              <a:avLst/>
            </a:prstGeom>
            <a:noFill/>
            <a:ln w="0">
              <a:noFill/>
            </a:ln>
          </p:spPr>
        </p:pic>
      </p:grpSp>
      <p:sp>
        <p:nvSpPr>
          <p:cNvPr id="35" name="Google Shape;208;p24"/>
          <p:cNvSpPr/>
          <p:nvPr/>
        </p:nvSpPr>
        <p:spPr>
          <a:xfrm>
            <a:off x="4653000" y="1832040"/>
            <a:ext cx="3648600" cy="615240"/>
          </a:xfrm>
          <a:prstGeom prst="rect">
            <a:avLst/>
          </a:prstGeom>
          <a:noFill/>
          <a:ln w="0">
            <a:noFill/>
          </a:ln>
        </p:spPr>
        <p:style>
          <a:lnRef idx="0">
            <a:srgbClr val="FFFFFF"/>
          </a:lnRef>
          <a:fillRef idx="0">
            <a:srgbClr val="FFFFFF"/>
          </a:fillRef>
          <a:effectRef idx="0">
            <a:srgbClr val="FFFFFF"/>
          </a:effectRef>
          <a:fontRef idx="minor"/>
        </p:style>
        <p:txBody>
          <a:bodyPr tIns="91440" bIns="91440" anchor="b">
            <a:noAutofit/>
          </a:bodyPr>
          <a:p>
            <a:pPr defTabSz="914400">
              <a:lnSpc>
                <a:spcPct val="100000"/>
              </a:lnSpc>
              <a:spcBef>
                <a:spcPts val="300"/>
              </a:spcBef>
              <a:tabLst>
                <a:tab pos="0" algn="l"/>
              </a:tabLst>
            </a:pPr>
            <a:r>
              <a:rPr lang="en-GB" sz="1000" b="0" u="none" strike="noStrike">
                <a:solidFill>
                  <a:schemeClr val="dk1"/>
                </a:solidFill>
                <a:effectLst/>
                <a:uFillTx/>
                <a:latin typeface="Montserrat"/>
                <a:ea typeface="Montserrat"/>
              </a:rPr>
              <a:t>CREDITS: This presentation template was created by </a:t>
            </a:r>
            <a:r>
              <a:rPr lang="en-GB" sz="1000" b="1" u="sng" strike="noStrike">
                <a:solidFill>
                  <a:schemeClr val="hlink"/>
                </a:solidFill>
                <a:effectLst/>
                <a:uFillTx/>
                <a:latin typeface="Montserrat"/>
                <a:ea typeface="Montserrat"/>
                <a:hlinkClick r:id="rId5"/>
              </a:rPr>
              <a:t>Slidesgo</a:t>
            </a:r>
            <a:r>
              <a:rPr lang="en-GB" sz="1000" b="0" u="sng" strike="noStrike">
                <a:solidFill>
                  <a:schemeClr val="dk1"/>
                </a:solidFill>
                <a:effectLst/>
                <a:uFillTx/>
                <a:latin typeface="Montserrat"/>
                <a:ea typeface="Montserrat"/>
              </a:rPr>
              <a:t>,</a:t>
            </a:r>
            <a:r>
              <a:rPr lang="en-GB" sz="1000" b="0" u="none" strike="noStrike">
                <a:solidFill>
                  <a:schemeClr val="dk1"/>
                </a:solidFill>
                <a:effectLst/>
                <a:uFillTx/>
                <a:latin typeface="Montserrat"/>
                <a:ea typeface="Montserrat"/>
              </a:rPr>
              <a:t> including icons, infographics &amp; images by </a:t>
            </a:r>
            <a:r>
              <a:rPr lang="en-GB" sz="1000" b="1" u="sng" strike="noStrike">
                <a:solidFill>
                  <a:schemeClr val="dk1"/>
                </a:solidFill>
                <a:effectLst/>
                <a:uFillTx/>
                <a:latin typeface="Montserrat"/>
                <a:ea typeface="Montserrat"/>
                <a:hlinkClick r:id="rId6"/>
              </a:rPr>
              <a:t>Freepik</a:t>
            </a:r>
            <a:endParaRPr lang="en-US" sz="1000" b="0" u="none" strike="noStrike">
              <a:solidFill>
                <a:srgbClr val="FFFFFF"/>
              </a:solidFill>
              <a:effectLst/>
              <a:uFillTx/>
              <a:latin typeface="OpenSymbol" panose="0501000000000000000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a:xfrm>
            <a:off x="838200" y="6356350"/>
            <a:ext cx="2743200" cy="365125"/>
          </a:xfrm>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p:spPr>
        <p:txBody>
          <a:bodyPr/>
          <a:lstStyle/>
          <a:p>
            <a:endParaRPr lang="en-US"/>
          </a:p>
        </p:txBody>
      </p:sp>
      <p:sp>
        <p:nvSpPr>
          <p:cNvPr id="6" name="Slide Number Placeholder 5"/>
          <p:cNvSpPr>
            <a:spLocks noGrp="1"/>
          </p:cNvSpPr>
          <p:nvPr>
            <p:ph type="sldNum" sz="quarter" idx="12"/>
          </p:nvPr>
        </p:nvSpPr>
        <p:spPr>
          <a:xfrm>
            <a:off x="8610600" y="6356350"/>
            <a:ext cx="2743200" cy="365125"/>
          </a:xfrm>
        </p:spPr>
        <p:txBody>
          <a:bodyPr/>
          <a:lstStyle/>
          <a:p>
            <a:fld id="{B3561BA9-CDCF-4958-B8AB-66F3BF063E1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image" Target="../media/image11.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6" name="Google Shape;233;p30"/>
          <p:cNvCxnSpPr/>
          <p:nvPr/>
        </p:nvCxnSpPr>
        <p:spPr>
          <a:xfrm>
            <a:off x="1130400" y="2700720"/>
            <a:ext cx="6883200" cy="360"/>
          </a:xfrm>
          <a:prstGeom prst="straightConnector1">
            <a:avLst/>
          </a:prstGeom>
          <a:ln w="9525">
            <a:solidFill>
              <a:srgbClr val="4DE6EC"/>
            </a:solidFill>
            <a:round/>
          </a:ln>
        </p:spPr>
      </p:cxnSp>
      <p:sp>
        <p:nvSpPr>
          <p:cNvPr id="37" name="Rectangle 36"/>
          <p:cNvSpPr/>
          <p:nvPr/>
        </p:nvSpPr>
        <p:spPr>
          <a:xfrm>
            <a:off x="755515" y="1924140"/>
            <a:ext cx="7714800" cy="609120"/>
          </a:xfrm>
          <a:prstGeom prst="rect">
            <a:avLst/>
          </a:prstGeom>
          <a:noFill/>
          <a:ln w="0">
            <a:noFill/>
          </a:ln>
        </p:spPr>
        <p:style>
          <a:lnRef idx="0">
            <a:srgbClr val="FFFFFF"/>
          </a:lnRef>
          <a:fillRef idx="0">
            <a:srgbClr val="FFFFFF"/>
          </a:fillRef>
          <a:effectRef idx="0">
            <a:srgbClr val="FFFFFF"/>
          </a:effectRef>
          <a:fontRef idx="minor"/>
        </p:style>
        <p:txBody>
          <a:bodyPr anchor="b">
            <a:noAutofit/>
          </a:bodyPr>
          <a:p>
            <a:pPr algn="ctr" defTabSz="914400">
              <a:lnSpc>
                <a:spcPct val="100000"/>
              </a:lnSpc>
              <a:tabLst>
                <a:tab pos="0" algn="l"/>
              </a:tabLst>
            </a:pPr>
            <a:r>
              <a:rPr lang="vi-VN" sz="2400" kern="100" dirty="0" err="1">
                <a:effectLst/>
                <a:latin typeface="Arial" panose="020B0604020202020204" pitchFamily="34" charset="0"/>
                <a:ea typeface="Arial" panose="020B0604020202020204" pitchFamily="34" charset="0"/>
                <a:cs typeface="Arial" panose="020B0604020202020204" pitchFamily="34" charset="0"/>
                <a:sym typeface="+mn-ea"/>
              </a:rPr>
              <a:t>Triển</a:t>
            </a:r>
            <a:r>
              <a:rPr lang="vi-VN" sz="2400" kern="100" dirty="0">
                <a:effectLst/>
                <a:latin typeface="Arial" panose="020B0604020202020204" pitchFamily="34" charset="0"/>
                <a:ea typeface="Arial" panose="020B0604020202020204" pitchFamily="34" charset="0"/>
                <a:cs typeface="Arial" panose="020B0604020202020204" pitchFamily="34" charset="0"/>
                <a:sym typeface="+mn-ea"/>
              </a:rPr>
              <a:t> khai </a:t>
            </a:r>
            <a:r>
              <a:rPr lang="vi-VN" sz="2400" kern="100" dirty="0" err="1">
                <a:effectLst/>
                <a:latin typeface="Arial" panose="020B0604020202020204" pitchFamily="34" charset="0"/>
                <a:ea typeface="Arial" panose="020B0604020202020204" pitchFamily="34" charset="0"/>
                <a:cs typeface="Arial" panose="020B0604020202020204" pitchFamily="34" charset="0"/>
                <a:sym typeface="+mn-ea"/>
              </a:rPr>
              <a:t>Web</a:t>
            </a:r>
            <a:r>
              <a:rPr lang="vi-VN" sz="2400" kern="100" dirty="0">
                <a:effectLst/>
                <a:latin typeface="Arial" panose="020B0604020202020204" pitchFamily="34" charset="0"/>
                <a:ea typeface="Arial" panose="020B0604020202020204" pitchFamily="34" charset="0"/>
                <a:cs typeface="Arial" panose="020B0604020202020204" pitchFamily="34" charset="0"/>
                <a:sym typeface="+mn-ea"/>
              </a:rPr>
              <a:t> Server </a:t>
            </a:r>
            <a:r>
              <a:rPr lang="vi-VN" sz="2400" kern="100" dirty="0" err="1">
                <a:effectLst/>
                <a:latin typeface="Arial" panose="020B0604020202020204" pitchFamily="34" charset="0"/>
                <a:ea typeface="Arial" panose="020B0604020202020204" pitchFamily="34" charset="0"/>
                <a:cs typeface="Arial" panose="020B0604020202020204" pitchFamily="34" charset="0"/>
                <a:sym typeface="+mn-ea"/>
              </a:rPr>
              <a:t>nhỏ</a:t>
            </a:r>
            <a:r>
              <a:rPr lang="vi-VN" sz="2400" kern="100" dirty="0">
                <a:effectLst/>
                <a:latin typeface="Arial" panose="020B0604020202020204" pitchFamily="34" charset="0"/>
                <a:ea typeface="Arial" panose="020B0604020202020204" pitchFamily="34" charset="0"/>
                <a:cs typeface="Arial" panose="020B0604020202020204" pitchFamily="34" charset="0"/>
                <a:sym typeface="+mn-ea"/>
              </a:rPr>
              <a:t> </a:t>
            </a:r>
            <a:r>
              <a:rPr lang="vi-VN" sz="2400" kern="100" dirty="0" err="1">
                <a:effectLst/>
                <a:latin typeface="Arial" panose="020B0604020202020204" pitchFamily="34" charset="0"/>
                <a:ea typeface="Arial" panose="020B0604020202020204" pitchFamily="34" charset="0"/>
                <a:cs typeface="Arial" panose="020B0604020202020204" pitchFamily="34" charset="0"/>
                <a:sym typeface="+mn-ea"/>
              </a:rPr>
              <a:t>bằng</a:t>
            </a:r>
            <a:r>
              <a:rPr lang="vi-VN" sz="2400" kern="100" dirty="0">
                <a:effectLst/>
                <a:latin typeface="Arial" panose="020B0604020202020204" pitchFamily="34" charset="0"/>
                <a:ea typeface="Arial" panose="020B0604020202020204" pitchFamily="34" charset="0"/>
                <a:cs typeface="Arial" panose="020B0604020202020204" pitchFamily="34" charset="0"/>
                <a:sym typeface="+mn-ea"/>
              </a:rPr>
              <a:t> </a:t>
            </a:r>
            <a:r>
              <a:rPr lang="vi-VN" sz="2400" kern="100" dirty="0" err="1">
                <a:effectLst/>
                <a:latin typeface="Arial" panose="020B0604020202020204" pitchFamily="34" charset="0"/>
                <a:ea typeface="Arial" panose="020B0604020202020204" pitchFamily="34" charset="0"/>
                <a:cs typeface="Arial" panose="020B0604020202020204" pitchFamily="34" charset="0"/>
                <a:sym typeface="+mn-ea"/>
              </a:rPr>
              <a:t>Docker</a:t>
            </a:r>
            <a:r>
              <a:rPr lang="vi-VN" sz="2400" kern="100" dirty="0">
                <a:effectLst/>
                <a:latin typeface="Arial" panose="020B0604020202020204" pitchFamily="34" charset="0"/>
                <a:ea typeface="Arial" panose="020B0604020202020204" pitchFamily="34" charset="0"/>
                <a:cs typeface="Arial" panose="020B0604020202020204" pitchFamily="34" charset="0"/>
                <a:sym typeface="+mn-ea"/>
              </a:rPr>
              <a:t> </a:t>
            </a:r>
            <a:endParaRPr lang="vi-VN" sz="2400" kern="100" dirty="0">
              <a:effectLst/>
              <a:latin typeface="Arial" panose="020B0604020202020204" pitchFamily="34" charset="0"/>
              <a:ea typeface="Arial" panose="020B0604020202020204" pitchFamily="34" charset="0"/>
              <a:cs typeface="Arial" panose="020B0604020202020204" pitchFamily="34" charset="0"/>
              <a:sym typeface="+mn-ea"/>
            </a:endParaRPr>
          </a:p>
          <a:p>
            <a:pPr algn="ctr" defTabSz="914400">
              <a:lnSpc>
                <a:spcPct val="100000"/>
              </a:lnSpc>
              <a:tabLst>
                <a:tab pos="0" algn="l"/>
              </a:tabLst>
            </a:pPr>
            <a:r>
              <a:rPr lang="vi-VN" sz="2400" kern="100" dirty="0" err="1">
                <a:effectLst/>
                <a:latin typeface="Arial" panose="020B0604020202020204" pitchFamily="34" charset="0"/>
                <a:ea typeface="Arial" panose="020B0604020202020204" pitchFamily="34" charset="0"/>
                <a:cs typeface="Arial" panose="020B0604020202020204" pitchFamily="34" charset="0"/>
                <a:sym typeface="+mn-ea"/>
              </a:rPr>
              <a:t>và</a:t>
            </a:r>
            <a:r>
              <a:rPr lang="vi-VN" sz="2400" kern="100" dirty="0">
                <a:effectLst/>
                <a:latin typeface="Arial" panose="020B0604020202020204" pitchFamily="34" charset="0"/>
                <a:ea typeface="Arial" panose="020B0604020202020204" pitchFamily="34" charset="0"/>
                <a:cs typeface="Arial" panose="020B0604020202020204" pitchFamily="34" charset="0"/>
                <a:sym typeface="+mn-ea"/>
              </a:rPr>
              <a:t> mô </a:t>
            </a:r>
            <a:r>
              <a:rPr lang="vi-VN" sz="2400" kern="100" dirty="0" err="1">
                <a:effectLst/>
                <a:latin typeface="Arial" panose="020B0604020202020204" pitchFamily="34" charset="0"/>
                <a:ea typeface="Arial" panose="020B0604020202020204" pitchFamily="34" charset="0"/>
                <a:cs typeface="Arial" panose="020B0604020202020204" pitchFamily="34" charset="0"/>
                <a:sym typeface="+mn-ea"/>
              </a:rPr>
              <a:t>phỏng</a:t>
            </a:r>
            <a:r>
              <a:rPr lang="vi-VN" sz="2400" kern="100" dirty="0">
                <a:effectLst/>
                <a:latin typeface="Arial" panose="020B0604020202020204" pitchFamily="34" charset="0"/>
                <a:ea typeface="Arial" panose="020B0604020202020204" pitchFamily="34" charset="0"/>
                <a:cs typeface="Arial" panose="020B0604020202020204" pitchFamily="34" charset="0"/>
                <a:sym typeface="+mn-ea"/>
              </a:rPr>
              <a:t> </a:t>
            </a:r>
            <a:r>
              <a:rPr lang="vi-VN" sz="2400" kern="100" dirty="0" err="1">
                <a:effectLst/>
                <a:latin typeface="Arial" panose="020B0604020202020204" pitchFamily="34" charset="0"/>
                <a:ea typeface="Arial" panose="020B0604020202020204" pitchFamily="34" charset="0"/>
                <a:cs typeface="Arial" panose="020B0604020202020204" pitchFamily="34" charset="0"/>
                <a:sym typeface="+mn-ea"/>
              </a:rPr>
              <a:t>lỗ</a:t>
            </a:r>
            <a:r>
              <a:rPr lang="vi-VN" sz="2400" kern="100" dirty="0">
                <a:effectLst/>
                <a:latin typeface="Arial" panose="020B0604020202020204" pitchFamily="34" charset="0"/>
                <a:ea typeface="Arial" panose="020B0604020202020204" pitchFamily="34" charset="0"/>
                <a:cs typeface="Arial" panose="020B0604020202020204" pitchFamily="34" charset="0"/>
                <a:sym typeface="+mn-ea"/>
              </a:rPr>
              <a:t> </a:t>
            </a:r>
            <a:r>
              <a:rPr lang="vi-VN" sz="2400" kern="100" dirty="0" err="1">
                <a:effectLst/>
                <a:latin typeface="Arial" panose="020B0604020202020204" pitchFamily="34" charset="0"/>
                <a:ea typeface="Arial" panose="020B0604020202020204" pitchFamily="34" charset="0"/>
                <a:cs typeface="Arial" panose="020B0604020202020204" pitchFamily="34" charset="0"/>
                <a:sym typeface="+mn-ea"/>
              </a:rPr>
              <a:t>hổng</a:t>
            </a:r>
            <a:r>
              <a:rPr lang="vi-VN" sz="2400" kern="100" dirty="0">
                <a:effectLst/>
                <a:latin typeface="Arial" panose="020B0604020202020204" pitchFamily="34" charset="0"/>
                <a:ea typeface="Arial" panose="020B0604020202020204" pitchFamily="34" charset="0"/>
                <a:cs typeface="Arial" panose="020B0604020202020204" pitchFamily="34" charset="0"/>
                <a:sym typeface="+mn-ea"/>
              </a:rPr>
              <a:t> </a:t>
            </a:r>
            <a:r>
              <a:rPr lang="vi-VN" sz="2400" kern="100" dirty="0" err="1">
                <a:effectLst/>
                <a:latin typeface="Arial" panose="020B0604020202020204" pitchFamily="34" charset="0"/>
                <a:ea typeface="Arial" panose="020B0604020202020204" pitchFamily="34" charset="0"/>
                <a:cs typeface="Arial" panose="020B0604020202020204" pitchFamily="34" charset="0"/>
                <a:sym typeface="+mn-ea"/>
              </a:rPr>
              <a:t>cấu</a:t>
            </a:r>
            <a:r>
              <a:rPr lang="vi-VN" sz="2400" kern="100" dirty="0">
                <a:effectLst/>
                <a:latin typeface="Arial" panose="020B0604020202020204" pitchFamily="34" charset="0"/>
                <a:ea typeface="Arial" panose="020B0604020202020204" pitchFamily="34" charset="0"/>
                <a:cs typeface="Arial" panose="020B0604020202020204" pitchFamily="34" charset="0"/>
                <a:sym typeface="+mn-ea"/>
              </a:rPr>
              <a:t> </a:t>
            </a:r>
            <a:r>
              <a:rPr lang="vi-VN" sz="2400" kern="100" dirty="0" err="1">
                <a:effectLst/>
                <a:latin typeface="Arial" panose="020B0604020202020204" pitchFamily="34" charset="0"/>
                <a:ea typeface="Arial" panose="020B0604020202020204" pitchFamily="34" charset="0"/>
                <a:cs typeface="Arial" panose="020B0604020202020204" pitchFamily="34" charset="0"/>
                <a:sym typeface="+mn-ea"/>
              </a:rPr>
              <a:t>hình</a:t>
            </a:r>
            <a:endParaRPr lang="vi-VN" sz="2400" b="0" u="none" strike="noStrike" kern="100" dirty="0" err="1">
              <a:solidFill>
                <a:srgbClr val="FFFFFF"/>
              </a:solidFill>
              <a:effectLst/>
              <a:uFillTx/>
              <a:latin typeface="Arial" panose="020B0604020202020204" pitchFamily="34" charset="0"/>
              <a:ea typeface="Arial" panose="020B0604020202020204" pitchFamily="34" charset="0"/>
              <a:cs typeface="Arial" panose="020B0604020202020204" pitchFamily="34" charset="0"/>
              <a:sym typeface="+mn-ea"/>
            </a:endParaRPr>
          </a:p>
        </p:txBody>
      </p:sp>
      <p:pic>
        <p:nvPicPr>
          <p:cNvPr id="5" name="Picture 2" descr="Đại học Aix - Marseille"/>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323850" y="195580"/>
            <a:ext cx="1070610" cy="953135"/>
          </a:xfrm>
          <a:prstGeom prst="rect">
            <a:avLst/>
          </a:prstGeom>
          <a:noFill/>
          <a:extLst>
            <a:ext uri="{909E8E84-426E-40DD-AFC4-6F175D3DCCD1}">
              <a14:hiddenFill xmlns:a14="http://schemas.microsoft.com/office/drawing/2010/main">
                <a:solidFill>
                  <a:srgbClr val="FFFFFF"/>
                </a:solidFill>
              </a14:hiddenFill>
            </a:ext>
          </a:extLst>
        </p:spPr>
      </p:pic>
      <p:sp>
        <p:nvSpPr>
          <p:cNvPr id="2" name="Text Box 1"/>
          <p:cNvSpPr txBox="1"/>
          <p:nvPr/>
        </p:nvSpPr>
        <p:spPr>
          <a:xfrm>
            <a:off x="2000885" y="267970"/>
            <a:ext cx="6665595" cy="1330325"/>
          </a:xfrm>
          <a:prstGeom prst="rect">
            <a:avLst/>
          </a:prstGeom>
          <a:noFill/>
        </p:spPr>
        <p:txBody>
          <a:bodyPr wrap="square" rtlCol="0" anchor="t">
            <a:noAutofit/>
          </a:bodyPr>
          <a:p>
            <a:r>
              <a:rPr lang="vi-VN" sz="2000" b="1" dirty="0">
                <a:latin typeface="Arial" panose="020B0604020202020204" pitchFamily="34" charset="0"/>
                <a:cs typeface="Arial" panose="020B0604020202020204" pitchFamily="34" charset="0"/>
                <a:sym typeface="+mn-ea"/>
              </a:rPr>
              <a:t>TRƯỜNG ĐẠI HỌC SƯ PHẠM KỸ THUẬT VĨNH LONG</a:t>
            </a:r>
            <a:endParaRPr lang="vi-VN" sz="2000" b="1" dirty="0">
              <a:solidFill>
                <a:schemeClr val="tx1"/>
              </a:solidFill>
              <a:latin typeface="Arial" panose="020B0604020202020204" pitchFamily="34" charset="0"/>
              <a:cs typeface="Arial" panose="020B0604020202020204" pitchFamily="34" charset="0"/>
            </a:endParaRPr>
          </a:p>
          <a:p>
            <a:pPr algn="ctr"/>
            <a:r>
              <a:rPr lang="vi-VN" sz="2000" b="1" dirty="0">
                <a:latin typeface="Arial" panose="020B0604020202020204" pitchFamily="34" charset="0"/>
                <a:cs typeface="Arial" panose="020B0604020202020204" pitchFamily="34" charset="0"/>
                <a:sym typeface="+mn-ea"/>
              </a:rPr>
              <a:t>KHOA CÔNG NGHỆ THÔNG TIN</a:t>
            </a:r>
            <a:endParaRPr lang="vi-VN" sz="2000" b="1" dirty="0">
              <a:latin typeface="Arial" panose="020B0604020202020204" pitchFamily="34" charset="0"/>
              <a:cs typeface="Arial" panose="020B0604020202020204" pitchFamily="34" charset="0"/>
              <a:sym typeface="+mn-ea"/>
            </a:endParaRPr>
          </a:p>
        </p:txBody>
      </p:sp>
      <p:sp>
        <p:nvSpPr>
          <p:cNvPr id="3" name="Text 1"/>
          <p:cNvSpPr/>
          <p:nvPr/>
        </p:nvSpPr>
        <p:spPr>
          <a:xfrm>
            <a:off x="1403985" y="3838667"/>
            <a:ext cx="2199005" cy="314325"/>
          </a:xfrm>
          <a:prstGeom prst="rect">
            <a:avLst/>
          </a:prstGeom>
          <a:noFill/>
        </p:spPr>
        <p:txBody>
          <a:bodyPr wrap="none" lIns="0" tIns="0" rIns="0" bIns="0" rtlCol="0" anchor="t">
            <a:spAutoFit/>
          </a:bodyPr>
          <a:lstStyle/>
          <a:p>
            <a:pPr marL="0" indent="0" algn="l">
              <a:lnSpc>
                <a:spcPct val="128000"/>
              </a:lnSpc>
              <a:buNone/>
            </a:pPr>
            <a:r>
              <a:rPr lang="en-US" sz="1600" b="1" dirty="0">
                <a:solidFill>
                  <a:srgbClr val="059669"/>
                </a:solidFill>
                <a:latin typeface="Arial" panose="020B0604020202020204" pitchFamily="34" charset="0"/>
                <a:ea typeface="Inter Bold" pitchFamily="34" charset="-122"/>
                <a:cs typeface="Arial" panose="020B0604020202020204" pitchFamily="34" charset="0"/>
              </a:rPr>
              <a:t>SINH VIÊN THỰC HIỆN</a:t>
            </a:r>
            <a:endParaRPr lang="en-US" sz="1600" b="1" dirty="0">
              <a:solidFill>
                <a:srgbClr val="059669"/>
              </a:solidFill>
              <a:latin typeface="Arial" panose="020B0604020202020204" pitchFamily="34" charset="0"/>
              <a:ea typeface="Inter Bold" pitchFamily="34" charset="-122"/>
              <a:cs typeface="Arial" panose="020B0604020202020204" pitchFamily="34" charset="0"/>
            </a:endParaRPr>
          </a:p>
        </p:txBody>
      </p:sp>
      <p:sp>
        <p:nvSpPr>
          <p:cNvPr id="6" name="Text 2"/>
          <p:cNvSpPr/>
          <p:nvPr/>
        </p:nvSpPr>
        <p:spPr>
          <a:xfrm>
            <a:off x="1403985" y="4170126"/>
            <a:ext cx="2381250" cy="245745"/>
          </a:xfrm>
          <a:prstGeom prst="rect">
            <a:avLst/>
          </a:prstGeom>
          <a:noFill/>
        </p:spPr>
        <p:txBody>
          <a:bodyPr wrap="none" lIns="0" tIns="0" rIns="0" bIns="0" rtlCol="0" anchor="t">
            <a:spAutoFit/>
          </a:bodyPr>
          <a:lstStyle/>
          <a:p>
            <a:pPr marL="0" indent="0" algn="l">
              <a:lnSpc>
                <a:spcPct val="128000"/>
              </a:lnSpc>
              <a:buNone/>
            </a:pPr>
            <a:r>
              <a:rPr lang="vi-VN" altLang="en-US" sz="1250" dirty="0">
                <a:solidFill>
                  <a:schemeClr val="tx1"/>
                </a:solidFill>
                <a:latin typeface="Arial" panose="020B0604020202020204" pitchFamily="34" charset="0"/>
                <a:ea typeface="Inter" pitchFamily="34" charset="-122"/>
                <a:cs typeface="Arial" panose="020B0604020202020204" pitchFamily="34" charset="0"/>
              </a:rPr>
              <a:t>22004329 - </a:t>
            </a:r>
            <a:r>
              <a:rPr lang="en-US" sz="1250" dirty="0">
                <a:solidFill>
                  <a:schemeClr val="tx1"/>
                </a:solidFill>
                <a:latin typeface="Arial" panose="020B0604020202020204" pitchFamily="34" charset="0"/>
                <a:ea typeface="Inter" pitchFamily="34" charset="-122"/>
                <a:cs typeface="Arial" panose="020B0604020202020204" pitchFamily="34" charset="0"/>
              </a:rPr>
              <a:t>Nguyễn Văn Tân</a:t>
            </a:r>
            <a:endParaRPr lang="en-US" sz="1250" dirty="0">
              <a:solidFill>
                <a:schemeClr val="tx1"/>
              </a:solidFill>
              <a:latin typeface="Arial" panose="020B0604020202020204" pitchFamily="34" charset="0"/>
              <a:ea typeface="Inter" pitchFamily="34" charset="-122"/>
              <a:cs typeface="Arial" panose="020B0604020202020204" pitchFamily="34" charset="0"/>
            </a:endParaRPr>
          </a:p>
        </p:txBody>
      </p:sp>
      <p:sp>
        <p:nvSpPr>
          <p:cNvPr id="4" name="Rectangle 3"/>
          <p:cNvSpPr/>
          <p:nvPr/>
        </p:nvSpPr>
        <p:spPr>
          <a:xfrm>
            <a:off x="882515" y="1039585"/>
            <a:ext cx="7714800" cy="609120"/>
          </a:xfrm>
          <a:prstGeom prst="rect">
            <a:avLst/>
          </a:prstGeom>
          <a:noFill/>
          <a:ln w="0">
            <a:noFill/>
          </a:ln>
        </p:spPr>
        <p:style>
          <a:lnRef idx="0">
            <a:srgbClr val="FFFFFF"/>
          </a:lnRef>
          <a:fillRef idx="0">
            <a:srgbClr val="FFFFFF"/>
          </a:fillRef>
          <a:effectRef idx="0">
            <a:srgbClr val="FFFFFF"/>
          </a:effectRef>
          <a:fontRef idx="minor"/>
        </p:style>
        <p:txBody>
          <a:bodyPr anchor="b">
            <a:normAutofit/>
          </a:bodyPr>
          <a:p>
            <a:pPr algn="ctr" defTabSz="914400">
              <a:lnSpc>
                <a:spcPct val="100000"/>
              </a:lnSpc>
              <a:tabLst>
                <a:tab pos="0" algn="l"/>
              </a:tabLst>
            </a:pPr>
            <a:r>
              <a:rPr lang="vi-VN" sz="3110" kern="100" dirty="0" err="1">
                <a:effectLst/>
                <a:latin typeface="Arial" panose="020B0604020202020204" pitchFamily="34" charset="0"/>
                <a:ea typeface="Arial" panose="020B0604020202020204" pitchFamily="34" charset="0"/>
                <a:cs typeface="Arial" panose="020B0604020202020204" pitchFamily="34" charset="0"/>
                <a:sym typeface="+mn-ea"/>
              </a:rPr>
              <a:t>Báo cáo tiểu luận</a:t>
            </a:r>
            <a:endParaRPr lang="vi-VN" sz="3110" kern="100" dirty="0" err="1">
              <a:effectLst/>
              <a:latin typeface="Arial" panose="020B0604020202020204" pitchFamily="34" charset="0"/>
              <a:ea typeface="Arial" panose="020B0604020202020204" pitchFamily="34" charset="0"/>
              <a:cs typeface="Arial" panose="020B0604020202020204" pitchFamily="34" charset="0"/>
              <a:sym typeface="+mn-ea"/>
            </a:endParaRPr>
          </a:p>
        </p:txBody>
      </p:sp>
      <p:sp>
        <p:nvSpPr>
          <p:cNvPr id="7" name="Text 1"/>
          <p:cNvSpPr/>
          <p:nvPr/>
        </p:nvSpPr>
        <p:spPr>
          <a:xfrm>
            <a:off x="1403985" y="2990942"/>
            <a:ext cx="2438400" cy="314325"/>
          </a:xfrm>
          <a:prstGeom prst="rect">
            <a:avLst/>
          </a:prstGeom>
          <a:noFill/>
        </p:spPr>
        <p:txBody>
          <a:bodyPr wrap="none" lIns="0" tIns="0" rIns="0" bIns="0" rtlCol="0" anchor="t">
            <a:spAutoFit/>
          </a:bodyPr>
          <a:lstStyle/>
          <a:p>
            <a:pPr marL="0" indent="0" algn="l">
              <a:lnSpc>
                <a:spcPct val="128000"/>
              </a:lnSpc>
              <a:buNone/>
            </a:pPr>
            <a:r>
              <a:rPr lang="vi-VN" altLang="en-US" sz="1600" b="1" dirty="0">
                <a:solidFill>
                  <a:srgbClr val="059669"/>
                </a:solidFill>
                <a:latin typeface="Arial" panose="020B0604020202020204" pitchFamily="34" charset="0"/>
                <a:ea typeface="Inter Bold" pitchFamily="34" charset="-122"/>
                <a:cs typeface="Arial" panose="020B0604020202020204" pitchFamily="34" charset="0"/>
              </a:rPr>
              <a:t>GIẢNG</a:t>
            </a:r>
            <a:r>
              <a:rPr lang="en-US" sz="1600" b="1" dirty="0">
                <a:solidFill>
                  <a:srgbClr val="059669"/>
                </a:solidFill>
                <a:latin typeface="Arial" panose="020B0604020202020204" pitchFamily="34" charset="0"/>
                <a:ea typeface="Inter Bold" pitchFamily="34" charset="-122"/>
                <a:cs typeface="Arial" panose="020B0604020202020204" pitchFamily="34" charset="0"/>
              </a:rPr>
              <a:t> VIÊN </a:t>
            </a:r>
            <a:r>
              <a:rPr lang="vi-VN" altLang="en-US" sz="1600" b="1" dirty="0">
                <a:solidFill>
                  <a:srgbClr val="059669"/>
                </a:solidFill>
                <a:latin typeface="Arial" panose="020B0604020202020204" pitchFamily="34" charset="0"/>
                <a:ea typeface="Inter Bold" pitchFamily="34" charset="-122"/>
                <a:cs typeface="Arial" panose="020B0604020202020204" pitchFamily="34" charset="0"/>
              </a:rPr>
              <a:t>HƯỚNG DẪN</a:t>
            </a:r>
            <a:endParaRPr lang="vi-VN" altLang="en-US" sz="1600" b="1" dirty="0">
              <a:solidFill>
                <a:srgbClr val="059669"/>
              </a:solidFill>
              <a:latin typeface="Arial" panose="020B0604020202020204" pitchFamily="34" charset="0"/>
              <a:ea typeface="Inter Bold" pitchFamily="34" charset="-122"/>
              <a:cs typeface="Arial" panose="020B0604020202020204" pitchFamily="34" charset="0"/>
            </a:endParaRPr>
          </a:p>
        </p:txBody>
      </p:sp>
      <p:sp>
        <p:nvSpPr>
          <p:cNvPr id="8" name="Text 2"/>
          <p:cNvSpPr/>
          <p:nvPr/>
        </p:nvSpPr>
        <p:spPr>
          <a:xfrm>
            <a:off x="1403985" y="3308431"/>
            <a:ext cx="1816100" cy="314325"/>
          </a:xfrm>
          <a:prstGeom prst="rect">
            <a:avLst/>
          </a:prstGeom>
          <a:noFill/>
        </p:spPr>
        <p:txBody>
          <a:bodyPr wrap="none" lIns="0" tIns="0" rIns="0" bIns="0" rtlCol="0" anchor="t">
            <a:spAutoFit/>
          </a:bodyPr>
          <a:lstStyle/>
          <a:p>
            <a:pPr marL="0" indent="0" algn="l">
              <a:lnSpc>
                <a:spcPct val="128000"/>
              </a:lnSpc>
              <a:buNone/>
            </a:pPr>
            <a:r>
              <a:rPr lang="vi-VN" altLang="en-US" sz="1600" b="1" dirty="0">
                <a:solidFill>
                  <a:schemeClr val="tx1"/>
                </a:solidFill>
                <a:latin typeface="Arial" panose="020B0604020202020204" pitchFamily="34" charset="0"/>
                <a:ea typeface="Inter" pitchFamily="34" charset="-122"/>
                <a:cs typeface="Arial" panose="020B0604020202020204" pitchFamily="34" charset="0"/>
              </a:rPr>
              <a:t>Ths. Trần Thái Bảo</a:t>
            </a:r>
            <a:endParaRPr lang="vi-VN" altLang="en-US" sz="1600" b="1" dirty="0">
              <a:solidFill>
                <a:schemeClr val="tx1"/>
              </a:solidFill>
              <a:latin typeface="Arial" panose="020B0604020202020204" pitchFamily="34" charset="0"/>
              <a:ea typeface="Inter" pitchFamily="34" charset="-122"/>
              <a:cs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vi-VN" altLang="en-US" sz="3000">
                <a:latin typeface="Arial" panose="020B0604020202020204" pitchFamily="34" charset="0"/>
                <a:cs typeface="Arial" panose="020B0604020202020204" pitchFamily="34" charset="0"/>
              </a:rPr>
              <a:t>Mục tiêu chính của đề </a:t>
            </a:r>
            <a:r>
              <a:rPr lang="vi-VN" altLang="en-US" sz="3000">
                <a:latin typeface="Arial" panose="020B0604020202020204" pitchFamily="34" charset="0"/>
                <a:cs typeface="Arial" panose="020B0604020202020204" pitchFamily="34" charset="0"/>
              </a:rPr>
              <a:t>tài:</a:t>
            </a:r>
            <a:endParaRPr lang="vi-VN" altLang="en-US" sz="3000">
              <a:latin typeface="Arial" panose="020B0604020202020204" pitchFamily="34" charset="0"/>
              <a:cs typeface="Arial" panose="020B0604020202020204" pitchFamily="34" charset="0"/>
            </a:endParaRPr>
          </a:p>
        </p:txBody>
      </p:sp>
      <p:sp>
        <p:nvSpPr>
          <p:cNvPr id="5" name="Text Placeholder 4"/>
          <p:cNvSpPr>
            <a:spLocks noGrp="1"/>
          </p:cNvSpPr>
          <p:nvPr>
            <p:ph type="body"/>
          </p:nvPr>
        </p:nvSpPr>
        <p:spPr>
          <a:xfrm>
            <a:off x="720090" y="1353185"/>
            <a:ext cx="7995920" cy="3535680"/>
          </a:xfrm>
        </p:spPr>
        <p:txBody>
          <a:bodyPr/>
          <a:p>
            <a:r>
              <a:rPr lang="en-US" altLang="en-US" sz="2400">
                <a:latin typeface="Arial" panose="020B0604020202020204" pitchFamily="34" charset="0"/>
                <a:cs typeface="Arial" panose="020B0604020202020204" pitchFamily="34" charset="0"/>
                <a:sym typeface="+mn-ea"/>
              </a:rPr>
              <a:t>•</a:t>
            </a:r>
            <a:r>
              <a:rPr lang="vi-VN" altLang="en-US" sz="2400">
                <a:latin typeface="Arial" panose="020B0604020202020204" pitchFamily="34" charset="0"/>
                <a:cs typeface="Arial" panose="020B0604020202020204" pitchFamily="34" charset="0"/>
                <a:sym typeface="+mn-ea"/>
              </a:rPr>
              <a:t> </a:t>
            </a:r>
            <a:r>
              <a:rPr lang="en-US" altLang="en-US" sz="2400">
                <a:latin typeface="Arial" panose="020B0604020202020204" pitchFamily="34" charset="0"/>
                <a:cs typeface="Arial" panose="020B0604020202020204" pitchFamily="34" charset="0"/>
              </a:rPr>
              <a:t>Xây dựng hệ thống Web Server sử dụng Docker</a:t>
            </a:r>
            <a:endParaRPr lang="en-US" altLang="en-US" sz="2400">
              <a:latin typeface="Arial" panose="020B0604020202020204" pitchFamily="34" charset="0"/>
              <a:cs typeface="Arial" panose="020B0604020202020204" pitchFamily="34" charset="0"/>
            </a:endParaRPr>
          </a:p>
          <a:p>
            <a:r>
              <a:rPr lang="en-US" altLang="en-US" sz="2400">
                <a:latin typeface="Arial" panose="020B0604020202020204" pitchFamily="34" charset="0"/>
                <a:cs typeface="Arial" panose="020B0604020202020204" pitchFamily="34" charset="0"/>
              </a:rPr>
              <a:t>• Mô phỏng lỗ hổng cấu hình phổ biến</a:t>
            </a:r>
            <a:endParaRPr lang="en-US" altLang="en-US" sz="2400">
              <a:latin typeface="Arial" panose="020B0604020202020204" pitchFamily="34" charset="0"/>
              <a:cs typeface="Arial" panose="020B0604020202020204" pitchFamily="34" charset="0"/>
            </a:endParaRPr>
          </a:p>
          <a:p>
            <a:r>
              <a:rPr lang="en-US" altLang="en-US" sz="2400">
                <a:latin typeface="Arial" panose="020B0604020202020204" pitchFamily="34" charset="0"/>
                <a:cs typeface="Arial" panose="020B0604020202020204" pitchFamily="34" charset="0"/>
              </a:rPr>
              <a:t>• Đánh giá rủi ro bảo mật</a:t>
            </a:r>
            <a:endParaRPr lang="en-US" altLang="en-US" sz="2400">
              <a:latin typeface="Arial" panose="020B0604020202020204" pitchFamily="34" charset="0"/>
              <a:cs typeface="Arial" panose="020B0604020202020204" pitchFamily="34" charset="0"/>
            </a:endParaRPr>
          </a:p>
          <a:p>
            <a:r>
              <a:rPr lang="en-US" altLang="en-US" sz="2400">
                <a:latin typeface="Arial" panose="020B0604020202020204" pitchFamily="34" charset="0"/>
                <a:cs typeface="Arial" panose="020B0604020202020204" pitchFamily="34" charset="0"/>
              </a:rPr>
              <a:t>• Đề xuất giải pháp khắc phục</a:t>
            </a:r>
            <a:endParaRPr lang="en-US" altLang="en-US" sz="2400">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ltLang="en-US" sz="3000">
                <a:solidFill>
                  <a:schemeClr val="tx1"/>
                </a:solidFill>
                <a:latin typeface="Arial" panose="020B0604020202020204" pitchFamily="34" charset="0"/>
                <a:cs typeface="Arial" panose="020B0604020202020204" pitchFamily="34" charset="0"/>
              </a:rPr>
              <a:t>N</a:t>
            </a:r>
            <a:r>
              <a:rPr lang="vi-VN" altLang="en-US" sz="3000">
                <a:solidFill>
                  <a:schemeClr val="tx1"/>
                </a:solidFill>
                <a:latin typeface="Arial" panose="020B0604020202020204" pitchFamily="34" charset="0"/>
                <a:cs typeface="Arial" panose="020B0604020202020204" pitchFamily="34" charset="0"/>
              </a:rPr>
              <a:t>ội dung trình </a:t>
            </a:r>
            <a:r>
              <a:rPr lang="vi-VN" altLang="en-US" sz="3000">
                <a:solidFill>
                  <a:schemeClr val="tx1"/>
                </a:solidFill>
                <a:latin typeface="Arial" panose="020B0604020202020204" pitchFamily="34" charset="0"/>
                <a:cs typeface="Arial" panose="020B0604020202020204" pitchFamily="34" charset="0"/>
              </a:rPr>
              <a:t>bày:</a:t>
            </a:r>
            <a:endParaRPr lang="vi-VN" altLang="en-US" sz="3000">
              <a:solidFill>
                <a:schemeClr val="tx1"/>
              </a:solidFill>
              <a:latin typeface="Arial" panose="020B0604020202020204" pitchFamily="34" charset="0"/>
              <a:cs typeface="Arial" panose="020B0604020202020204" pitchFamily="34" charset="0"/>
            </a:endParaRPr>
          </a:p>
        </p:txBody>
      </p:sp>
      <p:graphicFrame>
        <p:nvGraphicFramePr>
          <p:cNvPr id="6" name="Table 5"/>
          <p:cNvGraphicFramePr/>
          <p:nvPr>
            <p:custDataLst>
              <p:tags r:id="rId1"/>
            </p:custDataLst>
          </p:nvPr>
        </p:nvGraphicFramePr>
        <p:xfrm>
          <a:off x="731520" y="1388110"/>
          <a:ext cx="7705090" cy="3200400"/>
        </p:xfrm>
        <a:graphic>
          <a:graphicData uri="http://schemas.openxmlformats.org/drawingml/2006/table">
            <a:tbl>
              <a:tblPr firstRow="1" bandRow="1">
                <a:tableStyleId>{5C22544A-7EE6-4342-B048-85BDC9FD1C3A}</a:tableStyleId>
              </a:tblPr>
              <a:tblGrid>
                <a:gridCol w="3852545"/>
                <a:gridCol w="3852545"/>
              </a:tblGrid>
              <a:tr h="1600200">
                <a:tc>
                  <a:txBody>
                    <a:bodyPr/>
                    <a:p>
                      <a:pPr algn="ctr">
                        <a:buNone/>
                      </a:pPr>
                      <a:r>
                        <a:rPr lang="vi-VN" altLang="en-US" sz="2800" b="1">
                          <a:solidFill>
                            <a:schemeClr val="tx1"/>
                          </a:solidFill>
                          <a:cs typeface="Arial" panose="020B0604020202020204" pitchFamily="34" charset="0"/>
                        </a:rPr>
                        <a:t>01. Tổng quan đề tài</a:t>
                      </a:r>
                      <a:endParaRPr lang="vi-VN" altLang="en-US" sz="2800" b="1">
                        <a:solidFill>
                          <a:schemeClr val="tx1"/>
                        </a:solidFill>
                        <a:cs typeface="Arial" panose="020B0604020202020204" pitchFamily="34" charset="0"/>
                      </a:endParaRPr>
                    </a:p>
                  </a:txBody>
                  <a:tcPr>
                    <a:lnL>
                      <a:noFill/>
                    </a:lnL>
                    <a:lnR>
                      <a:noFill/>
                    </a:lnR>
                    <a:lnT>
                      <a:noFill/>
                    </a:lnT>
                    <a:lnB>
                      <a:noFill/>
                    </a:lnB>
                    <a:lnTlToBr>
                      <a:noFill/>
                    </a:lnTlToBr>
                    <a:lnBlToTr>
                      <a:noFill/>
                    </a:lnBlToTr>
                    <a:noFill/>
                  </a:tcPr>
                </a:tc>
                <a:tc>
                  <a:txBody>
                    <a:bodyPr/>
                    <a:p>
                      <a:pPr algn="ctr">
                        <a:buNone/>
                      </a:pPr>
                      <a:r>
                        <a:rPr lang="vi-VN" altLang="en-US" sz="2800" b="1">
                          <a:solidFill>
                            <a:schemeClr val="tx1"/>
                          </a:solidFill>
                          <a:cs typeface="Arial" panose="020B0604020202020204" pitchFamily="34" charset="0"/>
                        </a:rPr>
                        <a:t>02. </a:t>
                      </a:r>
                      <a:r>
                        <a:rPr lang="en-US" altLang="en-US" sz="2800" b="1">
                          <a:solidFill>
                            <a:schemeClr val="tx1"/>
                          </a:solidFill>
                          <a:cs typeface="Arial" panose="020B0604020202020204" pitchFamily="34" charset="0"/>
                        </a:rPr>
                        <a:t>Triển khai Web Server bằng Docker</a:t>
                      </a:r>
                      <a:endParaRPr lang="en-US" altLang="en-US" sz="2800" b="1">
                        <a:solidFill>
                          <a:schemeClr val="tx1"/>
                        </a:solidFill>
                        <a:cs typeface="Arial" panose="020B0604020202020204" pitchFamily="34" charset="0"/>
                      </a:endParaRPr>
                    </a:p>
                  </a:txBody>
                  <a:tcPr>
                    <a:lnL>
                      <a:noFill/>
                    </a:lnL>
                    <a:lnR>
                      <a:noFill/>
                    </a:lnR>
                    <a:lnT>
                      <a:noFill/>
                    </a:lnT>
                    <a:lnB>
                      <a:noFill/>
                    </a:lnB>
                    <a:lnTlToBr>
                      <a:noFill/>
                    </a:lnTlToBr>
                    <a:lnBlToTr>
                      <a:noFill/>
                    </a:lnBlToTr>
                    <a:noFill/>
                  </a:tcPr>
                </a:tc>
              </a:tr>
              <a:tr h="1600200">
                <a:tc>
                  <a:txBody>
                    <a:bodyPr/>
                    <a:p>
                      <a:pPr algn="ctr">
                        <a:buNone/>
                      </a:pPr>
                      <a:r>
                        <a:rPr lang="vi-VN" altLang="en-US" sz="2800" b="1">
                          <a:solidFill>
                            <a:schemeClr val="tx1"/>
                          </a:solidFill>
                          <a:cs typeface="Arial" panose="020B0604020202020204" pitchFamily="34" charset="0"/>
                        </a:rPr>
                        <a:t>03. Phân tích rủi </a:t>
                      </a:r>
                      <a:r>
                        <a:rPr lang="vi-VN" altLang="en-US" sz="2800" b="1">
                          <a:solidFill>
                            <a:schemeClr val="tx1"/>
                          </a:solidFill>
                          <a:cs typeface="Arial" panose="020B0604020202020204" pitchFamily="34" charset="0"/>
                        </a:rPr>
                        <a:t>ro</a:t>
                      </a:r>
                      <a:endParaRPr lang="vi-VN" altLang="en-US" sz="2800" b="1">
                        <a:solidFill>
                          <a:schemeClr val="tx1"/>
                        </a:solidFill>
                        <a:cs typeface="Arial" panose="020B0604020202020204" pitchFamily="34" charset="0"/>
                      </a:endParaRPr>
                    </a:p>
                  </a:txBody>
                  <a:tcPr>
                    <a:lnL>
                      <a:noFill/>
                    </a:lnL>
                    <a:lnR>
                      <a:noFill/>
                    </a:lnR>
                    <a:lnT>
                      <a:noFill/>
                    </a:lnT>
                    <a:lnB>
                      <a:noFill/>
                    </a:lnB>
                    <a:lnTlToBr>
                      <a:noFill/>
                    </a:lnTlToBr>
                    <a:lnBlToTr>
                      <a:noFill/>
                    </a:lnBlToTr>
                    <a:noFill/>
                  </a:tcPr>
                </a:tc>
                <a:tc>
                  <a:txBody>
                    <a:bodyPr/>
                    <a:p>
                      <a:pPr algn="ctr">
                        <a:buNone/>
                      </a:pPr>
                      <a:r>
                        <a:rPr lang="vi-VN" altLang="en-US" sz="2800" b="1">
                          <a:solidFill>
                            <a:schemeClr val="tx1"/>
                          </a:solidFill>
                          <a:cs typeface="Arial" panose="020B0604020202020204" pitchFamily="34" charset="0"/>
                        </a:rPr>
                        <a:t>04. Giải pháp </a:t>
                      </a:r>
                      <a:endParaRPr lang="vi-VN" altLang="en-US" sz="2800" b="1">
                        <a:solidFill>
                          <a:schemeClr val="tx1"/>
                        </a:solidFill>
                        <a:cs typeface="Arial" panose="020B0604020202020204" pitchFamily="34" charset="0"/>
                      </a:endParaRPr>
                    </a:p>
                    <a:p>
                      <a:pPr algn="ctr">
                        <a:buNone/>
                      </a:pPr>
                      <a:r>
                        <a:rPr lang="vi-VN" altLang="en-US" sz="2800" b="1">
                          <a:solidFill>
                            <a:schemeClr val="tx1"/>
                          </a:solidFill>
                          <a:cs typeface="Arial" panose="020B0604020202020204" pitchFamily="34" charset="0"/>
                        </a:rPr>
                        <a:t>&amp; kết </a:t>
                      </a:r>
                      <a:r>
                        <a:rPr lang="vi-VN" altLang="en-US" sz="2800" b="1">
                          <a:solidFill>
                            <a:schemeClr val="tx1"/>
                          </a:solidFill>
                          <a:cs typeface="Arial" panose="020B0604020202020204" pitchFamily="34" charset="0"/>
                        </a:rPr>
                        <a:t>luận</a:t>
                      </a:r>
                      <a:endParaRPr lang="vi-VN" altLang="en-US" sz="2800" b="1">
                        <a:solidFill>
                          <a:schemeClr val="tx1"/>
                        </a:solidFill>
                        <a:cs typeface="Arial" panose="020B0604020202020204" pitchFamily="34" charset="0"/>
                      </a:endParaRPr>
                    </a:p>
                  </a:txBody>
                  <a:tcPr>
                    <a:lnL>
                      <a:noFill/>
                    </a:lnL>
                    <a:lnR>
                      <a:noFill/>
                    </a:lnR>
                    <a:lnT>
                      <a:noFill/>
                    </a:lnT>
                    <a:lnB>
                      <a:noFill/>
                    </a:lnB>
                    <a:lnTlToBr>
                      <a:noFill/>
                    </a:lnTlToBr>
                    <a:lnBlToTr>
                      <a:noFill/>
                    </a:lnBlToTr>
                    <a:no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p:cNvSpPr/>
          <p:nvPr/>
        </p:nvSpPr>
        <p:spPr>
          <a:xfrm>
            <a:off x="619200" y="619200"/>
            <a:ext cx="2142720" cy="914040"/>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defTabSz="914400">
              <a:lnSpc>
                <a:spcPct val="100000"/>
              </a:lnSpc>
              <a:tabLst>
                <a:tab pos="0" algn="l"/>
              </a:tabLst>
            </a:pPr>
            <a:r>
              <a:rPr lang="en-US" sz="5000" b="0" u="none" strike="noStrike">
                <a:solidFill>
                  <a:srgbClr val="FFFFFF"/>
                </a:solidFill>
                <a:effectLst/>
                <a:uFillTx/>
                <a:latin typeface="Montserrat"/>
              </a:rPr>
              <a:t>01</a:t>
            </a:r>
            <a:endParaRPr lang="en-US" sz="5000" b="0" u="none" strike="noStrike">
              <a:solidFill>
                <a:srgbClr val="FFFFFF"/>
              </a:solidFill>
              <a:effectLst/>
              <a:uFillTx/>
              <a:latin typeface="OpenSymbol" panose="05010000000000000000"/>
            </a:endParaRPr>
          </a:p>
        </p:txBody>
      </p:sp>
      <p:sp>
        <p:nvSpPr>
          <p:cNvPr id="44" name="Rectangle 43"/>
          <p:cNvSpPr/>
          <p:nvPr/>
        </p:nvSpPr>
        <p:spPr>
          <a:xfrm>
            <a:off x="619125" y="1428750"/>
            <a:ext cx="5821045" cy="2345690"/>
          </a:xfrm>
          <a:prstGeom prst="rect">
            <a:avLst/>
          </a:prstGeom>
          <a:noFill/>
          <a:ln w="0">
            <a:noFill/>
          </a:ln>
        </p:spPr>
        <p:style>
          <a:lnRef idx="0">
            <a:srgbClr val="FFFFFF"/>
          </a:lnRef>
          <a:fillRef idx="0">
            <a:srgbClr val="FFFFFF"/>
          </a:fillRef>
          <a:effectRef idx="0">
            <a:srgbClr val="FFFFFF"/>
          </a:effectRef>
          <a:fontRef idx="minor"/>
        </p:style>
        <p:txBody>
          <a:bodyPr anchor="t">
            <a:normAutofit lnSpcReduction="9999"/>
          </a:bodyPr>
          <a:p>
            <a:pPr defTabSz="914400">
              <a:lnSpc>
                <a:spcPct val="100000"/>
              </a:lnSpc>
              <a:tabLst>
                <a:tab pos="0" algn="l"/>
              </a:tabLst>
            </a:pPr>
            <a:r>
              <a:rPr lang="vi-VN" altLang="en-US" sz="4000" b="0" u="none" strike="noStrike">
                <a:solidFill>
                  <a:srgbClr val="FFFFFF"/>
                </a:solidFill>
                <a:effectLst/>
                <a:uFillTx/>
                <a:latin typeface="Montserrat"/>
              </a:rPr>
              <a:t>Tổng quan đề tài</a:t>
            </a:r>
            <a:endParaRPr lang="vi-VN" altLang="en-US" sz="4000" b="0" u="none" strike="noStrike">
              <a:solidFill>
                <a:srgbClr val="FFFFFF"/>
              </a:solidFill>
              <a:effectLst/>
              <a:uFillTx/>
              <a:latin typeface="Montserrat"/>
            </a:endParaRPr>
          </a:p>
        </p:txBody>
      </p:sp>
      <p:sp>
        <p:nvSpPr>
          <p:cNvPr id="45" name="Rectangle 44"/>
          <p:cNvSpPr/>
          <p:nvPr/>
        </p:nvSpPr>
        <p:spPr>
          <a:xfrm>
            <a:off x="619200" y="3333600"/>
            <a:ext cx="3476160" cy="456840"/>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defTabSz="914400">
              <a:lnSpc>
                <a:spcPct val="150000"/>
              </a:lnSpc>
              <a:tabLst>
                <a:tab pos="0" algn="l"/>
              </a:tabLst>
            </a:pPr>
            <a:endParaRPr lang="en-US" sz="1800" b="0" u="none" strike="noStrike">
              <a:solidFill>
                <a:srgbClr val="FFFFFF"/>
              </a:solidFill>
              <a:effectLst/>
              <a:uFillTx/>
              <a:latin typeface="OpenSymbol" panose="0501000000000000000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6" name="Picture 4" descr="Docker Desktop - Download and install on Windows | Microsoft Stor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704080" y="555625"/>
            <a:ext cx="4269740" cy="4269740"/>
          </a:xfrm>
          <a:prstGeom prst="rect">
            <a:avLst/>
          </a:prstGeom>
          <a:noFill/>
          <a:extLst>
            <a:ext uri="{909E8E84-426E-40DD-AFC4-6F175D3DCCD1}">
              <a14:hiddenFill xmlns:a14="http://schemas.microsoft.com/office/drawing/2010/main">
                <a:solidFill>
                  <a:srgbClr val="FFFFFF"/>
                </a:solidFill>
              </a14:hiddenFill>
            </a:ext>
          </a:extLst>
        </p:spPr>
      </p:pic>
      <p:sp>
        <p:nvSpPr>
          <p:cNvPr id="51" name="Rectangle 50"/>
          <p:cNvSpPr/>
          <p:nvPr/>
        </p:nvSpPr>
        <p:spPr>
          <a:xfrm>
            <a:off x="755650" y="53975"/>
            <a:ext cx="3876675" cy="762000"/>
          </a:xfrm>
          <a:prstGeom prst="rect">
            <a:avLst/>
          </a:prstGeom>
          <a:noFill/>
          <a:ln w="0">
            <a:noFill/>
          </a:ln>
        </p:spPr>
        <p:style>
          <a:lnRef idx="0">
            <a:srgbClr val="FFFFFF"/>
          </a:lnRef>
          <a:fillRef idx="0">
            <a:srgbClr val="FFFFFF"/>
          </a:fillRef>
          <a:effectRef idx="0">
            <a:srgbClr val="FFFFFF"/>
          </a:effectRef>
          <a:fontRef idx="minor"/>
        </p:style>
        <p:txBody>
          <a:bodyPr anchor="t">
            <a:noAutofit/>
          </a:bodyPr>
          <a:p>
            <a:pPr defTabSz="914400">
              <a:lnSpc>
                <a:spcPct val="100000"/>
              </a:lnSpc>
              <a:tabLst>
                <a:tab pos="0" algn="l"/>
              </a:tabLst>
            </a:pPr>
            <a:r>
              <a:rPr lang="vi-VN" altLang="en-US" sz="3000" b="0" u="none" strike="noStrike">
                <a:solidFill>
                  <a:srgbClr val="FFFFFF"/>
                </a:solidFill>
                <a:effectLst/>
                <a:uFillTx/>
                <a:latin typeface="Arial" panose="020B0604020202020204" pitchFamily="34" charset="0"/>
                <a:cs typeface="Arial" panose="020B0604020202020204" pitchFamily="34" charset="0"/>
              </a:rPr>
              <a:t>Docker và Container</a:t>
            </a:r>
            <a:endParaRPr lang="vi-VN" altLang="en-US" sz="3000" b="0" u="none" strike="noStrike">
              <a:solidFill>
                <a:srgbClr val="FFFFFF"/>
              </a:solidFill>
              <a:effectLst/>
              <a:uFillTx/>
              <a:latin typeface="Arial" panose="020B0604020202020204" pitchFamily="34" charset="0"/>
              <a:cs typeface="Arial" panose="020B0604020202020204" pitchFamily="34" charset="0"/>
            </a:endParaRPr>
          </a:p>
        </p:txBody>
      </p:sp>
      <p:sp>
        <p:nvSpPr>
          <p:cNvPr id="2" name="Rounded Rectangle 1"/>
          <p:cNvSpPr/>
          <p:nvPr/>
        </p:nvSpPr>
        <p:spPr>
          <a:xfrm>
            <a:off x="755650" y="627380"/>
            <a:ext cx="3876675" cy="1377315"/>
          </a:xfrm>
          <a:prstGeom prst="roundRect">
            <a:avLst>
              <a:gd name="adj" fmla="val 24632"/>
            </a:avLst>
          </a:prstGeom>
          <a:solidFill>
            <a:schemeClr val="bg1">
              <a:lumMod val="90000"/>
              <a:lumOff val="10000"/>
            </a:schemeClr>
          </a:solidFill>
        </p:spPr>
        <p:style>
          <a:lnRef idx="0">
            <a:srgbClr val="FFFFFF"/>
          </a:lnRef>
          <a:fillRef idx="1">
            <a:schemeClr val="accent3"/>
          </a:fillRef>
          <a:effectRef idx="0">
            <a:srgbClr val="FFFFFF"/>
          </a:effectRef>
          <a:fontRef idx="minor">
            <a:schemeClr val="dk1"/>
          </a:fontRef>
        </p:style>
        <p:txBody>
          <a:bodyPr anchor="t">
            <a:noAutofit/>
          </a:bodyPr>
          <a:p>
            <a:pPr defTabSz="914400">
              <a:lnSpc>
                <a:spcPct val="150000"/>
              </a:lnSpc>
              <a:tabLst>
                <a:tab pos="0" algn="l"/>
              </a:tabLst>
            </a:pPr>
            <a:r>
              <a:rPr lang="en-US" altLang="en-US" sz="1200" b="0" u="none" strike="noStrike">
                <a:solidFill>
                  <a:srgbClr val="FFFFFF"/>
                </a:solidFill>
                <a:effectLst/>
                <a:uFillTx/>
                <a:latin typeface="Arial" panose="020B0604020202020204" pitchFamily="34" charset="0"/>
                <a:cs typeface="Arial" panose="020B0604020202020204" pitchFamily="34" charset="0"/>
              </a:rPr>
              <a:t>Container là gì?</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a:p>
            <a:pPr lvl="1" defTabSz="914400">
              <a:lnSpc>
                <a:spcPct val="150000"/>
              </a:lnSpc>
              <a:tabLst>
                <a:tab pos="0" algn="l"/>
              </a:tabLst>
            </a:pPr>
            <a:r>
              <a:rPr lang="en-US" altLang="en-US" sz="1200" b="0" u="none" strike="noStrike">
                <a:solidFill>
                  <a:srgbClr val="FFFFFF"/>
                </a:solidFill>
                <a:effectLst/>
                <a:uFillTx/>
                <a:latin typeface="Arial" panose="020B0604020202020204" pitchFamily="34" charset="0"/>
                <a:cs typeface="Arial" panose="020B0604020202020204" pitchFamily="34" charset="0"/>
              </a:rPr>
              <a:t>Đ</a:t>
            </a:r>
            <a:r>
              <a:rPr lang="en-US" altLang="en-US" sz="1200" b="0" u="none" strike="noStrike">
                <a:solidFill>
                  <a:srgbClr val="FFFFFF"/>
                </a:solidFill>
                <a:effectLst/>
                <a:uFillTx/>
                <a:latin typeface="Arial" panose="020B0604020202020204" pitchFamily="34" charset="0"/>
                <a:cs typeface="Arial" panose="020B0604020202020204" pitchFamily="34" charset="0"/>
              </a:rPr>
              <a:t>óng gói ứng dụng + thư </a:t>
            </a:r>
            <a:r>
              <a:rPr lang="en-US" altLang="en-US" sz="1200" b="0" u="none" strike="noStrike">
                <a:solidFill>
                  <a:srgbClr val="FFFFFF"/>
                </a:solidFill>
                <a:effectLst/>
                <a:uFillTx/>
                <a:latin typeface="Arial" panose="020B0604020202020204" pitchFamily="34" charset="0"/>
                <a:cs typeface="Arial" panose="020B0604020202020204" pitchFamily="34" charset="0"/>
              </a:rPr>
              <a:t>viện + môi trư</a:t>
            </a:r>
            <a:r>
              <a:rPr lang="en-US" altLang="en-US" sz="1200" b="0" u="none" strike="noStrike">
                <a:solidFill>
                  <a:srgbClr val="FFFFFF"/>
                </a:solidFill>
                <a:effectLst/>
                <a:uFillTx/>
                <a:latin typeface="Arial" panose="020B0604020202020204" pitchFamily="34" charset="0"/>
                <a:cs typeface="Arial" panose="020B0604020202020204" pitchFamily="34" charset="0"/>
              </a:rPr>
              <a:t>ờng</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a:p>
            <a:pPr lvl="1" defTabSz="914400">
              <a:lnSpc>
                <a:spcPct val="150000"/>
              </a:lnSpc>
              <a:tabLst>
                <a:tab pos="0" algn="l"/>
              </a:tabLst>
            </a:pPr>
            <a:r>
              <a:rPr lang="en-US" altLang="en-US" sz="1200" b="0" u="none" strike="noStrike">
                <a:solidFill>
                  <a:srgbClr val="FFFFFF"/>
                </a:solidFill>
                <a:effectLst/>
                <a:uFillTx/>
                <a:latin typeface="Arial" panose="020B0604020202020204" pitchFamily="34" charset="0"/>
                <a:cs typeface="Arial" panose="020B0604020202020204" pitchFamily="34" charset="0"/>
              </a:rPr>
              <a:t>Chia sẻ Kernel với Host (khác VM)</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a:p>
            <a:pPr lvl="1" defTabSz="914400">
              <a:lnSpc>
                <a:spcPct val="150000"/>
              </a:lnSpc>
              <a:tabLst>
                <a:tab pos="0" algn="l"/>
              </a:tabLst>
            </a:pPr>
            <a:r>
              <a:rPr lang="en-US" altLang="en-US" sz="1200" b="0" u="none" strike="noStrike">
                <a:solidFill>
                  <a:srgbClr val="FFFFFF"/>
                </a:solidFill>
                <a:effectLst/>
                <a:uFillTx/>
                <a:latin typeface="Arial" panose="020B0604020202020204" pitchFamily="34" charset="0"/>
                <a:cs typeface="Arial" panose="020B0604020202020204" pitchFamily="34" charset="0"/>
              </a:rPr>
              <a:t>Nhẹ, nhanh khởi đ</a:t>
            </a:r>
            <a:r>
              <a:rPr lang="en-US" altLang="en-US" sz="1200" b="0" u="none" strike="noStrike">
                <a:solidFill>
                  <a:srgbClr val="FFFFFF"/>
                </a:solidFill>
                <a:effectLst/>
                <a:uFillTx/>
                <a:latin typeface="Arial" panose="020B0604020202020204" pitchFamily="34" charset="0"/>
                <a:cs typeface="Arial" panose="020B0604020202020204" pitchFamily="34" charset="0"/>
              </a:rPr>
              <a:t>ộng, tiết kiệm tài nguyên</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p:txBody>
      </p:sp>
      <p:sp>
        <p:nvSpPr>
          <p:cNvPr id="6" name="Rounded Rectangle 5"/>
          <p:cNvSpPr/>
          <p:nvPr/>
        </p:nvSpPr>
        <p:spPr>
          <a:xfrm>
            <a:off x="755650" y="2164080"/>
            <a:ext cx="3876675" cy="1377315"/>
          </a:xfrm>
          <a:prstGeom prst="roundRect">
            <a:avLst>
              <a:gd name="adj" fmla="val 24632"/>
            </a:avLst>
          </a:prstGeom>
          <a:solidFill>
            <a:schemeClr val="bg1">
              <a:lumMod val="90000"/>
              <a:lumOff val="10000"/>
            </a:schemeClr>
          </a:solidFill>
        </p:spPr>
        <p:style>
          <a:lnRef idx="0">
            <a:srgbClr val="FFFFFF"/>
          </a:lnRef>
          <a:fillRef idx="1">
            <a:schemeClr val="accent3"/>
          </a:fillRef>
          <a:effectRef idx="0">
            <a:srgbClr val="FFFFFF"/>
          </a:effectRef>
          <a:fontRef idx="minor">
            <a:schemeClr val="dk1"/>
          </a:fontRef>
        </p:style>
        <p:txBody>
          <a:bodyPr anchor="t">
            <a:noAutofit/>
          </a:bodyPr>
          <a:p>
            <a:pPr defTabSz="914400">
              <a:lnSpc>
                <a:spcPct val="150000"/>
              </a:lnSpc>
              <a:tabLst>
                <a:tab pos="0" algn="l"/>
              </a:tabLst>
            </a:pPr>
            <a:r>
              <a:rPr lang="en-US" altLang="en-US" sz="1200">
                <a:solidFill>
                  <a:srgbClr val="FFFFFF"/>
                </a:solidFill>
                <a:effectLst/>
                <a:uFillTx/>
                <a:latin typeface="Arial" panose="020B0604020202020204" pitchFamily="34" charset="0"/>
                <a:cs typeface="Arial" panose="020B0604020202020204" pitchFamily="34" charset="0"/>
                <a:sym typeface="+mn-ea"/>
              </a:rPr>
              <a:t>Docker là gì?</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a:p>
            <a:pPr lvl="1" defTabSz="914400">
              <a:lnSpc>
                <a:spcPct val="150000"/>
              </a:lnSpc>
              <a:tabLst>
                <a:tab pos="0" algn="l"/>
              </a:tabLst>
            </a:pPr>
            <a:r>
              <a:rPr lang="en-US" altLang="en-US" sz="1200">
                <a:solidFill>
                  <a:srgbClr val="FFFFFF"/>
                </a:solidFill>
                <a:effectLst/>
                <a:uFillTx/>
                <a:latin typeface="Arial" panose="020B0604020202020204" pitchFamily="34" charset="0"/>
                <a:cs typeface="Arial" panose="020B0604020202020204" pitchFamily="34" charset="0"/>
                <a:sym typeface="+mn-ea"/>
              </a:rPr>
              <a:t>Platform mã nguồn mở cho container</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a:p>
            <a:pPr lvl="1" defTabSz="914400">
              <a:lnSpc>
                <a:spcPct val="150000"/>
              </a:lnSpc>
              <a:tabLst>
                <a:tab pos="0" algn="l"/>
              </a:tabLst>
            </a:pPr>
            <a:r>
              <a:rPr lang="en-US" altLang="en-US" sz="1200">
                <a:solidFill>
                  <a:srgbClr val="FFFFFF"/>
                </a:solidFill>
                <a:effectLst/>
                <a:uFillTx/>
                <a:latin typeface="Arial" panose="020B0604020202020204" pitchFamily="34" charset="0"/>
                <a:cs typeface="Arial" panose="020B0604020202020204" pitchFamily="34" charset="0"/>
                <a:sym typeface="+mn-ea"/>
              </a:rPr>
              <a:t>Quản lý Image, Network, Volume</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a:p>
            <a:pPr lvl="1" defTabSz="914400">
              <a:lnSpc>
                <a:spcPct val="150000"/>
              </a:lnSpc>
              <a:tabLst>
                <a:tab pos="0" algn="l"/>
              </a:tabLst>
            </a:pPr>
            <a:r>
              <a:rPr lang="en-US" altLang="en-US" sz="1200">
                <a:solidFill>
                  <a:srgbClr val="FFFFFF"/>
                </a:solidFill>
                <a:effectLst/>
                <a:uFillTx/>
                <a:latin typeface="Arial" panose="020B0604020202020204" pitchFamily="34" charset="0"/>
                <a:cs typeface="Arial" panose="020B0604020202020204" pitchFamily="34" charset="0"/>
                <a:sym typeface="+mn-ea"/>
              </a:rPr>
              <a:t>Docker Compose: Quản lý multi-container</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p:txBody>
      </p:sp>
      <p:sp>
        <p:nvSpPr>
          <p:cNvPr id="7" name="Rounded Rectangle 6"/>
          <p:cNvSpPr/>
          <p:nvPr/>
        </p:nvSpPr>
        <p:spPr>
          <a:xfrm>
            <a:off x="756285" y="3700780"/>
            <a:ext cx="3876675" cy="1377315"/>
          </a:xfrm>
          <a:prstGeom prst="roundRect">
            <a:avLst>
              <a:gd name="adj" fmla="val 24632"/>
            </a:avLst>
          </a:prstGeom>
          <a:solidFill>
            <a:schemeClr val="bg1">
              <a:lumMod val="90000"/>
              <a:lumOff val="10000"/>
            </a:schemeClr>
          </a:solidFill>
        </p:spPr>
        <p:style>
          <a:lnRef idx="0">
            <a:srgbClr val="FFFFFF"/>
          </a:lnRef>
          <a:fillRef idx="1">
            <a:schemeClr val="accent3"/>
          </a:fillRef>
          <a:effectRef idx="0">
            <a:srgbClr val="FFFFFF"/>
          </a:effectRef>
          <a:fontRef idx="minor">
            <a:schemeClr val="dk1"/>
          </a:fontRef>
        </p:style>
        <p:txBody>
          <a:bodyPr anchor="t">
            <a:noAutofit/>
          </a:bodyPr>
          <a:p>
            <a:pPr defTabSz="914400">
              <a:lnSpc>
                <a:spcPct val="150000"/>
              </a:lnSpc>
              <a:tabLst>
                <a:tab pos="0" algn="l"/>
              </a:tabLst>
            </a:pPr>
            <a:r>
              <a:rPr lang="en-US" altLang="en-US" sz="1200">
                <a:solidFill>
                  <a:srgbClr val="FFFFFF"/>
                </a:solidFill>
                <a:effectLst/>
                <a:uFillTx/>
                <a:latin typeface="Arial" panose="020B0604020202020204" pitchFamily="34" charset="0"/>
                <a:cs typeface="Arial" panose="020B0604020202020204" pitchFamily="34" charset="0"/>
                <a:sym typeface="+mn-ea"/>
              </a:rPr>
              <a:t>Tại sao Docker</a:t>
            </a:r>
            <a:r>
              <a:rPr lang="vi-VN" altLang="en-US" sz="1200">
                <a:solidFill>
                  <a:srgbClr val="FFFFFF"/>
                </a:solidFill>
                <a:effectLst/>
                <a:uFillTx/>
                <a:latin typeface="Arial" panose="020B0604020202020204" pitchFamily="34" charset="0"/>
                <a:cs typeface="Arial" panose="020B0604020202020204" pitchFamily="34" charset="0"/>
                <a:sym typeface="+mn-ea"/>
              </a:rPr>
              <a:t> quan trọng?</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a:p>
            <a:pPr lvl="1" defTabSz="914400">
              <a:lnSpc>
                <a:spcPct val="150000"/>
              </a:lnSpc>
              <a:tabLst>
                <a:tab pos="0" algn="l"/>
              </a:tabLst>
            </a:pPr>
            <a:r>
              <a:rPr lang="en-US" altLang="en-US" sz="1200">
                <a:solidFill>
                  <a:srgbClr val="FFFFFF"/>
                </a:solidFill>
                <a:effectLst/>
                <a:uFillTx/>
                <a:latin typeface="Arial" panose="020B0604020202020204" pitchFamily="34" charset="0"/>
                <a:cs typeface="Arial" panose="020B0604020202020204" pitchFamily="34" charset="0"/>
                <a:sym typeface="+mn-ea"/>
              </a:rPr>
              <a:t> Tính nhất quán (Run anywhere)</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a:p>
            <a:pPr lvl="1" defTabSz="914400">
              <a:lnSpc>
                <a:spcPct val="150000"/>
              </a:lnSpc>
              <a:tabLst>
                <a:tab pos="0" algn="l"/>
              </a:tabLst>
            </a:pPr>
            <a:r>
              <a:rPr lang="en-US" altLang="en-US" sz="1200">
                <a:solidFill>
                  <a:srgbClr val="FFFFFF"/>
                </a:solidFill>
                <a:effectLst/>
                <a:uFillTx/>
                <a:latin typeface="Arial" panose="020B0604020202020204" pitchFamily="34" charset="0"/>
                <a:cs typeface="Arial" panose="020B0604020202020204" pitchFamily="34" charset="0"/>
                <a:sym typeface="+mn-ea"/>
              </a:rPr>
              <a:t> Dễ mở rộng &amp; bảo trì</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a:p>
            <a:pPr lvl="1" defTabSz="914400">
              <a:lnSpc>
                <a:spcPct val="150000"/>
              </a:lnSpc>
              <a:tabLst>
                <a:tab pos="0" algn="l"/>
              </a:tabLst>
            </a:pPr>
            <a:r>
              <a:rPr lang="en-US" altLang="en-US" sz="1200">
                <a:solidFill>
                  <a:srgbClr val="FFFFFF"/>
                </a:solidFill>
                <a:effectLst/>
                <a:uFillTx/>
                <a:latin typeface="Arial" panose="020B0604020202020204" pitchFamily="34" charset="0"/>
                <a:cs typeface="Arial" panose="020B0604020202020204" pitchFamily="34" charset="0"/>
                <a:sym typeface="+mn-ea"/>
              </a:rPr>
              <a:t> CI/CD automation</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tangle 50"/>
          <p:cNvSpPr/>
          <p:nvPr/>
        </p:nvSpPr>
        <p:spPr>
          <a:xfrm>
            <a:off x="755650" y="53975"/>
            <a:ext cx="3876675" cy="762000"/>
          </a:xfrm>
          <a:prstGeom prst="rect">
            <a:avLst/>
          </a:prstGeom>
          <a:noFill/>
          <a:ln w="0">
            <a:noFill/>
          </a:ln>
        </p:spPr>
        <p:style>
          <a:lnRef idx="0">
            <a:srgbClr val="FFFFFF"/>
          </a:lnRef>
          <a:fillRef idx="0">
            <a:srgbClr val="FFFFFF"/>
          </a:fillRef>
          <a:effectRef idx="0">
            <a:srgbClr val="FFFFFF"/>
          </a:effectRef>
          <a:fontRef idx="minor"/>
        </p:style>
        <p:txBody>
          <a:bodyPr anchor="t">
            <a:noAutofit/>
          </a:bodyPr>
          <a:p>
            <a:pPr defTabSz="914400">
              <a:lnSpc>
                <a:spcPct val="100000"/>
              </a:lnSpc>
              <a:tabLst>
                <a:tab pos="0" algn="l"/>
              </a:tabLst>
            </a:pPr>
            <a:r>
              <a:rPr lang="vi-VN" altLang="en-US" sz="3000">
                <a:solidFill>
                  <a:srgbClr val="FFFFFF"/>
                </a:solidFill>
                <a:effectLst/>
                <a:uFillTx/>
                <a:latin typeface="Arial" panose="020B0604020202020204" pitchFamily="34" charset="0"/>
                <a:cs typeface="Arial" panose="020B0604020202020204" pitchFamily="34" charset="0"/>
                <a:sym typeface="+mn-ea"/>
              </a:rPr>
              <a:t>Kiến trúc web server</a:t>
            </a:r>
            <a:endParaRPr lang="vi-VN" altLang="en-US" sz="3000" b="0" u="none" strike="noStrike">
              <a:solidFill>
                <a:srgbClr val="FFFFFF"/>
              </a:solidFill>
              <a:effectLst/>
              <a:uFillTx/>
              <a:latin typeface="Arial" panose="020B0604020202020204" pitchFamily="34" charset="0"/>
              <a:cs typeface="Arial" panose="020B0604020202020204" pitchFamily="34" charset="0"/>
            </a:endParaRPr>
          </a:p>
        </p:txBody>
      </p:sp>
      <p:sp>
        <p:nvSpPr>
          <p:cNvPr id="2" name="Rounded Rectangle 1"/>
          <p:cNvSpPr/>
          <p:nvPr/>
        </p:nvSpPr>
        <p:spPr>
          <a:xfrm>
            <a:off x="755650" y="627380"/>
            <a:ext cx="3876675" cy="1377315"/>
          </a:xfrm>
          <a:prstGeom prst="roundRect">
            <a:avLst>
              <a:gd name="adj" fmla="val 24632"/>
            </a:avLst>
          </a:prstGeom>
          <a:solidFill>
            <a:schemeClr val="bg1">
              <a:lumMod val="90000"/>
              <a:lumOff val="10000"/>
            </a:schemeClr>
          </a:solidFill>
        </p:spPr>
        <p:style>
          <a:lnRef idx="0">
            <a:srgbClr val="FFFFFF"/>
          </a:lnRef>
          <a:fillRef idx="1">
            <a:schemeClr val="accent3"/>
          </a:fillRef>
          <a:effectRef idx="0">
            <a:srgbClr val="FFFFFF"/>
          </a:effectRef>
          <a:fontRef idx="minor">
            <a:schemeClr val="dk1"/>
          </a:fontRef>
        </p:style>
        <p:txBody>
          <a:bodyPr anchor="t">
            <a:noAutofit/>
          </a:bodyPr>
          <a:p>
            <a:pPr defTabSz="914400">
              <a:lnSpc>
                <a:spcPct val="150000"/>
              </a:lnSpc>
              <a:tabLst>
                <a:tab pos="0" algn="l"/>
              </a:tabLst>
            </a:pPr>
            <a:r>
              <a:rPr lang="en-US" altLang="en-US" sz="1200">
                <a:solidFill>
                  <a:srgbClr val="FFFFFF"/>
                </a:solidFill>
                <a:effectLst/>
                <a:uFillTx/>
                <a:latin typeface="Arial" panose="020B0604020202020204" pitchFamily="34" charset="0"/>
                <a:cs typeface="Arial" panose="020B0604020202020204" pitchFamily="34" charset="0"/>
                <a:sym typeface="+mn-ea"/>
              </a:rPr>
              <a:t>Tầng 1: Web Server (Nginx)</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a:p>
            <a:pPr lvl="1" defTabSz="914400">
              <a:lnSpc>
                <a:spcPct val="150000"/>
              </a:lnSpc>
              <a:tabLst>
                <a:tab pos="0" algn="l"/>
              </a:tabLst>
            </a:pPr>
            <a:r>
              <a:rPr lang="en-US" altLang="en-US" sz="1200">
                <a:solidFill>
                  <a:srgbClr val="FFFFFF"/>
                </a:solidFill>
                <a:effectLst/>
                <a:uFillTx/>
                <a:latin typeface="Arial" panose="020B0604020202020204" pitchFamily="34" charset="0"/>
                <a:cs typeface="Arial" panose="020B0604020202020204" pitchFamily="34" charset="0"/>
                <a:sym typeface="+mn-ea"/>
              </a:rPr>
              <a:t>Tiếp nhận HTTP request từ Client</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a:p>
            <a:pPr lvl="1" defTabSz="914400">
              <a:lnSpc>
                <a:spcPct val="150000"/>
              </a:lnSpc>
              <a:tabLst>
                <a:tab pos="0" algn="l"/>
              </a:tabLst>
            </a:pPr>
            <a:r>
              <a:rPr lang="en-US" altLang="en-US" sz="1200">
                <a:solidFill>
                  <a:srgbClr val="FFFFFF"/>
                </a:solidFill>
                <a:effectLst/>
                <a:uFillTx/>
                <a:latin typeface="Arial" panose="020B0604020202020204" pitchFamily="34" charset="0"/>
                <a:cs typeface="Arial" panose="020B0604020202020204" pitchFamily="34" charset="0"/>
                <a:sym typeface="+mn-ea"/>
              </a:rPr>
              <a:t>Phục vụ tài nguyên tĩnh</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a:p>
            <a:pPr lvl="1" defTabSz="914400">
              <a:lnSpc>
                <a:spcPct val="150000"/>
              </a:lnSpc>
              <a:tabLst>
                <a:tab pos="0" algn="l"/>
              </a:tabLst>
            </a:pPr>
            <a:r>
              <a:rPr lang="en-US" altLang="en-US" sz="1200">
                <a:solidFill>
                  <a:srgbClr val="FFFFFF"/>
                </a:solidFill>
                <a:effectLst/>
                <a:uFillTx/>
                <a:latin typeface="Arial" panose="020B0604020202020204" pitchFamily="34" charset="0"/>
                <a:cs typeface="Arial" panose="020B0604020202020204" pitchFamily="34" charset="0"/>
                <a:sym typeface="+mn-ea"/>
              </a:rPr>
              <a:t>Reverse proxy chuyển tiếp request động</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p:txBody>
      </p:sp>
      <p:sp>
        <p:nvSpPr>
          <p:cNvPr id="6" name="Rounded Rectangle 5"/>
          <p:cNvSpPr/>
          <p:nvPr/>
        </p:nvSpPr>
        <p:spPr>
          <a:xfrm>
            <a:off x="755650" y="2164080"/>
            <a:ext cx="3876675" cy="1377315"/>
          </a:xfrm>
          <a:prstGeom prst="roundRect">
            <a:avLst>
              <a:gd name="adj" fmla="val 24632"/>
            </a:avLst>
          </a:prstGeom>
          <a:solidFill>
            <a:schemeClr val="bg1">
              <a:lumMod val="90000"/>
              <a:lumOff val="10000"/>
            </a:schemeClr>
          </a:solidFill>
        </p:spPr>
        <p:style>
          <a:lnRef idx="0">
            <a:srgbClr val="FFFFFF"/>
          </a:lnRef>
          <a:fillRef idx="1">
            <a:schemeClr val="accent3"/>
          </a:fillRef>
          <a:effectRef idx="0">
            <a:srgbClr val="FFFFFF"/>
          </a:effectRef>
          <a:fontRef idx="minor">
            <a:schemeClr val="dk1"/>
          </a:fontRef>
        </p:style>
        <p:txBody>
          <a:bodyPr anchor="t">
            <a:noAutofit/>
          </a:bodyPr>
          <a:p>
            <a:pPr defTabSz="914400">
              <a:lnSpc>
                <a:spcPct val="150000"/>
              </a:lnSpc>
              <a:tabLst>
                <a:tab pos="0" algn="l"/>
              </a:tabLst>
            </a:pPr>
            <a:r>
              <a:rPr lang="en-US" altLang="en-US" sz="1200">
                <a:solidFill>
                  <a:srgbClr val="FFFFFF"/>
                </a:solidFill>
                <a:effectLst/>
                <a:uFillTx/>
                <a:latin typeface="Arial" panose="020B0604020202020204" pitchFamily="34" charset="0"/>
                <a:cs typeface="Arial" panose="020B0604020202020204" pitchFamily="34" charset="0"/>
                <a:sym typeface="+mn-ea"/>
              </a:rPr>
              <a:t>Tầng 2: Application Server (PHP-FPM + Laravel)</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a:p>
            <a:pPr lvl="1" defTabSz="914400">
              <a:lnSpc>
                <a:spcPct val="150000"/>
              </a:lnSpc>
              <a:tabLst>
                <a:tab pos="0" algn="l"/>
              </a:tabLst>
            </a:pPr>
            <a:r>
              <a:rPr lang="en-US" altLang="en-US" sz="1200">
                <a:solidFill>
                  <a:srgbClr val="FFFFFF"/>
                </a:solidFill>
                <a:effectLst/>
                <a:uFillTx/>
                <a:latin typeface="Arial" panose="020B0604020202020204" pitchFamily="34" charset="0"/>
                <a:cs typeface="Arial" panose="020B0604020202020204" pitchFamily="34" charset="0"/>
                <a:sym typeface="+mn-ea"/>
              </a:rPr>
              <a:t>Xử lý logic nghiệp vụ</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a:p>
            <a:pPr lvl="1" defTabSz="914400">
              <a:lnSpc>
                <a:spcPct val="150000"/>
              </a:lnSpc>
              <a:tabLst>
                <a:tab pos="0" algn="l"/>
              </a:tabLst>
            </a:pPr>
            <a:r>
              <a:rPr lang="en-US" altLang="en-US" sz="1200">
                <a:solidFill>
                  <a:srgbClr val="FFFFFF"/>
                </a:solidFill>
                <a:effectLst/>
                <a:uFillTx/>
                <a:latin typeface="Arial" panose="020B0604020202020204" pitchFamily="34" charset="0"/>
                <a:cs typeface="Arial" panose="020B0604020202020204" pitchFamily="34" charset="0"/>
                <a:sym typeface="+mn-ea"/>
              </a:rPr>
              <a:t>Giao tiếp với Database</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a:p>
            <a:pPr lvl="1" defTabSz="914400">
              <a:lnSpc>
                <a:spcPct val="150000"/>
              </a:lnSpc>
              <a:tabLst>
                <a:tab pos="0" algn="l"/>
              </a:tabLst>
            </a:pPr>
            <a:r>
              <a:rPr lang="en-US" altLang="en-US" sz="1200">
                <a:solidFill>
                  <a:srgbClr val="FFFFFF"/>
                </a:solidFill>
                <a:effectLst/>
                <a:uFillTx/>
                <a:latin typeface="Arial" panose="020B0604020202020204" pitchFamily="34" charset="0"/>
                <a:cs typeface="Arial" panose="020B0604020202020204" pitchFamily="34" charset="0"/>
                <a:sym typeface="+mn-ea"/>
              </a:rPr>
              <a:t>Trả kết quả về Nginx</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p:txBody>
      </p:sp>
      <p:sp>
        <p:nvSpPr>
          <p:cNvPr id="7" name="Rounded Rectangle 6"/>
          <p:cNvSpPr/>
          <p:nvPr/>
        </p:nvSpPr>
        <p:spPr>
          <a:xfrm>
            <a:off x="756285" y="3700780"/>
            <a:ext cx="3876675" cy="1377315"/>
          </a:xfrm>
          <a:prstGeom prst="roundRect">
            <a:avLst>
              <a:gd name="adj" fmla="val 24632"/>
            </a:avLst>
          </a:prstGeom>
          <a:solidFill>
            <a:schemeClr val="bg1">
              <a:lumMod val="90000"/>
              <a:lumOff val="10000"/>
            </a:schemeClr>
          </a:solidFill>
        </p:spPr>
        <p:style>
          <a:lnRef idx="0">
            <a:srgbClr val="FFFFFF"/>
          </a:lnRef>
          <a:fillRef idx="1">
            <a:schemeClr val="accent3"/>
          </a:fillRef>
          <a:effectRef idx="0">
            <a:srgbClr val="FFFFFF"/>
          </a:effectRef>
          <a:fontRef idx="minor">
            <a:schemeClr val="dk1"/>
          </a:fontRef>
        </p:style>
        <p:txBody>
          <a:bodyPr anchor="t">
            <a:noAutofit/>
          </a:bodyPr>
          <a:p>
            <a:pPr defTabSz="914400">
              <a:lnSpc>
                <a:spcPct val="150000"/>
              </a:lnSpc>
              <a:tabLst>
                <a:tab pos="0" algn="l"/>
              </a:tabLst>
            </a:pPr>
            <a:r>
              <a:rPr lang="en-US" altLang="en-US" sz="1200">
                <a:solidFill>
                  <a:srgbClr val="FFFFFF"/>
                </a:solidFill>
                <a:effectLst/>
                <a:uFillTx/>
                <a:latin typeface="Arial" panose="020B0604020202020204" pitchFamily="34" charset="0"/>
                <a:cs typeface="Arial" panose="020B0604020202020204" pitchFamily="34" charset="0"/>
                <a:sym typeface="+mn-ea"/>
              </a:rPr>
              <a:t>Tầng 3: Database (PostgreSQL)</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a:p>
            <a:pPr lvl="1" defTabSz="914400">
              <a:lnSpc>
                <a:spcPct val="150000"/>
              </a:lnSpc>
              <a:tabLst>
                <a:tab pos="0" algn="l"/>
              </a:tabLst>
            </a:pPr>
            <a:r>
              <a:rPr lang="en-US" altLang="en-US" sz="1200">
                <a:solidFill>
                  <a:srgbClr val="FFFFFF"/>
                </a:solidFill>
                <a:effectLst/>
                <a:uFillTx/>
                <a:latin typeface="Arial" panose="020B0604020202020204" pitchFamily="34" charset="0"/>
                <a:cs typeface="Arial" panose="020B0604020202020204" pitchFamily="34" charset="0"/>
                <a:sym typeface="+mn-ea"/>
              </a:rPr>
              <a:t>Lưu trữ dữ liệu bền vững</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a:p>
            <a:pPr lvl="1" defTabSz="914400">
              <a:lnSpc>
                <a:spcPct val="150000"/>
              </a:lnSpc>
              <a:tabLst>
                <a:tab pos="0" algn="l"/>
              </a:tabLst>
            </a:pPr>
            <a:r>
              <a:rPr lang="en-US" altLang="en-US" sz="1200">
                <a:solidFill>
                  <a:srgbClr val="FFFFFF"/>
                </a:solidFill>
                <a:effectLst/>
                <a:uFillTx/>
                <a:latin typeface="Arial" panose="020B0604020202020204" pitchFamily="34" charset="0"/>
                <a:cs typeface="Arial" panose="020B0604020202020204" pitchFamily="34" charset="0"/>
                <a:sym typeface="+mn-ea"/>
              </a:rPr>
              <a:t>Hỗ trợ ACID transactions</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a:p>
            <a:pPr lvl="1" defTabSz="914400">
              <a:lnSpc>
                <a:spcPct val="150000"/>
              </a:lnSpc>
              <a:tabLst>
                <a:tab pos="0" algn="l"/>
              </a:tabLst>
            </a:pPr>
            <a:r>
              <a:rPr lang="en-US" altLang="en-US" sz="1200">
                <a:solidFill>
                  <a:srgbClr val="FFFFFF"/>
                </a:solidFill>
                <a:effectLst/>
                <a:uFillTx/>
                <a:latin typeface="Arial" panose="020B0604020202020204" pitchFamily="34" charset="0"/>
                <a:cs typeface="Arial" panose="020B0604020202020204" pitchFamily="34" charset="0"/>
                <a:sym typeface="+mn-ea"/>
              </a:rPr>
              <a:t>Kiểm soát truy cập</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p:txBody>
      </p:sp>
      <p:pic>
        <p:nvPicPr>
          <p:cNvPr id="3" name="Picture 2"/>
          <p:cNvPicPr>
            <a:picLocks noChangeAspect="1"/>
          </p:cNvPicPr>
          <p:nvPr/>
        </p:nvPicPr>
        <p:blipFill>
          <a:blip r:embed="rId1"/>
          <a:stretch>
            <a:fillRect/>
          </a:stretch>
        </p:blipFill>
        <p:spPr>
          <a:xfrm>
            <a:off x="4715510" y="1428115"/>
            <a:ext cx="4095750" cy="22879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tangle 50"/>
          <p:cNvSpPr/>
          <p:nvPr/>
        </p:nvSpPr>
        <p:spPr>
          <a:xfrm>
            <a:off x="755650" y="53975"/>
            <a:ext cx="5699125" cy="762000"/>
          </a:xfrm>
          <a:prstGeom prst="rect">
            <a:avLst/>
          </a:prstGeom>
          <a:noFill/>
          <a:ln w="0">
            <a:noFill/>
          </a:ln>
        </p:spPr>
        <p:style>
          <a:lnRef idx="0">
            <a:srgbClr val="FFFFFF"/>
          </a:lnRef>
          <a:fillRef idx="0">
            <a:srgbClr val="FFFFFF"/>
          </a:fillRef>
          <a:effectRef idx="0">
            <a:srgbClr val="FFFFFF"/>
          </a:effectRef>
          <a:fontRef idx="minor"/>
        </p:style>
        <p:txBody>
          <a:bodyPr anchor="t">
            <a:noAutofit/>
          </a:bodyPr>
          <a:p>
            <a:pPr defTabSz="914400">
              <a:lnSpc>
                <a:spcPct val="100000"/>
              </a:lnSpc>
              <a:tabLst>
                <a:tab pos="0" algn="l"/>
              </a:tabLst>
            </a:pPr>
            <a:r>
              <a:rPr lang="vi-VN" altLang="en-US" sz="3000">
                <a:solidFill>
                  <a:srgbClr val="FFFFFF"/>
                </a:solidFill>
                <a:effectLst/>
                <a:uFillTx/>
                <a:latin typeface="Arial" panose="020B0604020202020204" pitchFamily="34" charset="0"/>
                <a:cs typeface="Arial" panose="020B0604020202020204" pitchFamily="34" charset="0"/>
                <a:sym typeface="+mn-ea"/>
              </a:rPr>
              <a:t>CIA &amp; Các nguyên tắt bảo </a:t>
            </a:r>
            <a:r>
              <a:rPr lang="vi-VN" altLang="en-US" sz="3000">
                <a:solidFill>
                  <a:srgbClr val="FFFFFF"/>
                </a:solidFill>
                <a:effectLst/>
                <a:uFillTx/>
                <a:latin typeface="Arial" panose="020B0604020202020204" pitchFamily="34" charset="0"/>
                <a:cs typeface="Arial" panose="020B0604020202020204" pitchFamily="34" charset="0"/>
                <a:sym typeface="+mn-ea"/>
              </a:rPr>
              <a:t>mật</a:t>
            </a:r>
            <a:endParaRPr lang="vi-VN" altLang="en-US" sz="3000">
              <a:solidFill>
                <a:srgbClr val="FFFFFF"/>
              </a:solidFill>
              <a:effectLst/>
              <a:uFillTx/>
              <a:latin typeface="Arial" panose="020B0604020202020204" pitchFamily="34" charset="0"/>
              <a:cs typeface="Arial" panose="020B0604020202020204" pitchFamily="34" charset="0"/>
              <a:sym typeface="+mn-ea"/>
            </a:endParaRPr>
          </a:p>
        </p:txBody>
      </p:sp>
      <p:sp>
        <p:nvSpPr>
          <p:cNvPr id="2" name="Rounded Rectangle 1"/>
          <p:cNvSpPr/>
          <p:nvPr/>
        </p:nvSpPr>
        <p:spPr>
          <a:xfrm>
            <a:off x="755650" y="627380"/>
            <a:ext cx="3876675" cy="830580"/>
          </a:xfrm>
          <a:prstGeom prst="roundRect">
            <a:avLst>
              <a:gd name="adj" fmla="val 24632"/>
            </a:avLst>
          </a:prstGeom>
          <a:solidFill>
            <a:schemeClr val="bg1">
              <a:lumMod val="90000"/>
              <a:lumOff val="10000"/>
            </a:schemeClr>
          </a:solidFill>
        </p:spPr>
        <p:style>
          <a:lnRef idx="0">
            <a:srgbClr val="FFFFFF"/>
          </a:lnRef>
          <a:fillRef idx="1">
            <a:schemeClr val="accent3"/>
          </a:fillRef>
          <a:effectRef idx="0">
            <a:srgbClr val="FFFFFF"/>
          </a:effectRef>
          <a:fontRef idx="minor">
            <a:schemeClr val="dk1"/>
          </a:fontRef>
        </p:style>
        <p:txBody>
          <a:bodyPr anchor="t">
            <a:noAutofit/>
          </a:bodyPr>
          <a:p>
            <a:pPr defTabSz="914400">
              <a:lnSpc>
                <a:spcPct val="150000"/>
              </a:lnSpc>
              <a:tabLst>
                <a:tab pos="0" algn="l"/>
              </a:tabLst>
            </a:pPr>
            <a:r>
              <a:rPr lang="en-US" altLang="en-US" sz="1200" b="0" u="none" strike="noStrike">
                <a:solidFill>
                  <a:srgbClr val="FFFFFF"/>
                </a:solidFill>
                <a:effectLst/>
                <a:uFillTx/>
                <a:latin typeface="Arial" panose="020B0604020202020204" pitchFamily="34" charset="0"/>
                <a:cs typeface="Arial" panose="020B0604020202020204" pitchFamily="34" charset="0"/>
              </a:rPr>
              <a:t>Confidentiality (Bảo mật): Chỉ ng</a:t>
            </a:r>
            <a:r>
              <a:rPr lang="en-US" altLang="en-US" sz="1200" b="0" u="none" strike="noStrike">
                <a:solidFill>
                  <a:srgbClr val="FFFFFF"/>
                </a:solidFill>
                <a:effectLst/>
                <a:uFillTx/>
                <a:latin typeface="Arial" panose="020B0604020202020204" pitchFamily="34" charset="0"/>
                <a:cs typeface="Arial" panose="020B0604020202020204" pitchFamily="34" charset="0"/>
              </a:rPr>
              <a:t>ư</a:t>
            </a:r>
            <a:r>
              <a:rPr lang="en-US" altLang="en-US" sz="1200" b="0" u="none" strike="noStrike">
                <a:solidFill>
                  <a:srgbClr val="FFFFFF"/>
                </a:solidFill>
                <a:effectLst/>
                <a:uFillTx/>
                <a:latin typeface="Arial" panose="020B0604020202020204" pitchFamily="34" charset="0"/>
                <a:cs typeface="Arial" panose="020B0604020202020204" pitchFamily="34" charset="0"/>
              </a:rPr>
              <a:t>ời </a:t>
            </a:r>
            <a:r>
              <a:rPr lang="en-US" altLang="en-US" sz="1200" b="0" u="none" strike="noStrike">
                <a:solidFill>
                  <a:srgbClr val="FFFFFF"/>
                </a:solidFill>
                <a:effectLst/>
                <a:uFillTx/>
                <a:latin typeface="Arial" panose="020B0604020202020204" pitchFamily="34" charset="0"/>
                <a:cs typeface="Arial" panose="020B0604020202020204" pitchFamily="34" charset="0"/>
              </a:rPr>
              <a:t>đư</a:t>
            </a:r>
            <a:r>
              <a:rPr lang="en-US" altLang="en-US" sz="1200" b="0" u="none" strike="noStrike">
                <a:solidFill>
                  <a:srgbClr val="FFFFFF"/>
                </a:solidFill>
                <a:effectLst/>
                <a:uFillTx/>
                <a:latin typeface="Arial" panose="020B0604020202020204" pitchFamily="34" charset="0"/>
                <a:cs typeface="Arial" panose="020B0604020202020204" pitchFamily="34" charset="0"/>
              </a:rPr>
              <a:t>ợc phép mới truy cập dữ liệu</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p:txBody>
      </p:sp>
      <p:sp>
        <p:nvSpPr>
          <p:cNvPr id="7" name="Rounded Rectangle 6"/>
          <p:cNvSpPr/>
          <p:nvPr/>
        </p:nvSpPr>
        <p:spPr>
          <a:xfrm>
            <a:off x="683895" y="3700780"/>
            <a:ext cx="3876675" cy="1377315"/>
          </a:xfrm>
          <a:prstGeom prst="roundRect">
            <a:avLst>
              <a:gd name="adj" fmla="val 24632"/>
            </a:avLst>
          </a:prstGeom>
          <a:solidFill>
            <a:schemeClr val="bg1">
              <a:lumMod val="90000"/>
              <a:lumOff val="10000"/>
            </a:schemeClr>
          </a:solidFill>
        </p:spPr>
        <p:style>
          <a:lnRef idx="0">
            <a:srgbClr val="FFFFFF"/>
          </a:lnRef>
          <a:fillRef idx="1">
            <a:schemeClr val="accent3"/>
          </a:fillRef>
          <a:effectRef idx="0">
            <a:srgbClr val="FFFFFF"/>
          </a:effectRef>
          <a:fontRef idx="minor">
            <a:schemeClr val="dk1"/>
          </a:fontRef>
        </p:style>
        <p:txBody>
          <a:bodyPr anchor="t">
            <a:noAutofit/>
          </a:bodyPr>
          <a:p>
            <a:pPr defTabSz="914400">
              <a:lnSpc>
                <a:spcPct val="150000"/>
              </a:lnSpc>
              <a:tabLst>
                <a:tab pos="0" algn="l"/>
              </a:tabLst>
            </a:pPr>
            <a:r>
              <a:rPr lang="en-US" altLang="en-US" sz="1200" b="0" u="none" strike="noStrike">
                <a:solidFill>
                  <a:srgbClr val="FFFFFF"/>
                </a:solidFill>
                <a:effectLst/>
                <a:uFillTx/>
                <a:latin typeface="Arial" panose="020B0604020202020204" pitchFamily="34" charset="0"/>
                <a:cs typeface="Arial" panose="020B0604020202020204" pitchFamily="34" charset="0"/>
              </a:rPr>
              <a:t>Least Privilege:Cấp </a:t>
            </a:r>
            <a:r>
              <a:rPr lang="en-US" altLang="en-US" sz="1200" b="0" u="none" strike="noStrike">
                <a:solidFill>
                  <a:srgbClr val="FFFFFF"/>
                </a:solidFill>
                <a:effectLst/>
                <a:uFillTx/>
                <a:latin typeface="Arial" panose="020B0604020202020204" pitchFamily="34" charset="0"/>
                <a:cs typeface="Arial" panose="020B0604020202020204" pitchFamily="34" charset="0"/>
              </a:rPr>
              <a:t>đ</a:t>
            </a:r>
            <a:r>
              <a:rPr lang="en-US" altLang="en-US" sz="1200" b="0" u="none" strike="noStrike">
                <a:solidFill>
                  <a:srgbClr val="FFFFFF"/>
                </a:solidFill>
                <a:effectLst/>
                <a:uFillTx/>
                <a:latin typeface="Arial" panose="020B0604020202020204" pitchFamily="34" charset="0"/>
                <a:cs typeface="Arial" panose="020B0604020202020204" pitchFamily="34" charset="0"/>
              </a:rPr>
              <a:t>úng quyền cần thiết</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a:p>
            <a:pPr defTabSz="914400">
              <a:lnSpc>
                <a:spcPct val="150000"/>
              </a:lnSpc>
              <a:tabLst>
                <a:tab pos="0" algn="l"/>
              </a:tabLst>
            </a:pPr>
            <a:r>
              <a:rPr lang="en-US" altLang="en-US" sz="1200" b="0" u="none" strike="noStrike">
                <a:solidFill>
                  <a:srgbClr val="FFFFFF"/>
                </a:solidFill>
                <a:effectLst/>
                <a:uFillTx/>
                <a:latin typeface="Arial" panose="020B0604020202020204" pitchFamily="34" charset="0"/>
                <a:cs typeface="Arial" panose="020B0604020202020204" pitchFamily="34" charset="0"/>
              </a:rPr>
              <a:t>Defense in Depth:Nhiều lớp phòng thủ </a:t>
            </a:r>
            <a:r>
              <a:rPr lang="en-US" altLang="en-US" sz="1200" b="0" u="none" strike="noStrike">
                <a:solidFill>
                  <a:srgbClr val="FFFFFF"/>
                </a:solidFill>
                <a:effectLst/>
                <a:uFillTx/>
                <a:latin typeface="Arial" panose="020B0604020202020204" pitchFamily="34" charset="0"/>
                <a:cs typeface="Arial" panose="020B0604020202020204" pitchFamily="34" charset="0"/>
              </a:rPr>
              <a:t>đ</a:t>
            </a:r>
            <a:r>
              <a:rPr lang="en-US" altLang="en-US" sz="1200" b="0" u="none" strike="noStrike">
                <a:solidFill>
                  <a:srgbClr val="FFFFFF"/>
                </a:solidFill>
                <a:effectLst/>
                <a:uFillTx/>
                <a:latin typeface="Arial" panose="020B0604020202020204" pitchFamily="34" charset="0"/>
                <a:cs typeface="Arial" panose="020B0604020202020204" pitchFamily="34" charset="0"/>
              </a:rPr>
              <a:t>ộc lập</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a:p>
            <a:pPr defTabSz="914400">
              <a:lnSpc>
                <a:spcPct val="150000"/>
              </a:lnSpc>
              <a:tabLst>
                <a:tab pos="0" algn="l"/>
              </a:tabLst>
            </a:pPr>
            <a:r>
              <a:rPr lang="en-US" altLang="en-US" sz="1200" b="0" u="none" strike="noStrike">
                <a:solidFill>
                  <a:srgbClr val="FFFFFF"/>
                </a:solidFill>
                <a:effectLst/>
                <a:uFillTx/>
                <a:latin typeface="Arial" panose="020B0604020202020204" pitchFamily="34" charset="0"/>
                <a:cs typeface="Arial" panose="020B0604020202020204" pitchFamily="34" charset="0"/>
              </a:rPr>
              <a:t>Default Deny:Từ chối tất cả, chỉ cho phép cần thiết</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p:txBody>
      </p:sp>
      <p:sp>
        <p:nvSpPr>
          <p:cNvPr id="3" name="Rounded Rectangle 2"/>
          <p:cNvSpPr/>
          <p:nvPr/>
        </p:nvSpPr>
        <p:spPr>
          <a:xfrm>
            <a:off x="755650" y="1563370"/>
            <a:ext cx="3876675" cy="830580"/>
          </a:xfrm>
          <a:prstGeom prst="roundRect">
            <a:avLst>
              <a:gd name="adj" fmla="val 24632"/>
            </a:avLst>
          </a:prstGeom>
          <a:solidFill>
            <a:schemeClr val="bg1">
              <a:lumMod val="90000"/>
              <a:lumOff val="10000"/>
            </a:schemeClr>
          </a:solidFill>
        </p:spPr>
        <p:style>
          <a:lnRef idx="0">
            <a:srgbClr val="FFFFFF"/>
          </a:lnRef>
          <a:fillRef idx="1">
            <a:schemeClr val="accent3"/>
          </a:fillRef>
          <a:effectRef idx="0">
            <a:srgbClr val="FFFFFF"/>
          </a:effectRef>
          <a:fontRef idx="minor">
            <a:schemeClr val="dk1"/>
          </a:fontRef>
        </p:style>
        <p:txBody>
          <a:bodyPr anchor="t">
            <a:noAutofit/>
          </a:bodyPr>
          <a:p>
            <a:pPr defTabSz="914400">
              <a:lnSpc>
                <a:spcPct val="150000"/>
              </a:lnSpc>
              <a:tabLst>
                <a:tab pos="0" algn="l"/>
              </a:tabLst>
            </a:pPr>
            <a:r>
              <a:rPr lang="en-US" altLang="en-US" sz="1200" b="0" u="none" strike="noStrike">
                <a:solidFill>
                  <a:srgbClr val="FFFFFF"/>
                </a:solidFill>
                <a:effectLst/>
                <a:uFillTx/>
                <a:latin typeface="Arial" panose="020B0604020202020204" pitchFamily="34" charset="0"/>
                <a:cs typeface="Arial" panose="020B0604020202020204" pitchFamily="34" charset="0"/>
              </a:rPr>
              <a:t>Integrity (Toàn vẹn): Dữ liệu không bị thay </a:t>
            </a:r>
            <a:r>
              <a:rPr lang="en-US" altLang="en-US" sz="1200" b="0" u="none" strike="noStrike">
                <a:solidFill>
                  <a:srgbClr val="FFFFFF"/>
                </a:solidFill>
                <a:effectLst/>
                <a:uFillTx/>
                <a:latin typeface="Arial" panose="020B0604020202020204" pitchFamily="34" charset="0"/>
                <a:cs typeface="Arial" panose="020B0604020202020204" pitchFamily="34" charset="0"/>
              </a:rPr>
              <a:t>đ</a:t>
            </a:r>
            <a:r>
              <a:rPr lang="en-US" altLang="en-US" sz="1200" b="0" u="none" strike="noStrike">
                <a:solidFill>
                  <a:srgbClr val="FFFFFF"/>
                </a:solidFill>
                <a:effectLst/>
                <a:uFillTx/>
                <a:latin typeface="Arial" panose="020B0604020202020204" pitchFamily="34" charset="0"/>
                <a:cs typeface="Arial" panose="020B0604020202020204" pitchFamily="34" charset="0"/>
              </a:rPr>
              <a:t>ổi trái phép</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p:txBody>
      </p:sp>
      <p:sp>
        <p:nvSpPr>
          <p:cNvPr id="4" name="Rounded Rectangle 3"/>
          <p:cNvSpPr/>
          <p:nvPr/>
        </p:nvSpPr>
        <p:spPr>
          <a:xfrm>
            <a:off x="755650" y="2499360"/>
            <a:ext cx="3876675" cy="830580"/>
          </a:xfrm>
          <a:prstGeom prst="roundRect">
            <a:avLst>
              <a:gd name="adj" fmla="val 24632"/>
            </a:avLst>
          </a:prstGeom>
          <a:solidFill>
            <a:schemeClr val="bg1">
              <a:lumMod val="90000"/>
              <a:lumOff val="10000"/>
            </a:schemeClr>
          </a:solidFill>
        </p:spPr>
        <p:style>
          <a:lnRef idx="0">
            <a:srgbClr val="FFFFFF"/>
          </a:lnRef>
          <a:fillRef idx="1">
            <a:schemeClr val="accent3"/>
          </a:fillRef>
          <a:effectRef idx="0">
            <a:srgbClr val="FFFFFF"/>
          </a:effectRef>
          <a:fontRef idx="minor">
            <a:schemeClr val="dk1"/>
          </a:fontRef>
        </p:style>
        <p:txBody>
          <a:bodyPr anchor="t">
            <a:noAutofit/>
          </a:bodyPr>
          <a:p>
            <a:pPr defTabSz="914400">
              <a:lnSpc>
                <a:spcPct val="150000"/>
              </a:lnSpc>
              <a:tabLst>
                <a:tab pos="0" algn="l"/>
              </a:tabLst>
            </a:pPr>
            <a:r>
              <a:rPr lang="en-US" altLang="en-US" sz="1200" b="0" u="none" strike="noStrike">
                <a:solidFill>
                  <a:srgbClr val="FFFFFF"/>
                </a:solidFill>
                <a:effectLst/>
                <a:uFillTx/>
                <a:latin typeface="Arial" panose="020B0604020202020204" pitchFamily="34" charset="0"/>
                <a:cs typeface="Arial" panose="020B0604020202020204" pitchFamily="34" charset="0"/>
              </a:rPr>
              <a:t>Availability (Sẵn sàng): Hệ thống phải hoạt </a:t>
            </a:r>
            <a:r>
              <a:rPr lang="en-US" altLang="en-US" sz="1200" b="0" u="none" strike="noStrike">
                <a:solidFill>
                  <a:srgbClr val="FFFFFF"/>
                </a:solidFill>
                <a:effectLst/>
                <a:uFillTx/>
                <a:latin typeface="Arial" panose="020B0604020202020204" pitchFamily="34" charset="0"/>
                <a:cs typeface="Arial" panose="020B0604020202020204" pitchFamily="34" charset="0"/>
              </a:rPr>
              <a:t>đ</a:t>
            </a:r>
            <a:r>
              <a:rPr lang="en-US" altLang="en-US" sz="1200" b="0" u="none" strike="noStrike">
                <a:solidFill>
                  <a:srgbClr val="FFFFFF"/>
                </a:solidFill>
                <a:effectLst/>
                <a:uFillTx/>
                <a:latin typeface="Arial" panose="020B0604020202020204" pitchFamily="34" charset="0"/>
                <a:cs typeface="Arial" panose="020B0604020202020204" pitchFamily="34" charset="0"/>
              </a:rPr>
              <a:t>ộng liên tục</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p:txBody>
      </p:sp>
      <p:pic>
        <p:nvPicPr>
          <p:cNvPr id="5" name="Picture 4"/>
          <p:cNvPicPr/>
          <p:nvPr/>
        </p:nvPicPr>
        <p:blipFill>
          <a:blip r:embed="rId1"/>
          <a:stretch>
            <a:fillRect/>
          </a:stretch>
        </p:blipFill>
        <p:spPr>
          <a:xfrm>
            <a:off x="5579745" y="771525"/>
            <a:ext cx="3218180" cy="234188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p:cNvSpPr/>
          <p:nvPr/>
        </p:nvSpPr>
        <p:spPr>
          <a:xfrm>
            <a:off x="619200" y="619200"/>
            <a:ext cx="2142720" cy="914040"/>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defTabSz="914400">
              <a:lnSpc>
                <a:spcPct val="100000"/>
              </a:lnSpc>
              <a:tabLst>
                <a:tab pos="0" algn="l"/>
              </a:tabLst>
            </a:pPr>
            <a:r>
              <a:rPr lang="en-US" sz="5000" b="0" u="none" strike="noStrike">
                <a:solidFill>
                  <a:srgbClr val="FFFFFF"/>
                </a:solidFill>
                <a:effectLst/>
                <a:uFillTx/>
                <a:latin typeface="Montserrat"/>
              </a:rPr>
              <a:t>0</a:t>
            </a:r>
            <a:r>
              <a:rPr lang="vi-VN" altLang="en-US" sz="5000" b="0" u="none" strike="noStrike">
                <a:solidFill>
                  <a:srgbClr val="FFFFFF"/>
                </a:solidFill>
                <a:effectLst/>
                <a:uFillTx/>
                <a:latin typeface="Montserrat"/>
              </a:rPr>
              <a:t>2</a:t>
            </a:r>
            <a:endParaRPr lang="vi-VN" altLang="en-US" sz="5000" b="0" u="none" strike="noStrike">
              <a:solidFill>
                <a:srgbClr val="FFFFFF"/>
              </a:solidFill>
              <a:effectLst/>
              <a:uFillTx/>
              <a:latin typeface="Montserrat"/>
            </a:endParaRPr>
          </a:p>
        </p:txBody>
      </p:sp>
      <p:sp>
        <p:nvSpPr>
          <p:cNvPr id="44" name="Rectangle 43"/>
          <p:cNvSpPr/>
          <p:nvPr/>
        </p:nvSpPr>
        <p:spPr>
          <a:xfrm>
            <a:off x="619125" y="1428750"/>
            <a:ext cx="7078345" cy="2345690"/>
          </a:xfrm>
          <a:prstGeom prst="rect">
            <a:avLst/>
          </a:prstGeom>
          <a:noFill/>
          <a:ln w="0">
            <a:noFill/>
          </a:ln>
        </p:spPr>
        <p:style>
          <a:lnRef idx="0">
            <a:srgbClr val="FFFFFF"/>
          </a:lnRef>
          <a:fillRef idx="0">
            <a:srgbClr val="FFFFFF"/>
          </a:fillRef>
          <a:effectRef idx="0">
            <a:srgbClr val="FFFFFF"/>
          </a:effectRef>
          <a:fontRef idx="minor"/>
        </p:style>
        <p:txBody>
          <a:bodyPr anchor="t">
            <a:normAutofit lnSpcReduction="9999"/>
          </a:bodyPr>
          <a:p>
            <a:pPr defTabSz="914400">
              <a:lnSpc>
                <a:spcPct val="100000"/>
              </a:lnSpc>
              <a:tabLst>
                <a:tab pos="0" algn="l"/>
              </a:tabLst>
            </a:pPr>
            <a:r>
              <a:rPr lang="vi-VN" altLang="en-US" sz="4000" b="0" u="none" strike="noStrike">
                <a:solidFill>
                  <a:srgbClr val="FFFFFF"/>
                </a:solidFill>
                <a:effectLst/>
                <a:uFillTx/>
                <a:latin typeface="Montserrat"/>
              </a:rPr>
              <a:t>Triển khai bằng </a:t>
            </a:r>
            <a:r>
              <a:rPr lang="vi-VN" altLang="en-US" sz="4000" b="0" u="none" strike="noStrike">
                <a:solidFill>
                  <a:srgbClr val="FFFFFF"/>
                </a:solidFill>
                <a:effectLst/>
                <a:uFillTx/>
                <a:latin typeface="Montserrat"/>
              </a:rPr>
              <a:t>Docker</a:t>
            </a:r>
            <a:endParaRPr lang="vi-VN" altLang="en-US" sz="4000" b="0" u="none" strike="noStrike">
              <a:solidFill>
                <a:srgbClr val="FFFFFF"/>
              </a:solidFill>
              <a:effectLst/>
              <a:uFillTx/>
              <a:latin typeface="Montserrat"/>
            </a:endParaRPr>
          </a:p>
        </p:txBody>
      </p:sp>
      <p:sp>
        <p:nvSpPr>
          <p:cNvPr id="45" name="Rectangle 44"/>
          <p:cNvSpPr/>
          <p:nvPr/>
        </p:nvSpPr>
        <p:spPr>
          <a:xfrm>
            <a:off x="619200" y="3333600"/>
            <a:ext cx="3476160" cy="456840"/>
          </a:xfrm>
          <a:prstGeom prst="rect">
            <a:avLst/>
          </a:prstGeom>
          <a:noFill/>
          <a:ln w="0">
            <a:noFill/>
          </a:ln>
        </p:spPr>
        <p:style>
          <a:lnRef idx="0">
            <a:srgbClr val="FFFFFF"/>
          </a:lnRef>
          <a:fillRef idx="0">
            <a:srgbClr val="FFFFFF"/>
          </a:fillRef>
          <a:effectRef idx="0">
            <a:srgbClr val="FFFFFF"/>
          </a:effectRef>
          <a:fontRef idx="minor"/>
        </p:style>
        <p:txBody>
          <a:bodyPr anchor="t">
            <a:normAutofit lnSpcReduction="20000"/>
          </a:bodyPr>
          <a:p>
            <a:pPr defTabSz="914400">
              <a:lnSpc>
                <a:spcPct val="150000"/>
              </a:lnSpc>
              <a:tabLst>
                <a:tab pos="0" algn="l"/>
              </a:tabLst>
            </a:pPr>
            <a:endParaRPr lang="en-US" sz="1800" b="0" u="none" strike="noStrike">
              <a:solidFill>
                <a:srgbClr val="FFFFFF"/>
              </a:solidFill>
              <a:effectLst/>
              <a:uFillTx/>
              <a:latin typeface="OpenSymbol" panose="0501000000000000000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aphicFrame>
        <p:nvGraphicFramePr>
          <p:cNvPr id="3" name="Table 2"/>
          <p:cNvGraphicFramePr/>
          <p:nvPr/>
        </p:nvGraphicFramePr>
        <p:xfrm>
          <a:off x="907415" y="774700"/>
          <a:ext cx="7278370" cy="3510280"/>
        </p:xfrm>
        <a:graphic>
          <a:graphicData uri="http://schemas.openxmlformats.org/drawingml/2006/table">
            <a:tbl>
              <a:tblPr/>
              <a:tblGrid>
                <a:gridCol w="2397760"/>
                <a:gridCol w="4880610"/>
              </a:tblGrid>
              <a:tr h="438785">
                <a:tc>
                  <a:txBody>
                    <a:bodyPr/>
                    <a:p>
                      <a:pPr algn="ctr">
                        <a:lnSpc>
                          <a:spcPct val="150000"/>
                        </a:lnSpc>
                        <a:spcBef>
                          <a:spcPct val="0"/>
                        </a:spcBef>
                        <a:spcAft>
                          <a:spcPct val="0"/>
                        </a:spcAft>
                      </a:pPr>
                      <a:r>
                        <a:rPr lang="en-US" altLang="zh-CN" sz="1800" b="1">
                          <a:ea typeface="SimSun" panose="02010600030101010101" pitchFamily="2" charset="-122"/>
                          <a:cs typeface="Arial" panose="020B0604020202020204" pitchFamily="34" charset="0"/>
                        </a:rPr>
                        <a:t>Thành phần</a:t>
                      </a:r>
                      <a:endParaRPr lang="en-US" altLang="zh-CN" sz="1800" b="1">
                        <a:ea typeface="SimSun" panose="02010600030101010101" pitchFamily="2" charset="-122"/>
                        <a:cs typeface="Arial" panose="020B0604020202020204" pitchFamily="34" charset="0"/>
                      </a:endParaRPr>
                    </a:p>
                  </a:txBody>
                  <a:tcPr marL="0" marR="0" marT="0" marB="0" anchor="ctr" anchorCtr="0">
                    <a:lnL>
                      <a:noFill/>
                    </a:lnL>
                    <a:lnR>
                      <a:noFill/>
                    </a:lnR>
                    <a:lnT>
                      <a:noFill/>
                    </a:lnT>
                    <a:lnB>
                      <a:noFill/>
                    </a:lnB>
                    <a:solidFill>
                      <a:schemeClr val="bg2">
                        <a:alpha val="22000"/>
                      </a:schemeClr>
                    </a:solidFill>
                  </a:tcPr>
                </a:tc>
                <a:tc>
                  <a:txBody>
                    <a:bodyPr/>
                    <a:p>
                      <a:pPr algn="ctr">
                        <a:lnSpc>
                          <a:spcPct val="150000"/>
                        </a:lnSpc>
                        <a:spcBef>
                          <a:spcPct val="0"/>
                        </a:spcBef>
                        <a:spcAft>
                          <a:spcPct val="0"/>
                        </a:spcAft>
                      </a:pPr>
                      <a:r>
                        <a:rPr lang="en-US" altLang="zh-CN" sz="1800" b="1">
                          <a:ea typeface="SimSun" panose="02010600030101010101" pitchFamily="2" charset="-122"/>
                          <a:cs typeface="Arial" panose="020B0604020202020204" pitchFamily="34" charset="0"/>
                        </a:rPr>
                        <a:t>Phiên bản</a:t>
                      </a:r>
                      <a:endParaRPr lang="en-US" altLang="zh-CN" sz="1800" b="1">
                        <a:ea typeface="SimSun" panose="02010600030101010101" pitchFamily="2" charset="-122"/>
                        <a:cs typeface="Arial" panose="020B0604020202020204" pitchFamily="34" charset="0"/>
                      </a:endParaRPr>
                    </a:p>
                  </a:txBody>
                  <a:tcPr marL="0" marR="0" marT="0" marB="0" anchor="ctr" anchorCtr="0">
                    <a:lnL>
                      <a:noFill/>
                    </a:lnL>
                    <a:lnR>
                      <a:noFill/>
                    </a:lnR>
                    <a:lnT>
                      <a:noFill/>
                    </a:lnT>
                    <a:lnB>
                      <a:noFill/>
                    </a:lnB>
                    <a:solidFill>
                      <a:schemeClr val="bg2">
                        <a:alpha val="22000"/>
                      </a:schemeClr>
                    </a:solidFill>
                  </a:tcPr>
                </a:tc>
              </a:tr>
              <a:tr h="438785">
                <a:tc>
                  <a:txBody>
                    <a:bodyPr/>
                    <a:p>
                      <a:pPr algn="ctr">
                        <a:lnSpc>
                          <a:spcPct val="150000"/>
                        </a:lnSpc>
                        <a:spcBef>
                          <a:spcPct val="0"/>
                        </a:spcBef>
                        <a:spcAft>
                          <a:spcPct val="0"/>
                        </a:spcAft>
                      </a:pPr>
                      <a:r>
                        <a:rPr lang="en-US" altLang="zh-CN" sz="1800">
                          <a:ea typeface="SimSun" panose="02010600030101010101" pitchFamily="2" charset="-122"/>
                          <a:cs typeface="Arial" panose="020B0604020202020204" pitchFamily="34" charset="0"/>
                        </a:rPr>
                        <a:t>Docker Desktop</a:t>
                      </a:r>
                      <a:endParaRPr lang="en-US" altLang="zh-CN" sz="1800">
                        <a:ea typeface="SimSun" panose="02010600030101010101" pitchFamily="2" charset="-122"/>
                        <a:cs typeface="Arial" panose="020B0604020202020204" pitchFamily="34" charset="0"/>
                      </a:endParaRPr>
                    </a:p>
                  </a:txBody>
                  <a:tcPr marL="0" marR="0" marT="0" marB="0" anchor="ctr" anchorCtr="0">
                    <a:lnL>
                      <a:noFill/>
                    </a:lnL>
                    <a:lnR>
                      <a:noFill/>
                    </a:lnR>
                    <a:lnT>
                      <a:noFill/>
                    </a:lnT>
                    <a:lnB>
                      <a:noFill/>
                    </a:lnB>
                    <a:solidFill>
                      <a:schemeClr val="bg2">
                        <a:alpha val="22000"/>
                      </a:schemeClr>
                    </a:solidFill>
                  </a:tcPr>
                </a:tc>
                <a:tc>
                  <a:txBody>
                    <a:bodyPr/>
                    <a:p>
                      <a:pPr algn="ctr">
                        <a:lnSpc>
                          <a:spcPct val="150000"/>
                        </a:lnSpc>
                        <a:spcBef>
                          <a:spcPct val="0"/>
                        </a:spcBef>
                        <a:spcAft>
                          <a:spcPct val="0"/>
                        </a:spcAft>
                      </a:pPr>
                      <a:r>
                        <a:rPr lang="en-US" altLang="zh-CN" sz="1800">
                          <a:ea typeface="SimSun" panose="02010600030101010101" pitchFamily="2" charset="-122"/>
                          <a:cs typeface="Arial" panose="020B0604020202020204" pitchFamily="34" charset="0"/>
                        </a:rPr>
                        <a:t>28.x</a:t>
                      </a:r>
                      <a:endParaRPr lang="en-US" altLang="zh-CN" sz="1800">
                        <a:ea typeface="SimSun" panose="02010600030101010101" pitchFamily="2" charset="-122"/>
                        <a:cs typeface="Arial" panose="020B0604020202020204" pitchFamily="34" charset="0"/>
                      </a:endParaRPr>
                    </a:p>
                  </a:txBody>
                  <a:tcPr marL="0" marR="0" marT="0" marB="0" anchor="ctr" anchorCtr="0">
                    <a:lnL>
                      <a:noFill/>
                    </a:lnL>
                    <a:lnR>
                      <a:noFill/>
                    </a:lnR>
                    <a:lnT>
                      <a:noFill/>
                    </a:lnT>
                    <a:lnB>
                      <a:noFill/>
                    </a:lnB>
                    <a:solidFill>
                      <a:schemeClr val="bg2">
                        <a:alpha val="22000"/>
                      </a:schemeClr>
                    </a:solidFill>
                  </a:tcPr>
                </a:tc>
              </a:tr>
              <a:tr h="438785">
                <a:tc>
                  <a:txBody>
                    <a:bodyPr/>
                    <a:p>
                      <a:pPr algn="ctr">
                        <a:lnSpc>
                          <a:spcPct val="150000"/>
                        </a:lnSpc>
                        <a:spcBef>
                          <a:spcPct val="0"/>
                        </a:spcBef>
                        <a:spcAft>
                          <a:spcPct val="0"/>
                        </a:spcAft>
                      </a:pPr>
                      <a:r>
                        <a:rPr lang="en-US" altLang="zh-CN" sz="1800">
                          <a:ea typeface="SimSun" panose="02010600030101010101" pitchFamily="2" charset="-122"/>
                          <a:cs typeface="Arial" panose="020B0604020202020204" pitchFamily="34" charset="0"/>
                        </a:rPr>
                        <a:t>Docker Compose</a:t>
                      </a:r>
                      <a:endParaRPr lang="en-US" altLang="zh-CN" sz="1800">
                        <a:ea typeface="SimSun" panose="02010600030101010101" pitchFamily="2" charset="-122"/>
                        <a:cs typeface="Arial" panose="020B0604020202020204" pitchFamily="34" charset="0"/>
                      </a:endParaRPr>
                    </a:p>
                  </a:txBody>
                  <a:tcPr marL="0" marR="0" marT="0" marB="0" anchor="ctr" anchorCtr="0">
                    <a:lnL>
                      <a:noFill/>
                    </a:lnL>
                    <a:lnR>
                      <a:noFill/>
                    </a:lnR>
                    <a:lnT>
                      <a:noFill/>
                    </a:lnT>
                    <a:lnB>
                      <a:noFill/>
                    </a:lnB>
                    <a:solidFill>
                      <a:schemeClr val="bg2">
                        <a:alpha val="22000"/>
                      </a:schemeClr>
                    </a:solidFill>
                  </a:tcPr>
                </a:tc>
                <a:tc>
                  <a:txBody>
                    <a:bodyPr/>
                    <a:p>
                      <a:pPr algn="ctr">
                        <a:lnSpc>
                          <a:spcPct val="150000"/>
                        </a:lnSpc>
                        <a:spcBef>
                          <a:spcPct val="0"/>
                        </a:spcBef>
                        <a:spcAft>
                          <a:spcPct val="0"/>
                        </a:spcAft>
                      </a:pPr>
                      <a:r>
                        <a:rPr lang="en-US" altLang="zh-CN" sz="1800">
                          <a:ea typeface="SimSun" panose="02010600030101010101" pitchFamily="2" charset="-122"/>
                          <a:cs typeface="Arial" panose="020B0604020202020204" pitchFamily="34" charset="0"/>
                        </a:rPr>
                        <a:t>2.x</a:t>
                      </a:r>
                      <a:endParaRPr lang="en-US" altLang="zh-CN" sz="1800">
                        <a:ea typeface="SimSun" panose="02010600030101010101" pitchFamily="2" charset="-122"/>
                        <a:cs typeface="Arial" panose="020B0604020202020204" pitchFamily="34" charset="0"/>
                      </a:endParaRPr>
                    </a:p>
                  </a:txBody>
                  <a:tcPr marL="0" marR="0" marT="0" marB="0" anchor="ctr" anchorCtr="0">
                    <a:lnL>
                      <a:noFill/>
                    </a:lnL>
                    <a:lnR>
                      <a:noFill/>
                    </a:lnR>
                    <a:lnT>
                      <a:noFill/>
                    </a:lnT>
                    <a:lnB>
                      <a:noFill/>
                    </a:lnB>
                    <a:solidFill>
                      <a:schemeClr val="bg2">
                        <a:alpha val="22000"/>
                      </a:schemeClr>
                    </a:solidFill>
                  </a:tcPr>
                </a:tc>
              </a:tr>
              <a:tr h="438785">
                <a:tc>
                  <a:txBody>
                    <a:bodyPr/>
                    <a:p>
                      <a:pPr algn="ctr">
                        <a:lnSpc>
                          <a:spcPct val="150000"/>
                        </a:lnSpc>
                        <a:spcBef>
                          <a:spcPct val="0"/>
                        </a:spcBef>
                        <a:spcAft>
                          <a:spcPct val="0"/>
                        </a:spcAft>
                      </a:pPr>
                      <a:r>
                        <a:rPr lang="en-US" altLang="zh-CN" sz="1800">
                          <a:ea typeface="SimSun" panose="02010600030101010101" pitchFamily="2" charset="-122"/>
                          <a:cs typeface="Arial" panose="020B0604020202020204" pitchFamily="34" charset="0"/>
                        </a:rPr>
                        <a:t>Laravel</a:t>
                      </a:r>
                      <a:endParaRPr lang="en-US" altLang="zh-CN" sz="1800">
                        <a:ea typeface="SimSun" panose="02010600030101010101" pitchFamily="2" charset="-122"/>
                        <a:cs typeface="Arial" panose="020B0604020202020204" pitchFamily="34" charset="0"/>
                      </a:endParaRPr>
                    </a:p>
                  </a:txBody>
                  <a:tcPr marL="0" marR="0" marT="0" marB="0" anchor="ctr" anchorCtr="0">
                    <a:lnL>
                      <a:noFill/>
                    </a:lnL>
                    <a:lnR>
                      <a:noFill/>
                    </a:lnR>
                    <a:lnT>
                      <a:noFill/>
                    </a:lnT>
                    <a:lnB>
                      <a:noFill/>
                    </a:lnB>
                    <a:solidFill>
                      <a:schemeClr val="bg2">
                        <a:alpha val="22000"/>
                      </a:schemeClr>
                    </a:solidFill>
                  </a:tcPr>
                </a:tc>
                <a:tc>
                  <a:txBody>
                    <a:bodyPr/>
                    <a:p>
                      <a:pPr algn="ctr">
                        <a:lnSpc>
                          <a:spcPct val="150000"/>
                        </a:lnSpc>
                        <a:spcBef>
                          <a:spcPct val="0"/>
                        </a:spcBef>
                        <a:spcAft>
                          <a:spcPct val="0"/>
                        </a:spcAft>
                      </a:pPr>
                      <a:r>
                        <a:rPr lang="en-US" altLang="zh-CN" sz="1800">
                          <a:ea typeface="SimSun" panose="02010600030101010101" pitchFamily="2" charset="-122"/>
                          <a:cs typeface="Arial" panose="020B0604020202020204" pitchFamily="34" charset="0"/>
                        </a:rPr>
                        <a:t>12.x</a:t>
                      </a:r>
                      <a:endParaRPr lang="en-US" altLang="zh-CN" sz="1800">
                        <a:ea typeface="SimSun" panose="02010600030101010101" pitchFamily="2" charset="-122"/>
                        <a:cs typeface="Arial" panose="020B0604020202020204" pitchFamily="34" charset="0"/>
                      </a:endParaRPr>
                    </a:p>
                  </a:txBody>
                  <a:tcPr marL="0" marR="0" marT="0" marB="0" anchor="ctr" anchorCtr="0">
                    <a:lnL>
                      <a:noFill/>
                    </a:lnL>
                    <a:lnR>
                      <a:noFill/>
                    </a:lnR>
                    <a:lnT>
                      <a:noFill/>
                    </a:lnT>
                    <a:lnB>
                      <a:noFill/>
                    </a:lnB>
                    <a:solidFill>
                      <a:schemeClr val="bg2">
                        <a:alpha val="22000"/>
                      </a:schemeClr>
                    </a:solidFill>
                  </a:tcPr>
                </a:tc>
              </a:tr>
              <a:tr h="438785">
                <a:tc>
                  <a:txBody>
                    <a:bodyPr/>
                    <a:p>
                      <a:pPr algn="ctr">
                        <a:lnSpc>
                          <a:spcPct val="150000"/>
                        </a:lnSpc>
                        <a:spcBef>
                          <a:spcPct val="0"/>
                        </a:spcBef>
                        <a:spcAft>
                          <a:spcPct val="0"/>
                        </a:spcAft>
                      </a:pPr>
                      <a:r>
                        <a:rPr lang="en-US" altLang="zh-CN" sz="1800">
                          <a:ea typeface="SimSun" panose="02010600030101010101" pitchFamily="2" charset="-122"/>
                          <a:cs typeface="Arial" panose="020B0604020202020204" pitchFamily="34" charset="0"/>
                        </a:rPr>
                        <a:t>PHP-FPM</a:t>
                      </a:r>
                      <a:endParaRPr lang="en-US" altLang="zh-CN" sz="1800">
                        <a:ea typeface="SimSun" panose="02010600030101010101" pitchFamily="2" charset="-122"/>
                        <a:cs typeface="Arial" panose="020B0604020202020204" pitchFamily="34" charset="0"/>
                      </a:endParaRPr>
                    </a:p>
                  </a:txBody>
                  <a:tcPr marL="0" marR="0" marT="0" marB="0" anchor="ctr" anchorCtr="0">
                    <a:lnL>
                      <a:noFill/>
                    </a:lnL>
                    <a:lnR>
                      <a:noFill/>
                    </a:lnR>
                    <a:lnT>
                      <a:noFill/>
                    </a:lnT>
                    <a:lnB>
                      <a:noFill/>
                    </a:lnB>
                    <a:solidFill>
                      <a:schemeClr val="bg2">
                        <a:alpha val="22000"/>
                      </a:schemeClr>
                    </a:solidFill>
                  </a:tcPr>
                </a:tc>
                <a:tc>
                  <a:txBody>
                    <a:bodyPr/>
                    <a:p>
                      <a:pPr algn="ctr">
                        <a:lnSpc>
                          <a:spcPct val="150000"/>
                        </a:lnSpc>
                        <a:spcBef>
                          <a:spcPct val="0"/>
                        </a:spcBef>
                        <a:spcAft>
                          <a:spcPct val="0"/>
                        </a:spcAft>
                      </a:pPr>
                      <a:r>
                        <a:rPr lang="en-US" altLang="zh-CN" sz="1800">
                          <a:ea typeface="SimSun" panose="02010600030101010101" pitchFamily="2" charset="-122"/>
                          <a:cs typeface="Arial" panose="020B0604020202020204" pitchFamily="34" charset="0"/>
                        </a:rPr>
                        <a:t>8.5</a:t>
                      </a:r>
                      <a:endParaRPr lang="en-US" altLang="zh-CN" sz="1800">
                        <a:ea typeface="SimSun" panose="02010600030101010101" pitchFamily="2" charset="-122"/>
                        <a:cs typeface="Arial" panose="020B0604020202020204" pitchFamily="34" charset="0"/>
                      </a:endParaRPr>
                    </a:p>
                  </a:txBody>
                  <a:tcPr marL="0" marR="0" marT="0" marB="0" anchor="ctr" anchorCtr="0">
                    <a:lnL>
                      <a:noFill/>
                    </a:lnL>
                    <a:lnR>
                      <a:noFill/>
                    </a:lnR>
                    <a:lnT>
                      <a:noFill/>
                    </a:lnT>
                    <a:lnB>
                      <a:noFill/>
                    </a:lnB>
                    <a:solidFill>
                      <a:schemeClr val="bg2">
                        <a:alpha val="22000"/>
                      </a:schemeClr>
                    </a:solidFill>
                  </a:tcPr>
                </a:tc>
              </a:tr>
              <a:tr h="438785">
                <a:tc>
                  <a:txBody>
                    <a:bodyPr/>
                    <a:p>
                      <a:pPr algn="ctr">
                        <a:lnSpc>
                          <a:spcPct val="150000"/>
                        </a:lnSpc>
                        <a:spcBef>
                          <a:spcPct val="0"/>
                        </a:spcBef>
                        <a:spcAft>
                          <a:spcPct val="0"/>
                        </a:spcAft>
                      </a:pPr>
                      <a:r>
                        <a:rPr lang="en-US" altLang="zh-CN" sz="1800">
                          <a:ea typeface="SimSun" panose="02010600030101010101" pitchFamily="2" charset="-122"/>
                          <a:cs typeface="Arial" panose="020B0604020202020204" pitchFamily="34" charset="0"/>
                        </a:rPr>
                        <a:t>Nginx</a:t>
                      </a:r>
                      <a:endParaRPr lang="en-US" altLang="zh-CN" sz="1800">
                        <a:ea typeface="SimSun" panose="02010600030101010101" pitchFamily="2" charset="-122"/>
                        <a:cs typeface="Arial" panose="020B0604020202020204" pitchFamily="34" charset="0"/>
                      </a:endParaRPr>
                    </a:p>
                  </a:txBody>
                  <a:tcPr marL="0" marR="0" marT="0" marB="0" anchor="ctr" anchorCtr="0">
                    <a:lnL>
                      <a:noFill/>
                    </a:lnL>
                    <a:lnR>
                      <a:noFill/>
                    </a:lnR>
                    <a:lnT>
                      <a:noFill/>
                    </a:lnT>
                    <a:lnB>
                      <a:noFill/>
                    </a:lnB>
                    <a:solidFill>
                      <a:schemeClr val="bg2">
                        <a:alpha val="22000"/>
                      </a:schemeClr>
                    </a:solidFill>
                  </a:tcPr>
                </a:tc>
                <a:tc>
                  <a:txBody>
                    <a:bodyPr/>
                    <a:p>
                      <a:pPr algn="ctr">
                        <a:lnSpc>
                          <a:spcPct val="150000"/>
                        </a:lnSpc>
                        <a:spcBef>
                          <a:spcPct val="0"/>
                        </a:spcBef>
                        <a:spcAft>
                          <a:spcPct val="0"/>
                        </a:spcAft>
                      </a:pPr>
                      <a:r>
                        <a:rPr lang="en-US" altLang="zh-CN" sz="1800">
                          <a:ea typeface="SimSun" panose="02010600030101010101" pitchFamily="2" charset="-122"/>
                          <a:cs typeface="Arial" panose="020B0604020202020204" pitchFamily="34" charset="0"/>
                        </a:rPr>
                        <a:t>Latest</a:t>
                      </a:r>
                      <a:endParaRPr lang="en-US" altLang="zh-CN" sz="1800">
                        <a:ea typeface="SimSun" panose="02010600030101010101" pitchFamily="2" charset="-122"/>
                        <a:cs typeface="Arial" panose="020B0604020202020204" pitchFamily="34" charset="0"/>
                      </a:endParaRPr>
                    </a:p>
                  </a:txBody>
                  <a:tcPr marL="0" marR="0" marT="0" marB="0" anchor="ctr" anchorCtr="0">
                    <a:lnL>
                      <a:noFill/>
                    </a:lnL>
                    <a:lnR>
                      <a:noFill/>
                    </a:lnR>
                    <a:lnT>
                      <a:noFill/>
                    </a:lnT>
                    <a:lnB>
                      <a:noFill/>
                    </a:lnB>
                    <a:solidFill>
                      <a:schemeClr val="bg2">
                        <a:alpha val="22000"/>
                      </a:schemeClr>
                    </a:solidFill>
                  </a:tcPr>
                </a:tc>
              </a:tr>
              <a:tr h="438785">
                <a:tc>
                  <a:txBody>
                    <a:bodyPr/>
                    <a:p>
                      <a:pPr algn="ctr">
                        <a:lnSpc>
                          <a:spcPct val="150000"/>
                        </a:lnSpc>
                        <a:spcBef>
                          <a:spcPct val="0"/>
                        </a:spcBef>
                        <a:spcAft>
                          <a:spcPct val="0"/>
                        </a:spcAft>
                      </a:pPr>
                      <a:r>
                        <a:rPr lang="en-US" altLang="zh-CN" sz="1800">
                          <a:ea typeface="SimSun" panose="02010600030101010101" pitchFamily="2" charset="-122"/>
                          <a:cs typeface="Arial" panose="020B0604020202020204" pitchFamily="34" charset="0"/>
                        </a:rPr>
                        <a:t>PostgreSQL</a:t>
                      </a:r>
                      <a:endParaRPr lang="en-US" altLang="zh-CN" sz="1800">
                        <a:ea typeface="SimSun" panose="02010600030101010101" pitchFamily="2" charset="-122"/>
                        <a:cs typeface="Arial" panose="020B0604020202020204" pitchFamily="34" charset="0"/>
                      </a:endParaRPr>
                    </a:p>
                  </a:txBody>
                  <a:tcPr marL="0" marR="0" marT="0" marB="0" anchor="ctr" anchorCtr="0">
                    <a:lnL>
                      <a:noFill/>
                    </a:lnL>
                    <a:lnR>
                      <a:noFill/>
                    </a:lnR>
                    <a:lnT>
                      <a:noFill/>
                    </a:lnT>
                    <a:lnB>
                      <a:noFill/>
                    </a:lnB>
                    <a:solidFill>
                      <a:schemeClr val="bg2">
                        <a:alpha val="22000"/>
                      </a:schemeClr>
                    </a:solidFill>
                  </a:tcPr>
                </a:tc>
                <a:tc>
                  <a:txBody>
                    <a:bodyPr/>
                    <a:p>
                      <a:pPr algn="ctr">
                        <a:lnSpc>
                          <a:spcPct val="150000"/>
                        </a:lnSpc>
                        <a:spcBef>
                          <a:spcPct val="0"/>
                        </a:spcBef>
                        <a:spcAft>
                          <a:spcPct val="0"/>
                        </a:spcAft>
                      </a:pPr>
                      <a:r>
                        <a:rPr lang="en-US" altLang="zh-CN" sz="1800">
                          <a:ea typeface="SimSun" panose="02010600030101010101" pitchFamily="2" charset="-122"/>
                          <a:cs typeface="Arial" panose="020B0604020202020204" pitchFamily="34" charset="0"/>
                        </a:rPr>
                        <a:t>1</a:t>
                      </a:r>
                      <a:r>
                        <a:rPr lang="vi-VN" altLang="en-US" sz="1800">
                          <a:ea typeface="SimSun" panose="02010600030101010101" pitchFamily="2" charset="-122"/>
                          <a:cs typeface="Arial" panose="020B0604020202020204" pitchFamily="34" charset="0"/>
                        </a:rPr>
                        <a:t>6</a:t>
                      </a:r>
                      <a:endParaRPr lang="vi-VN" altLang="en-US" sz="1800">
                        <a:ea typeface="SimSun" panose="02010600030101010101" pitchFamily="2" charset="-122"/>
                        <a:cs typeface="Arial" panose="020B0604020202020204" pitchFamily="34" charset="0"/>
                      </a:endParaRPr>
                    </a:p>
                  </a:txBody>
                  <a:tcPr marL="0" marR="0" marT="0" marB="0" anchor="ctr" anchorCtr="0">
                    <a:lnL>
                      <a:noFill/>
                    </a:lnL>
                    <a:lnR>
                      <a:noFill/>
                    </a:lnR>
                    <a:lnT>
                      <a:noFill/>
                    </a:lnT>
                    <a:lnB>
                      <a:noFill/>
                    </a:lnB>
                    <a:solidFill>
                      <a:schemeClr val="bg2">
                        <a:alpha val="22000"/>
                      </a:schemeClr>
                    </a:solidFill>
                  </a:tcPr>
                </a:tc>
              </a:tr>
              <a:tr h="438785">
                <a:tc>
                  <a:txBody>
                    <a:bodyPr/>
                    <a:p>
                      <a:pPr algn="ctr">
                        <a:lnSpc>
                          <a:spcPct val="150000"/>
                        </a:lnSpc>
                        <a:spcBef>
                          <a:spcPct val="0"/>
                        </a:spcBef>
                        <a:spcAft>
                          <a:spcPct val="0"/>
                        </a:spcAft>
                      </a:pPr>
                      <a:r>
                        <a:rPr lang="en-US" altLang="zh-CN" sz="1800">
                          <a:ea typeface="SimSun" panose="02010600030101010101" pitchFamily="2" charset="-122"/>
                          <a:cs typeface="Arial" panose="020B0604020202020204" pitchFamily="34" charset="0"/>
                        </a:rPr>
                        <a:t>Hệ điều hành</a:t>
                      </a:r>
                      <a:endParaRPr lang="en-US" altLang="zh-CN" sz="1800">
                        <a:ea typeface="SimSun" panose="02010600030101010101" pitchFamily="2" charset="-122"/>
                        <a:cs typeface="Arial" panose="020B0604020202020204" pitchFamily="34" charset="0"/>
                      </a:endParaRPr>
                    </a:p>
                  </a:txBody>
                  <a:tcPr marL="0" marR="0" marT="0" marB="0" anchor="ctr" anchorCtr="0">
                    <a:lnL>
                      <a:noFill/>
                    </a:lnL>
                    <a:lnR>
                      <a:noFill/>
                    </a:lnR>
                    <a:lnT>
                      <a:noFill/>
                    </a:lnT>
                    <a:lnB>
                      <a:noFill/>
                    </a:lnB>
                    <a:solidFill>
                      <a:schemeClr val="bg2">
                        <a:alpha val="22000"/>
                      </a:schemeClr>
                    </a:solidFill>
                  </a:tcPr>
                </a:tc>
                <a:tc>
                  <a:txBody>
                    <a:bodyPr/>
                    <a:p>
                      <a:pPr algn="ctr">
                        <a:lnSpc>
                          <a:spcPct val="150000"/>
                        </a:lnSpc>
                        <a:spcBef>
                          <a:spcPct val="0"/>
                        </a:spcBef>
                        <a:spcAft>
                          <a:spcPct val="0"/>
                        </a:spcAft>
                      </a:pPr>
                      <a:r>
                        <a:rPr lang="en-US" altLang="zh-CN" sz="1800">
                          <a:ea typeface="SimSun" panose="02010600030101010101" pitchFamily="2" charset="-122"/>
                          <a:cs typeface="Arial" panose="020B0604020202020204" pitchFamily="34" charset="0"/>
                        </a:rPr>
                        <a:t>Windows 11</a:t>
                      </a:r>
                      <a:endParaRPr lang="en-US" altLang="zh-CN" sz="1800">
                        <a:ea typeface="SimSun" panose="02010600030101010101" pitchFamily="2" charset="-122"/>
                        <a:cs typeface="Arial" panose="020B0604020202020204" pitchFamily="34" charset="0"/>
                      </a:endParaRPr>
                    </a:p>
                  </a:txBody>
                  <a:tcPr marL="0" marR="0" marT="0" marB="0" anchor="ctr" anchorCtr="0">
                    <a:lnL>
                      <a:noFill/>
                    </a:lnL>
                    <a:lnR>
                      <a:noFill/>
                    </a:lnR>
                    <a:lnT>
                      <a:noFill/>
                    </a:lnT>
                    <a:lnB>
                      <a:noFill/>
                    </a:lnB>
                    <a:solidFill>
                      <a:schemeClr val="bg2">
                        <a:alpha val="22000"/>
                      </a:schemeClr>
                    </a:solidFill>
                  </a:tcPr>
                </a:tc>
              </a:tr>
            </a:tbl>
          </a:graphicData>
        </a:graphic>
      </p:graphicFrame>
      <p:sp>
        <p:nvSpPr>
          <p:cNvPr id="51" name="Rectangle 50"/>
          <p:cNvSpPr/>
          <p:nvPr/>
        </p:nvSpPr>
        <p:spPr>
          <a:xfrm>
            <a:off x="755650" y="53975"/>
            <a:ext cx="5699125" cy="762000"/>
          </a:xfrm>
          <a:prstGeom prst="rect">
            <a:avLst/>
          </a:prstGeom>
          <a:noFill/>
          <a:ln w="0">
            <a:noFill/>
          </a:ln>
        </p:spPr>
        <p:style>
          <a:lnRef idx="0">
            <a:srgbClr val="FFFFFF"/>
          </a:lnRef>
          <a:fillRef idx="0">
            <a:srgbClr val="FFFFFF"/>
          </a:fillRef>
          <a:effectRef idx="0">
            <a:srgbClr val="FFFFFF"/>
          </a:effectRef>
          <a:fontRef idx="minor"/>
        </p:style>
        <p:txBody>
          <a:bodyPr anchor="t">
            <a:noAutofit/>
          </a:bodyPr>
          <a:p>
            <a:pPr defTabSz="914400">
              <a:lnSpc>
                <a:spcPct val="100000"/>
              </a:lnSpc>
              <a:tabLst>
                <a:tab pos="0" algn="l"/>
              </a:tabLst>
            </a:pPr>
            <a:r>
              <a:rPr lang="en-US" altLang="vi-VN" sz="3000">
                <a:solidFill>
                  <a:srgbClr val="FFFFFF"/>
                </a:solidFill>
                <a:effectLst/>
                <a:uFillTx/>
                <a:latin typeface="Arial" panose="020B0604020202020204" pitchFamily="34" charset="0"/>
                <a:cs typeface="Arial" panose="020B0604020202020204" pitchFamily="34" charset="0"/>
                <a:sym typeface="+mn-ea"/>
              </a:rPr>
              <a:t>Ch</a:t>
            </a:r>
            <a:r>
              <a:rPr lang="vi-VN" altLang="en-US" sz="3000">
                <a:solidFill>
                  <a:srgbClr val="FFFFFF"/>
                </a:solidFill>
                <a:effectLst/>
                <a:uFillTx/>
                <a:latin typeface="Arial" panose="020B0604020202020204" pitchFamily="34" charset="0"/>
                <a:cs typeface="Arial" panose="020B0604020202020204" pitchFamily="34" charset="0"/>
                <a:sym typeface="+mn-ea"/>
              </a:rPr>
              <a:t>uẩn bị môi </a:t>
            </a:r>
            <a:r>
              <a:rPr lang="vi-VN" altLang="en-US" sz="3000">
                <a:solidFill>
                  <a:srgbClr val="FFFFFF"/>
                </a:solidFill>
                <a:effectLst/>
                <a:uFillTx/>
                <a:latin typeface="Arial" panose="020B0604020202020204" pitchFamily="34" charset="0"/>
                <a:cs typeface="Arial" panose="020B0604020202020204" pitchFamily="34" charset="0"/>
                <a:sym typeface="+mn-ea"/>
              </a:rPr>
              <a:t>trường:</a:t>
            </a:r>
            <a:endParaRPr lang="vi-VN" altLang="en-US" sz="3000">
              <a:solidFill>
                <a:srgbClr val="FFFFFF"/>
              </a:solidFill>
              <a:effectLst/>
              <a:uFillTx/>
              <a:latin typeface="Arial" panose="020B0604020202020204" pitchFamily="34" charset="0"/>
              <a:cs typeface="Arial" panose="020B0604020202020204" pitchFamily="34" charset="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55650" y="53975"/>
            <a:ext cx="5699125" cy="762000"/>
          </a:xfrm>
          <a:prstGeom prst="rect">
            <a:avLst/>
          </a:prstGeom>
          <a:noFill/>
          <a:ln w="0">
            <a:noFill/>
          </a:ln>
        </p:spPr>
        <p:style>
          <a:lnRef idx="0">
            <a:srgbClr val="FFFFFF"/>
          </a:lnRef>
          <a:fillRef idx="0">
            <a:srgbClr val="FFFFFF"/>
          </a:fillRef>
          <a:effectRef idx="0">
            <a:srgbClr val="FFFFFF"/>
          </a:effectRef>
          <a:fontRef idx="minor"/>
        </p:style>
        <p:txBody>
          <a:bodyPr anchor="t">
            <a:noAutofit/>
          </a:bodyPr>
          <a:p>
            <a:pPr defTabSz="914400">
              <a:lnSpc>
                <a:spcPct val="100000"/>
              </a:lnSpc>
              <a:tabLst>
                <a:tab pos="0" algn="l"/>
              </a:tabLst>
            </a:pPr>
            <a:r>
              <a:rPr lang="vi-VN" altLang="en-US" sz="3000">
                <a:solidFill>
                  <a:srgbClr val="FFFFFF"/>
                </a:solidFill>
                <a:effectLst/>
                <a:uFillTx/>
                <a:latin typeface="Arial" panose="020B0604020202020204" pitchFamily="34" charset="0"/>
                <a:cs typeface="Arial" panose="020B0604020202020204" pitchFamily="34" charset="0"/>
                <a:sym typeface="+mn-ea"/>
              </a:rPr>
              <a:t>Dockerfile &amp; Docker </a:t>
            </a:r>
            <a:r>
              <a:rPr lang="vi-VN" altLang="en-US" sz="3000">
                <a:solidFill>
                  <a:srgbClr val="FFFFFF"/>
                </a:solidFill>
                <a:effectLst/>
                <a:uFillTx/>
                <a:latin typeface="Arial" panose="020B0604020202020204" pitchFamily="34" charset="0"/>
                <a:cs typeface="Arial" panose="020B0604020202020204" pitchFamily="34" charset="0"/>
                <a:sym typeface="+mn-ea"/>
              </a:rPr>
              <a:t>Compose</a:t>
            </a:r>
            <a:endParaRPr lang="vi-VN" altLang="en-US" sz="3000">
              <a:solidFill>
                <a:srgbClr val="FFFFFF"/>
              </a:solidFill>
              <a:effectLst/>
              <a:uFillTx/>
              <a:latin typeface="Arial" panose="020B0604020202020204" pitchFamily="34" charset="0"/>
              <a:cs typeface="Arial" panose="020B0604020202020204" pitchFamily="34" charset="0"/>
              <a:sym typeface="+mn-ea"/>
            </a:endParaRPr>
          </a:p>
        </p:txBody>
      </p:sp>
      <p:sp>
        <p:nvSpPr>
          <p:cNvPr id="4" name="Rounded Rectangle 3"/>
          <p:cNvSpPr/>
          <p:nvPr/>
        </p:nvSpPr>
        <p:spPr>
          <a:xfrm>
            <a:off x="755650" y="627380"/>
            <a:ext cx="3876675" cy="4119245"/>
          </a:xfrm>
          <a:prstGeom prst="roundRect">
            <a:avLst>
              <a:gd name="adj" fmla="val 24632"/>
            </a:avLst>
          </a:prstGeom>
          <a:solidFill>
            <a:schemeClr val="bg1">
              <a:lumMod val="90000"/>
              <a:lumOff val="10000"/>
            </a:schemeClr>
          </a:solidFill>
        </p:spPr>
        <p:style>
          <a:lnRef idx="0">
            <a:srgbClr val="FFFFFF"/>
          </a:lnRef>
          <a:fillRef idx="1">
            <a:schemeClr val="accent3"/>
          </a:fillRef>
          <a:effectRef idx="0">
            <a:srgbClr val="FFFFFF"/>
          </a:effectRef>
          <a:fontRef idx="minor">
            <a:schemeClr val="dk1"/>
          </a:fontRef>
        </p:style>
        <p:txBody>
          <a:bodyPr anchor="t">
            <a:noAutofit/>
          </a:bodyPr>
          <a:p>
            <a:pPr defTabSz="914400">
              <a:lnSpc>
                <a:spcPct val="150000"/>
              </a:lnSpc>
              <a:tabLst>
                <a:tab pos="0" algn="l"/>
              </a:tabLst>
            </a:pPr>
            <a:r>
              <a:rPr lang="en-US" altLang="en-US" sz="1200" b="0" u="none" strike="noStrike">
                <a:solidFill>
                  <a:srgbClr val="FFFFFF"/>
                </a:solidFill>
                <a:effectLst/>
                <a:uFillTx/>
                <a:latin typeface="Arial" panose="020B0604020202020204" pitchFamily="34" charset="0"/>
                <a:cs typeface="Arial" panose="020B0604020202020204" pitchFamily="34" charset="0"/>
              </a:rPr>
              <a:t>Dockerfile thực hiện các nhiệm vụ sau: sử dụng PHP-FPM làm môi tr</a:t>
            </a:r>
            <a:r>
              <a:rPr lang="en-US" altLang="en-US" sz="1200" b="0" u="none" strike="noStrike">
                <a:solidFill>
                  <a:srgbClr val="FFFFFF"/>
                </a:solidFill>
                <a:effectLst/>
                <a:uFillTx/>
                <a:latin typeface="Arial" panose="020B0604020202020204" pitchFamily="34" charset="0"/>
                <a:cs typeface="Arial" panose="020B0604020202020204" pitchFamily="34" charset="0"/>
              </a:rPr>
              <a:t>ư</a:t>
            </a:r>
            <a:r>
              <a:rPr lang="en-US" altLang="en-US" sz="1200" b="0" u="none" strike="noStrike">
                <a:solidFill>
                  <a:srgbClr val="FFFFFF"/>
                </a:solidFill>
                <a:effectLst/>
                <a:uFillTx/>
                <a:latin typeface="Arial" panose="020B0604020202020204" pitchFamily="34" charset="0"/>
                <a:cs typeface="Arial" panose="020B0604020202020204" pitchFamily="34" charset="0"/>
              </a:rPr>
              <a:t>ờng thực thi, cài </a:t>
            </a:r>
            <a:r>
              <a:rPr lang="en-US" altLang="en-US" sz="1200" b="0" u="none" strike="noStrike">
                <a:solidFill>
                  <a:srgbClr val="FFFFFF"/>
                </a:solidFill>
                <a:effectLst/>
                <a:uFillTx/>
                <a:latin typeface="Arial" panose="020B0604020202020204" pitchFamily="34" charset="0"/>
                <a:cs typeface="Arial" panose="020B0604020202020204" pitchFamily="34" charset="0"/>
              </a:rPr>
              <a:t>đ</a:t>
            </a:r>
            <a:r>
              <a:rPr lang="en-US" altLang="en-US" sz="1200" b="0" u="none" strike="noStrike">
                <a:solidFill>
                  <a:srgbClr val="FFFFFF"/>
                </a:solidFill>
                <a:effectLst/>
                <a:uFillTx/>
                <a:latin typeface="Arial" panose="020B0604020202020204" pitchFamily="34" charset="0"/>
                <a:cs typeface="Arial" panose="020B0604020202020204" pitchFamily="34" charset="0"/>
              </a:rPr>
              <a:t>ặt th</a:t>
            </a:r>
            <a:r>
              <a:rPr lang="en-US" altLang="en-US" sz="1200" b="0" u="none" strike="noStrike">
                <a:solidFill>
                  <a:srgbClr val="FFFFFF"/>
                </a:solidFill>
                <a:effectLst/>
                <a:uFillTx/>
                <a:latin typeface="Arial" panose="020B0604020202020204" pitchFamily="34" charset="0"/>
                <a:cs typeface="Arial" panose="020B0604020202020204" pitchFamily="34" charset="0"/>
              </a:rPr>
              <a:t>ư </a:t>
            </a:r>
            <a:r>
              <a:rPr lang="en-US" altLang="en-US" sz="1200" b="0" u="none" strike="noStrike">
                <a:solidFill>
                  <a:srgbClr val="FFFFFF"/>
                </a:solidFill>
                <a:effectLst/>
                <a:uFillTx/>
                <a:latin typeface="Arial" panose="020B0604020202020204" pitchFamily="34" charset="0"/>
                <a:cs typeface="Arial" panose="020B0604020202020204" pitchFamily="34" charset="0"/>
              </a:rPr>
              <a:t>viện PostgreSQL </a:t>
            </a:r>
            <a:r>
              <a:rPr lang="en-US" altLang="en-US" sz="1200" b="0" u="none" strike="noStrike">
                <a:solidFill>
                  <a:srgbClr val="FFFFFF"/>
                </a:solidFill>
                <a:effectLst/>
                <a:uFillTx/>
                <a:latin typeface="Arial" panose="020B0604020202020204" pitchFamily="34" charset="0"/>
                <a:cs typeface="Arial" panose="020B0604020202020204" pitchFamily="34" charset="0"/>
              </a:rPr>
              <a:t>đ</a:t>
            </a:r>
            <a:r>
              <a:rPr lang="en-US" altLang="en-US" sz="1200" b="0" u="none" strike="noStrike">
                <a:solidFill>
                  <a:srgbClr val="FFFFFF"/>
                </a:solidFill>
                <a:effectLst/>
                <a:uFillTx/>
                <a:latin typeface="Arial" panose="020B0604020202020204" pitchFamily="34" charset="0"/>
                <a:cs typeface="Arial" panose="020B0604020202020204" pitchFamily="34" charset="0"/>
              </a:rPr>
              <a:t>ể ứng dụng có thể kết nối PostgreSQL, cài </a:t>
            </a:r>
            <a:r>
              <a:rPr lang="en-US" altLang="en-US" sz="1200" b="0" u="none" strike="noStrike">
                <a:solidFill>
                  <a:srgbClr val="FFFFFF"/>
                </a:solidFill>
                <a:effectLst/>
                <a:uFillTx/>
                <a:latin typeface="Arial" panose="020B0604020202020204" pitchFamily="34" charset="0"/>
                <a:cs typeface="Arial" panose="020B0604020202020204" pitchFamily="34" charset="0"/>
              </a:rPr>
              <a:t>đ</a:t>
            </a:r>
            <a:r>
              <a:rPr lang="en-US" altLang="en-US" sz="1200" b="0" u="none" strike="noStrike">
                <a:solidFill>
                  <a:srgbClr val="FFFFFF"/>
                </a:solidFill>
                <a:effectLst/>
                <a:uFillTx/>
                <a:latin typeface="Arial" panose="020B0604020202020204" pitchFamily="34" charset="0"/>
                <a:cs typeface="Arial" panose="020B0604020202020204" pitchFamily="34" charset="0"/>
              </a:rPr>
              <a:t>ặt Composer (công cụ quản l</a:t>
            </a:r>
            <a:r>
              <a:rPr lang="en-US" altLang="en-US" sz="1200" b="0" u="none" strike="noStrike">
                <a:solidFill>
                  <a:srgbClr val="FFFFFF"/>
                </a:solidFill>
                <a:effectLst/>
                <a:uFillTx/>
                <a:latin typeface="Arial" panose="020B0604020202020204" pitchFamily="34" charset="0"/>
                <a:cs typeface="Arial" panose="020B0604020202020204" pitchFamily="34" charset="0"/>
              </a:rPr>
              <a:t>ý </a:t>
            </a:r>
            <a:r>
              <a:rPr lang="en-US" altLang="en-US" sz="1200" b="0" u="none" strike="noStrike">
                <a:solidFill>
                  <a:srgbClr val="FFFFFF"/>
                </a:solidFill>
                <a:effectLst/>
                <a:uFillTx/>
                <a:latin typeface="Arial" panose="020B0604020202020204" pitchFamily="34" charset="0"/>
                <a:cs typeface="Arial" panose="020B0604020202020204" pitchFamily="34" charset="0"/>
              </a:rPr>
              <a:t>package PHP), sao chép mã nguồn Laravel vào container, cài </a:t>
            </a:r>
            <a:r>
              <a:rPr lang="en-US" altLang="en-US" sz="1200" b="0" u="none" strike="noStrike">
                <a:solidFill>
                  <a:srgbClr val="FFFFFF"/>
                </a:solidFill>
                <a:effectLst/>
                <a:uFillTx/>
                <a:latin typeface="Arial" panose="020B0604020202020204" pitchFamily="34" charset="0"/>
                <a:cs typeface="Arial" panose="020B0604020202020204" pitchFamily="34" charset="0"/>
              </a:rPr>
              <a:t>đ</a:t>
            </a:r>
            <a:r>
              <a:rPr lang="en-US" altLang="en-US" sz="1200" b="0" u="none" strike="noStrike">
                <a:solidFill>
                  <a:srgbClr val="FFFFFF"/>
                </a:solidFill>
                <a:effectLst/>
                <a:uFillTx/>
                <a:latin typeface="Arial" panose="020B0604020202020204" pitchFamily="34" charset="0"/>
                <a:cs typeface="Arial" panose="020B0604020202020204" pitchFamily="34" charset="0"/>
              </a:rPr>
              <a:t>ặt các package phụ thuộc, và khởi </a:t>
            </a:r>
            <a:r>
              <a:rPr lang="en-US" altLang="en-US" sz="1200" b="0" u="none" strike="noStrike">
                <a:solidFill>
                  <a:srgbClr val="FFFFFF"/>
                </a:solidFill>
                <a:effectLst/>
                <a:uFillTx/>
                <a:latin typeface="Arial" panose="020B0604020202020204" pitchFamily="34" charset="0"/>
                <a:cs typeface="Arial" panose="020B0604020202020204" pitchFamily="34" charset="0"/>
              </a:rPr>
              <a:t>đ</a:t>
            </a:r>
            <a:r>
              <a:rPr lang="en-US" altLang="en-US" sz="1200" b="0" u="none" strike="noStrike">
                <a:solidFill>
                  <a:srgbClr val="FFFFFF"/>
                </a:solidFill>
                <a:effectLst/>
                <a:uFillTx/>
                <a:latin typeface="Arial" panose="020B0604020202020204" pitchFamily="34" charset="0"/>
                <a:cs typeface="Arial" panose="020B0604020202020204" pitchFamily="34" charset="0"/>
              </a:rPr>
              <a:t>ộng PHP-FPM khi container chạy. Sau khi build thành công, Docker Image sẽ chứa </a:t>
            </a:r>
            <a:r>
              <a:rPr lang="en-US" altLang="en-US" sz="1200" b="0" u="none" strike="noStrike">
                <a:solidFill>
                  <a:srgbClr val="FFFFFF"/>
                </a:solidFill>
                <a:effectLst/>
                <a:uFillTx/>
                <a:latin typeface="Arial" panose="020B0604020202020204" pitchFamily="34" charset="0"/>
                <a:cs typeface="Arial" panose="020B0604020202020204" pitchFamily="34" charset="0"/>
              </a:rPr>
              <a:t>đ</a:t>
            </a:r>
            <a:r>
              <a:rPr lang="en-US" altLang="en-US" sz="1200" b="0" u="none" strike="noStrike">
                <a:solidFill>
                  <a:srgbClr val="FFFFFF"/>
                </a:solidFill>
                <a:effectLst/>
                <a:uFillTx/>
                <a:latin typeface="Arial" panose="020B0604020202020204" pitchFamily="34" charset="0"/>
                <a:cs typeface="Arial" panose="020B0604020202020204" pitchFamily="34" charset="0"/>
              </a:rPr>
              <a:t>ầy </a:t>
            </a:r>
            <a:r>
              <a:rPr lang="en-US" altLang="en-US" sz="1200" b="0" u="none" strike="noStrike">
                <a:solidFill>
                  <a:srgbClr val="FFFFFF"/>
                </a:solidFill>
                <a:effectLst/>
                <a:uFillTx/>
                <a:latin typeface="Arial" panose="020B0604020202020204" pitchFamily="34" charset="0"/>
                <a:cs typeface="Arial" panose="020B0604020202020204" pitchFamily="34" charset="0"/>
              </a:rPr>
              <a:t>đ</a:t>
            </a:r>
            <a:r>
              <a:rPr lang="en-US" altLang="en-US" sz="1200" b="0" u="none" strike="noStrike">
                <a:solidFill>
                  <a:srgbClr val="FFFFFF"/>
                </a:solidFill>
                <a:effectLst/>
                <a:uFillTx/>
                <a:latin typeface="Arial" panose="020B0604020202020204" pitchFamily="34" charset="0"/>
                <a:cs typeface="Arial" panose="020B0604020202020204" pitchFamily="34" charset="0"/>
              </a:rPr>
              <a:t>ủ môi tr</a:t>
            </a:r>
            <a:r>
              <a:rPr lang="en-US" altLang="en-US" sz="1200" b="0" u="none" strike="noStrike">
                <a:solidFill>
                  <a:srgbClr val="FFFFFF"/>
                </a:solidFill>
                <a:effectLst/>
                <a:uFillTx/>
                <a:latin typeface="Arial" panose="020B0604020202020204" pitchFamily="34" charset="0"/>
                <a:cs typeface="Arial" panose="020B0604020202020204" pitchFamily="34" charset="0"/>
              </a:rPr>
              <a:t>ư</a:t>
            </a:r>
            <a:r>
              <a:rPr lang="en-US" altLang="en-US" sz="1200" b="0" u="none" strike="noStrike">
                <a:solidFill>
                  <a:srgbClr val="FFFFFF"/>
                </a:solidFill>
                <a:effectLst/>
                <a:uFillTx/>
                <a:latin typeface="Arial" panose="020B0604020202020204" pitchFamily="34" charset="0"/>
                <a:cs typeface="Arial" panose="020B0604020202020204" pitchFamily="34" charset="0"/>
              </a:rPr>
              <a:t>ờng cần thiết </a:t>
            </a:r>
            <a:r>
              <a:rPr lang="en-US" altLang="en-US" sz="1200" b="0" u="none" strike="noStrike">
                <a:solidFill>
                  <a:srgbClr val="FFFFFF"/>
                </a:solidFill>
                <a:effectLst/>
                <a:uFillTx/>
                <a:latin typeface="Arial" panose="020B0604020202020204" pitchFamily="34" charset="0"/>
                <a:cs typeface="Arial" panose="020B0604020202020204" pitchFamily="34" charset="0"/>
              </a:rPr>
              <a:t>đ</a:t>
            </a:r>
            <a:r>
              <a:rPr lang="en-US" altLang="en-US" sz="1200" b="0" u="none" strike="noStrike">
                <a:solidFill>
                  <a:srgbClr val="FFFFFF"/>
                </a:solidFill>
                <a:effectLst/>
                <a:uFillTx/>
                <a:latin typeface="Arial" panose="020B0604020202020204" pitchFamily="34" charset="0"/>
                <a:cs typeface="Arial" panose="020B0604020202020204" pitchFamily="34" charset="0"/>
              </a:rPr>
              <a:t>ể vận hành ứng dụng Laravel.</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5650" y="53975"/>
            <a:ext cx="3876675" cy="762000"/>
          </a:xfrm>
          <a:prstGeom prst="rect">
            <a:avLst/>
          </a:prstGeom>
          <a:noFill/>
          <a:ln w="0">
            <a:noFill/>
          </a:ln>
        </p:spPr>
        <p:style>
          <a:lnRef idx="0">
            <a:srgbClr val="FFFFFF"/>
          </a:lnRef>
          <a:fillRef idx="0">
            <a:srgbClr val="FFFFFF"/>
          </a:fillRef>
          <a:effectRef idx="0">
            <a:srgbClr val="FFFFFF"/>
          </a:effectRef>
          <a:fontRef idx="minor"/>
        </p:style>
        <p:txBody>
          <a:bodyPr anchor="t">
            <a:noAutofit/>
          </a:bodyPr>
          <a:p>
            <a:pPr defTabSz="914400">
              <a:lnSpc>
                <a:spcPct val="100000"/>
              </a:lnSpc>
              <a:tabLst>
                <a:tab pos="0" algn="l"/>
              </a:tabLst>
            </a:pPr>
            <a:r>
              <a:rPr lang="vi-VN" altLang="en-US" sz="3000">
                <a:solidFill>
                  <a:srgbClr val="FFFFFF"/>
                </a:solidFill>
                <a:effectLst/>
                <a:uFillTx/>
                <a:latin typeface="Arial" panose="020B0604020202020204" pitchFamily="34" charset="0"/>
                <a:cs typeface="Arial" panose="020B0604020202020204" pitchFamily="34" charset="0"/>
                <a:sym typeface="+mn-ea"/>
              </a:rPr>
              <a:t>Triển khai hệ </a:t>
            </a:r>
            <a:r>
              <a:rPr lang="vi-VN" altLang="en-US" sz="3000">
                <a:solidFill>
                  <a:srgbClr val="FFFFFF"/>
                </a:solidFill>
                <a:effectLst/>
                <a:uFillTx/>
                <a:latin typeface="Arial" panose="020B0604020202020204" pitchFamily="34" charset="0"/>
                <a:cs typeface="Arial" panose="020B0604020202020204" pitchFamily="34" charset="0"/>
                <a:sym typeface="+mn-ea"/>
              </a:rPr>
              <a:t>thống</a:t>
            </a:r>
            <a:endParaRPr lang="vi-VN" altLang="en-US" sz="3000">
              <a:solidFill>
                <a:srgbClr val="FFFFFF"/>
              </a:solidFill>
              <a:effectLst/>
              <a:uFillTx/>
              <a:latin typeface="Arial" panose="020B0604020202020204" pitchFamily="34" charset="0"/>
              <a:cs typeface="Arial" panose="020B0604020202020204" pitchFamily="34" charset="0"/>
              <a:sym typeface="+mn-ea"/>
            </a:endParaRPr>
          </a:p>
        </p:txBody>
      </p:sp>
      <p:sp>
        <p:nvSpPr>
          <p:cNvPr id="3" name="Rounded Rectangle 2"/>
          <p:cNvSpPr/>
          <p:nvPr/>
        </p:nvSpPr>
        <p:spPr>
          <a:xfrm>
            <a:off x="755650" y="627380"/>
            <a:ext cx="3876675" cy="1377315"/>
          </a:xfrm>
          <a:prstGeom prst="roundRect">
            <a:avLst>
              <a:gd name="adj" fmla="val 24632"/>
            </a:avLst>
          </a:prstGeom>
          <a:solidFill>
            <a:schemeClr val="bg1">
              <a:lumMod val="90000"/>
              <a:lumOff val="10000"/>
            </a:schemeClr>
          </a:solidFill>
        </p:spPr>
        <p:style>
          <a:lnRef idx="0">
            <a:srgbClr val="FFFFFF"/>
          </a:lnRef>
          <a:fillRef idx="1">
            <a:schemeClr val="accent3"/>
          </a:fillRef>
          <a:effectRef idx="0">
            <a:srgbClr val="FFFFFF"/>
          </a:effectRef>
          <a:fontRef idx="minor">
            <a:schemeClr val="dk1"/>
          </a:fontRef>
        </p:style>
        <p:txBody>
          <a:bodyPr anchor="t">
            <a:noAutofit/>
          </a:bodyPr>
          <a:p>
            <a:pPr defTabSz="914400">
              <a:lnSpc>
                <a:spcPct val="150000"/>
              </a:lnSpc>
              <a:tabLst>
                <a:tab pos="0" algn="l"/>
              </a:tabLst>
            </a:pPr>
            <a:r>
              <a:rPr lang="vi-VN" altLang="en-US" sz="1200" b="0" u="none" strike="noStrike">
                <a:solidFill>
                  <a:srgbClr val="FFFFFF"/>
                </a:solidFill>
                <a:effectLst/>
                <a:uFillTx/>
                <a:latin typeface="Arial" panose="020B0604020202020204" pitchFamily="34" charset="0"/>
                <a:cs typeface="Arial" panose="020B0604020202020204" pitchFamily="34" charset="0"/>
              </a:rPr>
              <a:t>1. </a:t>
            </a:r>
            <a:r>
              <a:rPr lang="en-US" altLang="en-US" sz="1200" b="0" u="none" strike="noStrike">
                <a:solidFill>
                  <a:srgbClr val="FFFFFF"/>
                </a:solidFill>
                <a:effectLst/>
                <a:uFillTx/>
                <a:latin typeface="Arial" panose="020B0604020202020204" pitchFamily="34" charset="0"/>
                <a:cs typeface="Arial" panose="020B0604020202020204" pitchFamily="34" charset="0"/>
              </a:rPr>
              <a:t>Build images: docker compose up -d --build</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a:p>
            <a:pPr defTabSz="914400">
              <a:lnSpc>
                <a:spcPct val="150000"/>
              </a:lnSpc>
              <a:tabLst>
                <a:tab pos="0" algn="l"/>
              </a:tabLst>
            </a:pPr>
            <a:r>
              <a:rPr lang="en-US" altLang="en-US" sz="1200" b="0" u="none" strike="noStrike">
                <a:solidFill>
                  <a:srgbClr val="FFFFFF"/>
                </a:solidFill>
                <a:effectLst/>
                <a:uFillTx/>
                <a:latin typeface="Arial" panose="020B0604020202020204" pitchFamily="34" charset="0"/>
                <a:cs typeface="Arial" panose="020B0604020202020204" pitchFamily="34" charset="0"/>
              </a:rPr>
              <a:t>2. Kiểm tra container: docker ps</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a:p>
            <a:pPr defTabSz="914400">
              <a:lnSpc>
                <a:spcPct val="150000"/>
              </a:lnSpc>
              <a:tabLst>
                <a:tab pos="0" algn="l"/>
              </a:tabLst>
            </a:pPr>
            <a:r>
              <a:rPr lang="en-US" altLang="en-US" sz="1200" b="0" u="none" strike="noStrike">
                <a:solidFill>
                  <a:srgbClr val="FFFFFF"/>
                </a:solidFill>
                <a:effectLst/>
                <a:uFillTx/>
                <a:latin typeface="Arial" panose="020B0604020202020204" pitchFamily="34" charset="0"/>
                <a:cs typeface="Arial" panose="020B0604020202020204" pitchFamily="34" charset="0"/>
              </a:rPr>
              <a:t>3. Xem logs: docker logs &lt;container_name&gt;</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a:p>
            <a:pPr defTabSz="914400">
              <a:lnSpc>
                <a:spcPct val="150000"/>
              </a:lnSpc>
              <a:tabLst>
                <a:tab pos="0" algn="l"/>
              </a:tabLst>
            </a:pPr>
            <a:r>
              <a:rPr lang="en-US" altLang="en-US" sz="1200" b="0" u="none" strike="noStrike">
                <a:solidFill>
                  <a:srgbClr val="FFFFFF"/>
                </a:solidFill>
                <a:effectLst/>
                <a:uFillTx/>
                <a:latin typeface="Arial" panose="020B0604020202020204" pitchFamily="34" charset="0"/>
                <a:cs typeface="Arial" panose="020B0604020202020204" pitchFamily="34" charset="0"/>
              </a:rPr>
              <a:t>4. Kiểm tra kết nối: docker exec app ping db</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p:txBody>
      </p:sp>
      <p:sp>
        <p:nvSpPr>
          <p:cNvPr id="6" name="Rounded Rectangle 5"/>
          <p:cNvSpPr/>
          <p:nvPr/>
        </p:nvSpPr>
        <p:spPr>
          <a:xfrm>
            <a:off x="4917440" y="1728470"/>
            <a:ext cx="3876675" cy="1504315"/>
          </a:xfrm>
          <a:prstGeom prst="roundRect">
            <a:avLst>
              <a:gd name="adj" fmla="val 24632"/>
            </a:avLst>
          </a:prstGeom>
          <a:solidFill>
            <a:schemeClr val="bg1">
              <a:lumMod val="90000"/>
              <a:lumOff val="10000"/>
            </a:schemeClr>
          </a:solidFill>
        </p:spPr>
        <p:style>
          <a:lnRef idx="0">
            <a:srgbClr val="FFFFFF"/>
          </a:lnRef>
          <a:fillRef idx="1">
            <a:schemeClr val="accent3"/>
          </a:fillRef>
          <a:effectRef idx="0">
            <a:srgbClr val="FFFFFF"/>
          </a:effectRef>
          <a:fontRef idx="minor">
            <a:schemeClr val="dk1"/>
          </a:fontRef>
        </p:style>
        <p:txBody>
          <a:bodyPr anchor="t">
            <a:noAutofit/>
          </a:bodyPr>
          <a:p>
            <a:pPr defTabSz="914400">
              <a:lnSpc>
                <a:spcPct val="150000"/>
              </a:lnSpc>
              <a:tabLst>
                <a:tab pos="0" algn="l"/>
              </a:tabLst>
            </a:pPr>
            <a:r>
              <a:rPr lang="vi-VN" altLang="en-US" sz="1200" b="0" u="none" strike="noStrike">
                <a:solidFill>
                  <a:srgbClr val="FFFFFF"/>
                </a:solidFill>
                <a:effectLst/>
                <a:uFillTx/>
                <a:latin typeface="Arial" panose="020B0604020202020204" pitchFamily="34" charset="0"/>
                <a:cs typeface="Arial" panose="020B0604020202020204" pitchFamily="34" charset="0"/>
              </a:rPr>
              <a:t>- </a:t>
            </a:r>
            <a:r>
              <a:rPr lang="en-US" altLang="en-US" sz="1200" b="0" u="none" strike="noStrike">
                <a:solidFill>
                  <a:srgbClr val="FFFFFF"/>
                </a:solidFill>
                <a:effectLst/>
                <a:uFillTx/>
                <a:latin typeface="Arial" panose="020B0604020202020204" pitchFamily="34" charset="0"/>
                <a:cs typeface="Arial" panose="020B0604020202020204" pitchFamily="34" charset="0"/>
              </a:rPr>
              <a:t>Truy cập Nginx: http://localhost</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a:p>
            <a:pPr defTabSz="914400">
              <a:lnSpc>
                <a:spcPct val="150000"/>
              </a:lnSpc>
              <a:tabLst>
                <a:tab pos="0" algn="l"/>
              </a:tabLst>
            </a:pPr>
            <a:r>
              <a:rPr lang="vi-VN" altLang="en-US" sz="1200" b="0" u="none" strike="noStrike">
                <a:solidFill>
                  <a:srgbClr val="FFFFFF"/>
                </a:solidFill>
                <a:effectLst/>
                <a:uFillTx/>
                <a:latin typeface="Arial" panose="020B0604020202020204" pitchFamily="34" charset="0"/>
                <a:cs typeface="Arial" panose="020B0604020202020204" pitchFamily="34" charset="0"/>
              </a:rPr>
              <a:t>- </a:t>
            </a:r>
            <a:r>
              <a:rPr lang="en-US" altLang="en-US" sz="1200" b="0" u="none" strike="noStrike">
                <a:solidFill>
                  <a:srgbClr val="FFFFFF"/>
                </a:solidFill>
                <a:effectLst/>
                <a:uFillTx/>
                <a:latin typeface="Arial" panose="020B0604020202020204" pitchFamily="34" charset="0"/>
                <a:cs typeface="Arial" panose="020B0604020202020204" pitchFamily="34" charset="0"/>
              </a:rPr>
              <a:t> Kiểm tra PHP: Chạy info.php</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a:p>
            <a:pPr defTabSz="914400">
              <a:lnSpc>
                <a:spcPct val="150000"/>
              </a:lnSpc>
              <a:tabLst>
                <a:tab pos="0" algn="l"/>
              </a:tabLst>
            </a:pPr>
            <a:r>
              <a:rPr lang="vi-VN" altLang="en-US" sz="1200" b="0" u="none" strike="noStrike">
                <a:solidFill>
                  <a:srgbClr val="FFFFFF"/>
                </a:solidFill>
                <a:effectLst/>
                <a:uFillTx/>
                <a:latin typeface="Arial" panose="020B0604020202020204" pitchFamily="34" charset="0"/>
                <a:cs typeface="Arial" panose="020B0604020202020204" pitchFamily="34" charset="0"/>
              </a:rPr>
              <a:t>- </a:t>
            </a:r>
            <a:r>
              <a:rPr lang="en-US" altLang="en-US" sz="1200" b="0" u="none" strike="noStrike">
                <a:solidFill>
                  <a:srgbClr val="FFFFFF"/>
                </a:solidFill>
                <a:effectLst/>
                <a:uFillTx/>
                <a:latin typeface="Arial" panose="020B0604020202020204" pitchFamily="34" charset="0"/>
                <a:cs typeface="Arial" panose="020B0604020202020204" pitchFamily="34" charset="0"/>
              </a:rPr>
              <a:t>Kiểm tra DB: Connect từ app</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p:txBody>
      </p:sp>
      <p:sp>
        <p:nvSpPr>
          <p:cNvPr id="7" name="Rounded Rectangle 6"/>
          <p:cNvSpPr/>
          <p:nvPr/>
        </p:nvSpPr>
        <p:spPr>
          <a:xfrm>
            <a:off x="755650" y="3026410"/>
            <a:ext cx="3876675" cy="1410335"/>
          </a:xfrm>
          <a:prstGeom prst="roundRect">
            <a:avLst>
              <a:gd name="adj" fmla="val 24632"/>
            </a:avLst>
          </a:prstGeom>
          <a:solidFill>
            <a:schemeClr val="bg1">
              <a:lumMod val="90000"/>
              <a:lumOff val="10000"/>
            </a:schemeClr>
          </a:solidFill>
        </p:spPr>
        <p:style>
          <a:lnRef idx="0">
            <a:srgbClr val="FFFFFF"/>
          </a:lnRef>
          <a:fillRef idx="1">
            <a:schemeClr val="accent3"/>
          </a:fillRef>
          <a:effectRef idx="0">
            <a:srgbClr val="FFFFFF"/>
          </a:effectRef>
          <a:fontRef idx="minor">
            <a:schemeClr val="dk1"/>
          </a:fontRef>
        </p:style>
        <p:txBody>
          <a:bodyPr anchor="t">
            <a:noAutofit/>
          </a:bodyPr>
          <a:p>
            <a:pPr defTabSz="914400">
              <a:lnSpc>
                <a:spcPct val="150000"/>
              </a:lnSpc>
              <a:tabLst>
                <a:tab pos="0" algn="l"/>
              </a:tabLst>
            </a:pPr>
            <a:r>
              <a:rPr lang="vi-VN" altLang="en-US" sz="1200" b="0" u="none" strike="noStrike">
                <a:solidFill>
                  <a:srgbClr val="FFFFFF"/>
                </a:solidFill>
                <a:effectLst/>
                <a:uFillTx/>
                <a:latin typeface="Arial" panose="020B0604020202020204" pitchFamily="34" charset="0"/>
                <a:cs typeface="Arial" panose="020B0604020202020204" pitchFamily="34" charset="0"/>
              </a:rPr>
              <a:t>- </a:t>
            </a:r>
            <a:r>
              <a:rPr lang="en-US" altLang="en-US" sz="1200" b="0" u="none" strike="noStrike">
                <a:solidFill>
                  <a:srgbClr val="FFFFFF"/>
                </a:solidFill>
                <a:effectLst/>
                <a:uFillTx/>
                <a:latin typeface="Arial" panose="020B0604020202020204" pitchFamily="34" charset="0"/>
                <a:cs typeface="Arial" panose="020B0604020202020204" pitchFamily="34" charset="0"/>
              </a:rPr>
              <a:t> Tất cả container ở trạng thái "Up"</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a:p>
            <a:pPr defTabSz="914400">
              <a:lnSpc>
                <a:spcPct val="150000"/>
              </a:lnSpc>
              <a:tabLst>
                <a:tab pos="0" algn="l"/>
              </a:tabLst>
            </a:pPr>
            <a:r>
              <a:rPr lang="vi-VN" altLang="en-US" sz="1200" b="0" u="none" strike="noStrike">
                <a:solidFill>
                  <a:srgbClr val="FFFFFF"/>
                </a:solidFill>
                <a:effectLst/>
                <a:uFillTx/>
                <a:latin typeface="Arial" panose="020B0604020202020204" pitchFamily="34" charset="0"/>
                <a:cs typeface="Arial" panose="020B0604020202020204" pitchFamily="34" charset="0"/>
              </a:rPr>
              <a:t>- </a:t>
            </a:r>
            <a:r>
              <a:rPr lang="en-US" altLang="en-US" sz="1200" b="0" u="none" strike="noStrike">
                <a:solidFill>
                  <a:srgbClr val="FFFFFF"/>
                </a:solidFill>
                <a:effectLst/>
                <a:uFillTx/>
                <a:latin typeface="Arial" panose="020B0604020202020204" pitchFamily="34" charset="0"/>
                <a:cs typeface="Arial" panose="020B0604020202020204" pitchFamily="34" charset="0"/>
              </a:rPr>
              <a:t> Không có lỗi startup</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a:p>
            <a:pPr defTabSz="914400">
              <a:lnSpc>
                <a:spcPct val="150000"/>
              </a:lnSpc>
              <a:tabLst>
                <a:tab pos="0" algn="l"/>
              </a:tabLst>
            </a:pPr>
            <a:r>
              <a:rPr lang="vi-VN" altLang="en-US" sz="1200" b="0" u="none" strike="noStrike">
                <a:solidFill>
                  <a:srgbClr val="FFFFFF"/>
                </a:solidFill>
                <a:effectLst/>
                <a:uFillTx/>
                <a:latin typeface="Arial" panose="020B0604020202020204" pitchFamily="34" charset="0"/>
                <a:cs typeface="Arial" panose="020B0604020202020204" pitchFamily="34" charset="0"/>
              </a:rPr>
              <a:t>- </a:t>
            </a:r>
            <a:r>
              <a:rPr lang="en-US" altLang="en-US" sz="1200" b="0" u="none" strike="noStrike">
                <a:solidFill>
                  <a:srgbClr val="FFFFFF"/>
                </a:solidFill>
                <a:effectLst/>
                <a:uFillTx/>
                <a:latin typeface="Arial" panose="020B0604020202020204" pitchFamily="34" charset="0"/>
                <a:cs typeface="Arial" panose="020B0604020202020204" pitchFamily="34" charset="0"/>
              </a:rPr>
              <a:t> 3 container liên lạc </a:t>
            </a:r>
            <a:r>
              <a:rPr lang="en-US" altLang="en-US" sz="1200" b="0" u="none" strike="noStrike">
                <a:solidFill>
                  <a:srgbClr val="FFFFFF"/>
                </a:solidFill>
                <a:effectLst/>
                <a:uFillTx/>
                <a:latin typeface="Arial" panose="020B0604020202020204" pitchFamily="34" charset="0"/>
                <a:cs typeface="Arial" panose="020B0604020202020204" pitchFamily="34" charset="0"/>
              </a:rPr>
              <a:t>đư</a:t>
            </a:r>
            <a:r>
              <a:rPr lang="en-US" altLang="en-US" sz="1200" b="0" u="none" strike="noStrike">
                <a:solidFill>
                  <a:srgbClr val="FFFFFF"/>
                </a:solidFill>
                <a:effectLst/>
                <a:uFillTx/>
                <a:latin typeface="Arial" panose="020B0604020202020204" pitchFamily="34" charset="0"/>
                <a:cs typeface="Arial" panose="020B0604020202020204" pitchFamily="34" charset="0"/>
              </a:rPr>
              <a:t>ợc với nhau</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p:cNvSpPr/>
          <p:nvPr/>
        </p:nvSpPr>
        <p:spPr>
          <a:xfrm>
            <a:off x="619200" y="619200"/>
            <a:ext cx="2142720" cy="914040"/>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defTabSz="914400">
              <a:lnSpc>
                <a:spcPct val="100000"/>
              </a:lnSpc>
              <a:tabLst>
                <a:tab pos="0" algn="l"/>
              </a:tabLst>
            </a:pPr>
            <a:r>
              <a:rPr lang="en-US" sz="5000" b="0" u="none" strike="noStrike">
                <a:solidFill>
                  <a:srgbClr val="FFFFFF"/>
                </a:solidFill>
                <a:effectLst/>
                <a:uFillTx/>
                <a:latin typeface="Montserrat"/>
              </a:rPr>
              <a:t>0</a:t>
            </a:r>
            <a:r>
              <a:rPr lang="vi-VN" altLang="en-US" sz="5000" b="0" u="none" strike="noStrike">
                <a:solidFill>
                  <a:srgbClr val="FFFFFF"/>
                </a:solidFill>
                <a:effectLst/>
                <a:uFillTx/>
                <a:latin typeface="Montserrat"/>
              </a:rPr>
              <a:t>3</a:t>
            </a:r>
            <a:endParaRPr lang="vi-VN" altLang="en-US" sz="5000" b="0" u="none" strike="noStrike">
              <a:solidFill>
                <a:srgbClr val="FFFFFF"/>
              </a:solidFill>
              <a:effectLst/>
              <a:uFillTx/>
              <a:latin typeface="Montserrat"/>
            </a:endParaRPr>
          </a:p>
        </p:txBody>
      </p:sp>
      <p:sp>
        <p:nvSpPr>
          <p:cNvPr id="44" name="Rectangle 43"/>
          <p:cNvSpPr/>
          <p:nvPr/>
        </p:nvSpPr>
        <p:spPr>
          <a:xfrm>
            <a:off x="619125" y="1428750"/>
            <a:ext cx="5509260" cy="2345690"/>
          </a:xfrm>
          <a:prstGeom prst="rect">
            <a:avLst/>
          </a:prstGeom>
          <a:noFill/>
          <a:ln w="0">
            <a:noFill/>
          </a:ln>
        </p:spPr>
        <p:style>
          <a:lnRef idx="0">
            <a:srgbClr val="FFFFFF"/>
          </a:lnRef>
          <a:fillRef idx="0">
            <a:srgbClr val="FFFFFF"/>
          </a:fillRef>
          <a:effectRef idx="0">
            <a:srgbClr val="FFFFFF"/>
          </a:effectRef>
          <a:fontRef idx="minor"/>
        </p:style>
        <p:txBody>
          <a:bodyPr anchor="t">
            <a:normAutofit lnSpcReduction="9999"/>
          </a:bodyPr>
          <a:p>
            <a:pPr defTabSz="914400">
              <a:lnSpc>
                <a:spcPct val="100000"/>
              </a:lnSpc>
              <a:tabLst>
                <a:tab pos="0" algn="l"/>
              </a:tabLst>
            </a:pPr>
            <a:r>
              <a:rPr lang="vi-VN" altLang="en-US" sz="4000" b="0" u="none" strike="noStrike">
                <a:solidFill>
                  <a:srgbClr val="FFFFFF"/>
                </a:solidFill>
                <a:effectLst/>
                <a:uFillTx/>
                <a:latin typeface="Montserrat"/>
              </a:rPr>
              <a:t>Phân tích rủi </a:t>
            </a:r>
            <a:r>
              <a:rPr lang="en-US" altLang="vi-VN" sz="4000" b="0" u="none" strike="noStrike">
                <a:solidFill>
                  <a:srgbClr val="FFFFFF"/>
                </a:solidFill>
                <a:effectLst/>
                <a:uFillTx/>
                <a:latin typeface="Montserrat"/>
              </a:rPr>
              <a:t>ro</a:t>
            </a:r>
            <a:endParaRPr lang="en-US" altLang="vi-VN" sz="4000" b="0" u="none" strike="noStrike">
              <a:solidFill>
                <a:srgbClr val="FFFFFF"/>
              </a:solidFill>
              <a:effectLst/>
              <a:uFillTx/>
              <a:latin typeface="Montserrat"/>
            </a:endParaRPr>
          </a:p>
        </p:txBody>
      </p:sp>
      <p:sp>
        <p:nvSpPr>
          <p:cNvPr id="45" name="Rectangle 44"/>
          <p:cNvSpPr/>
          <p:nvPr/>
        </p:nvSpPr>
        <p:spPr>
          <a:xfrm>
            <a:off x="619200" y="3333600"/>
            <a:ext cx="3476160" cy="456840"/>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defTabSz="914400">
              <a:lnSpc>
                <a:spcPct val="150000"/>
              </a:lnSpc>
              <a:tabLst>
                <a:tab pos="0" algn="l"/>
              </a:tabLst>
            </a:pPr>
            <a:endParaRPr lang="en-US" sz="1800" b="0" u="none" strike="noStrike">
              <a:solidFill>
                <a:srgbClr val="FFFFFF"/>
              </a:solidFill>
              <a:effectLst/>
              <a:uFillTx/>
              <a:latin typeface="OpenSymbol" panose="0501000000000000000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5650" y="53975"/>
            <a:ext cx="7218045" cy="762000"/>
          </a:xfrm>
          <a:prstGeom prst="rect">
            <a:avLst/>
          </a:prstGeom>
          <a:noFill/>
          <a:ln w="0">
            <a:noFill/>
          </a:ln>
        </p:spPr>
        <p:style>
          <a:lnRef idx="0">
            <a:srgbClr val="FFFFFF"/>
          </a:lnRef>
          <a:fillRef idx="0">
            <a:srgbClr val="FFFFFF"/>
          </a:fillRef>
          <a:effectRef idx="0">
            <a:srgbClr val="FFFFFF"/>
          </a:effectRef>
          <a:fontRef idx="minor"/>
        </p:style>
        <p:txBody>
          <a:bodyPr anchor="t">
            <a:noAutofit/>
          </a:bodyPr>
          <a:p>
            <a:pPr defTabSz="914400">
              <a:lnSpc>
                <a:spcPct val="100000"/>
              </a:lnSpc>
              <a:tabLst>
                <a:tab pos="0" algn="l"/>
              </a:tabLst>
            </a:pPr>
            <a:r>
              <a:rPr lang="vi-VN" altLang="en-US" sz="3000">
                <a:solidFill>
                  <a:srgbClr val="FFFFFF"/>
                </a:solidFill>
                <a:effectLst/>
                <a:uFillTx/>
                <a:latin typeface="Arial" panose="020B0604020202020204" pitchFamily="34" charset="0"/>
                <a:cs typeface="Arial" panose="020B0604020202020204" pitchFamily="34" charset="0"/>
                <a:sym typeface="+mn-ea"/>
              </a:rPr>
              <a:t>Các lổ hỏng cấu hình </a:t>
            </a:r>
            <a:r>
              <a:rPr lang="vi-VN" altLang="en-US" sz="3000">
                <a:solidFill>
                  <a:srgbClr val="FFFFFF"/>
                </a:solidFill>
                <a:effectLst/>
                <a:uFillTx/>
                <a:latin typeface="Arial" panose="020B0604020202020204" pitchFamily="34" charset="0"/>
                <a:cs typeface="Arial" panose="020B0604020202020204" pitchFamily="34" charset="0"/>
                <a:sym typeface="+mn-ea"/>
              </a:rPr>
              <a:t>phổ biến</a:t>
            </a:r>
            <a:endParaRPr lang="vi-VN" altLang="en-US" sz="3000">
              <a:solidFill>
                <a:srgbClr val="FFFFFF"/>
              </a:solidFill>
              <a:effectLst/>
              <a:uFillTx/>
              <a:latin typeface="Arial" panose="020B0604020202020204" pitchFamily="34" charset="0"/>
              <a:cs typeface="Arial" panose="020B0604020202020204" pitchFamily="34" charset="0"/>
              <a:sym typeface="+mn-ea"/>
            </a:endParaRPr>
          </a:p>
        </p:txBody>
      </p:sp>
      <p:sp>
        <p:nvSpPr>
          <p:cNvPr id="3" name="Rounded Rectangle 2"/>
          <p:cNvSpPr/>
          <p:nvPr/>
        </p:nvSpPr>
        <p:spPr>
          <a:xfrm>
            <a:off x="614045" y="1000125"/>
            <a:ext cx="3808730" cy="1666875"/>
          </a:xfrm>
          <a:prstGeom prst="roundRect">
            <a:avLst>
              <a:gd name="adj" fmla="val 24632"/>
            </a:avLst>
          </a:prstGeom>
          <a:solidFill>
            <a:schemeClr val="bg1">
              <a:lumMod val="90000"/>
              <a:lumOff val="10000"/>
            </a:schemeClr>
          </a:solidFill>
        </p:spPr>
        <p:style>
          <a:lnRef idx="0">
            <a:srgbClr val="FFFFFF"/>
          </a:lnRef>
          <a:fillRef idx="1">
            <a:schemeClr val="accent3"/>
          </a:fillRef>
          <a:effectRef idx="0">
            <a:srgbClr val="FFFFFF"/>
          </a:effectRef>
          <a:fontRef idx="minor">
            <a:schemeClr val="dk1"/>
          </a:fontRef>
        </p:style>
        <p:txBody>
          <a:bodyPr anchor="t">
            <a:noAutofit/>
          </a:bodyPr>
          <a:p>
            <a:pPr defTabSz="914400">
              <a:lnSpc>
                <a:spcPct val="150000"/>
              </a:lnSpc>
              <a:tabLst>
                <a:tab pos="0" algn="l"/>
              </a:tabLst>
            </a:pPr>
            <a:r>
              <a:rPr lang="en-US" altLang="en-US" sz="1600" b="0" u="none" strike="noStrike">
                <a:solidFill>
                  <a:srgbClr val="FFFFFF"/>
                </a:solidFill>
                <a:effectLst/>
                <a:uFillTx/>
                <a:latin typeface="Arial" panose="020B0604020202020204" pitchFamily="34" charset="0"/>
                <a:cs typeface="Arial" panose="020B0604020202020204" pitchFamily="34" charset="0"/>
              </a:rPr>
              <a:t>PostgreSQL Exposure</a:t>
            </a:r>
            <a:endParaRPr lang="en-US" altLang="en-US" sz="1600" b="0" u="none" strike="noStrike">
              <a:solidFill>
                <a:srgbClr val="FFFFFF"/>
              </a:solidFill>
              <a:effectLst/>
              <a:uFillTx/>
              <a:latin typeface="Arial" panose="020B0604020202020204" pitchFamily="34" charset="0"/>
              <a:cs typeface="Arial" panose="020B0604020202020204" pitchFamily="34" charset="0"/>
            </a:endParaRPr>
          </a:p>
          <a:p>
            <a:pPr indent="457200" defTabSz="914400">
              <a:lnSpc>
                <a:spcPct val="150000"/>
              </a:lnSpc>
              <a:tabLst>
                <a:tab pos="0" algn="l"/>
              </a:tabLst>
            </a:pPr>
            <a:r>
              <a:rPr lang="en-US" altLang="en-US" sz="1200" b="0" u="none" strike="noStrike">
                <a:solidFill>
                  <a:srgbClr val="FFFFFF"/>
                </a:solidFill>
                <a:effectLst/>
                <a:uFillTx/>
                <a:latin typeface="Arial" panose="020B0604020202020204" pitchFamily="34" charset="0"/>
                <a:cs typeface="Arial" panose="020B0604020202020204" pitchFamily="34" charset="0"/>
              </a:rPr>
              <a:t>Công khai cổng 5432 ra Internet</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a:p>
            <a:pPr indent="457200" defTabSz="914400">
              <a:lnSpc>
                <a:spcPct val="150000"/>
              </a:lnSpc>
              <a:tabLst>
                <a:tab pos="0" algn="l"/>
              </a:tabLst>
            </a:pPr>
            <a:r>
              <a:rPr lang="en-US" altLang="en-US" sz="1200" b="0" u="none" strike="noStrike">
                <a:solidFill>
                  <a:srgbClr val="FFFFFF"/>
                </a:solidFill>
                <a:effectLst/>
                <a:uFillTx/>
                <a:latin typeface="Arial" panose="020B0604020202020204" pitchFamily="34" charset="0"/>
                <a:cs typeface="Arial" panose="020B0604020202020204" pitchFamily="34" charset="0"/>
              </a:rPr>
              <a:t>Rủi ro: Truy cập trái phép, </a:t>
            </a:r>
            <a:r>
              <a:rPr lang="en-US" altLang="en-US" sz="1200" b="0" u="none" strike="noStrike">
                <a:solidFill>
                  <a:srgbClr val="FFFFFF"/>
                </a:solidFill>
                <a:effectLst/>
                <a:uFillTx/>
                <a:latin typeface="Arial" panose="020B0604020202020204" pitchFamily="34" charset="0"/>
                <a:cs typeface="Arial" panose="020B0604020202020204" pitchFamily="34" charset="0"/>
              </a:rPr>
              <a:t>đ</a:t>
            </a:r>
            <a:r>
              <a:rPr lang="en-US" altLang="en-US" sz="1200" b="0" u="none" strike="noStrike">
                <a:solidFill>
                  <a:srgbClr val="FFFFFF"/>
                </a:solidFill>
                <a:effectLst/>
                <a:uFillTx/>
                <a:latin typeface="Arial" panose="020B0604020202020204" pitchFamily="34" charset="0"/>
                <a:cs typeface="Arial" panose="020B0604020202020204" pitchFamily="34" charset="0"/>
              </a:rPr>
              <a:t>ánh cắp dữ liệu</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p:txBody>
      </p:sp>
      <p:sp>
        <p:nvSpPr>
          <p:cNvPr id="9" name="Rounded Rectangle 8"/>
          <p:cNvSpPr/>
          <p:nvPr/>
        </p:nvSpPr>
        <p:spPr>
          <a:xfrm>
            <a:off x="4572000" y="1000125"/>
            <a:ext cx="3932555" cy="1666875"/>
          </a:xfrm>
          <a:prstGeom prst="roundRect">
            <a:avLst>
              <a:gd name="adj" fmla="val 24632"/>
            </a:avLst>
          </a:prstGeom>
          <a:solidFill>
            <a:schemeClr val="bg1">
              <a:lumMod val="90000"/>
              <a:lumOff val="10000"/>
            </a:schemeClr>
          </a:solidFill>
        </p:spPr>
        <p:style>
          <a:lnRef idx="0">
            <a:srgbClr val="FFFFFF"/>
          </a:lnRef>
          <a:fillRef idx="1">
            <a:schemeClr val="accent3"/>
          </a:fillRef>
          <a:effectRef idx="0">
            <a:srgbClr val="FFFFFF"/>
          </a:effectRef>
          <a:fontRef idx="minor">
            <a:schemeClr val="dk1"/>
          </a:fontRef>
        </p:style>
        <p:txBody>
          <a:bodyPr anchor="t">
            <a:noAutofit/>
          </a:bodyPr>
          <a:p>
            <a:pPr defTabSz="914400">
              <a:lnSpc>
                <a:spcPct val="150000"/>
              </a:lnSpc>
              <a:tabLst>
                <a:tab pos="0" algn="l"/>
              </a:tabLst>
            </a:pPr>
            <a:r>
              <a:rPr lang="en-US" altLang="en-US" sz="1600" b="0" u="none" strike="noStrike">
                <a:solidFill>
                  <a:srgbClr val="FFFFFF"/>
                </a:solidFill>
                <a:effectLst/>
                <a:uFillTx/>
                <a:latin typeface="Arial" panose="020B0604020202020204" pitchFamily="34" charset="0"/>
                <a:cs typeface="Arial" panose="020B0604020202020204" pitchFamily="34" charset="0"/>
              </a:rPr>
              <a:t>Docker Socket Exposure</a:t>
            </a:r>
            <a:endParaRPr lang="en-US" altLang="en-US" sz="1600" b="0" u="none" strike="noStrike">
              <a:solidFill>
                <a:srgbClr val="FFFFFF"/>
              </a:solidFill>
              <a:effectLst/>
              <a:uFillTx/>
              <a:latin typeface="Arial" panose="020B0604020202020204" pitchFamily="34" charset="0"/>
              <a:cs typeface="Arial" panose="020B0604020202020204" pitchFamily="34" charset="0"/>
            </a:endParaRPr>
          </a:p>
          <a:p>
            <a:pPr indent="457200" defTabSz="914400">
              <a:lnSpc>
                <a:spcPct val="150000"/>
              </a:lnSpc>
              <a:tabLst>
                <a:tab pos="0" algn="l"/>
              </a:tabLst>
            </a:pPr>
            <a:r>
              <a:rPr lang="en-US" altLang="en-US" sz="1200" b="0" u="none" strike="noStrike">
                <a:solidFill>
                  <a:srgbClr val="FFFFFF"/>
                </a:solidFill>
                <a:effectLst/>
                <a:uFillTx/>
                <a:latin typeface="Arial" panose="020B0604020202020204" pitchFamily="34" charset="0"/>
                <a:cs typeface="Arial" panose="020B0604020202020204" pitchFamily="34" charset="0"/>
              </a:rPr>
              <a:t>Mount /var/run/docker.sock vào container</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a:p>
            <a:pPr indent="457200" defTabSz="914400">
              <a:lnSpc>
                <a:spcPct val="150000"/>
              </a:lnSpc>
              <a:tabLst>
                <a:tab pos="0" algn="l"/>
              </a:tabLst>
            </a:pPr>
            <a:r>
              <a:rPr lang="en-US" altLang="en-US" sz="1200" b="0" u="none" strike="noStrike">
                <a:solidFill>
                  <a:srgbClr val="FFFFFF"/>
                </a:solidFill>
                <a:effectLst/>
                <a:uFillTx/>
                <a:latin typeface="Arial" panose="020B0604020202020204" pitchFamily="34" charset="0"/>
                <a:cs typeface="Arial" panose="020B0604020202020204" pitchFamily="34" charset="0"/>
              </a:rPr>
              <a:t>Rủi ro: Container escape, chiếm quyền host</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p:txBody>
      </p:sp>
      <p:sp>
        <p:nvSpPr>
          <p:cNvPr id="10" name="Rounded Rectangle 9"/>
          <p:cNvSpPr/>
          <p:nvPr/>
        </p:nvSpPr>
        <p:spPr>
          <a:xfrm>
            <a:off x="614045" y="2910205"/>
            <a:ext cx="3820160" cy="1666875"/>
          </a:xfrm>
          <a:prstGeom prst="roundRect">
            <a:avLst>
              <a:gd name="adj" fmla="val 24632"/>
            </a:avLst>
          </a:prstGeom>
          <a:solidFill>
            <a:schemeClr val="bg1">
              <a:lumMod val="90000"/>
              <a:lumOff val="10000"/>
            </a:schemeClr>
          </a:solidFill>
        </p:spPr>
        <p:style>
          <a:lnRef idx="0">
            <a:srgbClr val="FFFFFF"/>
          </a:lnRef>
          <a:fillRef idx="1">
            <a:schemeClr val="accent3"/>
          </a:fillRef>
          <a:effectRef idx="0">
            <a:srgbClr val="FFFFFF"/>
          </a:effectRef>
          <a:fontRef idx="minor">
            <a:schemeClr val="dk1"/>
          </a:fontRef>
        </p:style>
        <p:txBody>
          <a:bodyPr anchor="t">
            <a:noAutofit/>
          </a:bodyPr>
          <a:p>
            <a:pPr defTabSz="914400">
              <a:lnSpc>
                <a:spcPct val="150000"/>
              </a:lnSpc>
              <a:tabLst>
                <a:tab pos="0" algn="l"/>
              </a:tabLst>
            </a:pPr>
            <a:r>
              <a:rPr lang="en-US" altLang="en-US" sz="1600" b="0" u="none" strike="noStrike">
                <a:solidFill>
                  <a:srgbClr val="FFFFFF"/>
                </a:solidFill>
                <a:effectLst/>
                <a:uFillTx/>
                <a:latin typeface="Arial" panose="020B0604020202020204" pitchFamily="34" charset="0"/>
                <a:cs typeface="Arial" panose="020B0604020202020204" pitchFamily="34" charset="0"/>
              </a:rPr>
              <a:t>Container chạy quyền Root</a:t>
            </a:r>
            <a:endParaRPr lang="en-US" altLang="en-US" sz="1600" b="0" u="none" strike="noStrike">
              <a:solidFill>
                <a:srgbClr val="FFFFFF"/>
              </a:solidFill>
              <a:effectLst/>
              <a:uFillTx/>
              <a:latin typeface="Arial" panose="020B0604020202020204" pitchFamily="34" charset="0"/>
              <a:cs typeface="Arial" panose="020B0604020202020204" pitchFamily="34" charset="0"/>
            </a:endParaRPr>
          </a:p>
          <a:p>
            <a:pPr indent="457200" defTabSz="914400">
              <a:lnSpc>
                <a:spcPct val="150000"/>
              </a:lnSpc>
              <a:tabLst>
                <a:tab pos="0" algn="l"/>
              </a:tabLst>
            </a:pPr>
            <a:r>
              <a:rPr lang="en-US" altLang="en-US" sz="1200" b="0" u="none" strike="noStrike">
                <a:solidFill>
                  <a:srgbClr val="FFFFFF"/>
                </a:solidFill>
                <a:effectLst/>
                <a:uFillTx/>
                <a:latin typeface="Arial" panose="020B0604020202020204" pitchFamily="34" charset="0"/>
                <a:cs typeface="Arial" panose="020B0604020202020204" pitchFamily="34" charset="0"/>
              </a:rPr>
              <a:t>Chạy tiến trình với uid=0</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a:p>
            <a:pPr indent="457200" defTabSz="914400">
              <a:lnSpc>
                <a:spcPct val="150000"/>
              </a:lnSpc>
              <a:tabLst>
                <a:tab pos="0" algn="l"/>
              </a:tabLst>
            </a:pPr>
            <a:r>
              <a:rPr lang="en-US" altLang="en-US" sz="1200" b="0" u="none" strike="noStrike">
                <a:solidFill>
                  <a:srgbClr val="FFFFFF"/>
                </a:solidFill>
                <a:effectLst/>
                <a:uFillTx/>
                <a:latin typeface="Arial" panose="020B0604020202020204" pitchFamily="34" charset="0"/>
                <a:cs typeface="Arial" panose="020B0604020202020204" pitchFamily="34" charset="0"/>
              </a:rPr>
              <a:t>Rủi ro: Không có giới hạn quyền</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p:txBody>
      </p:sp>
      <p:sp>
        <p:nvSpPr>
          <p:cNvPr id="11" name="Rounded Rectangle 10"/>
          <p:cNvSpPr/>
          <p:nvPr/>
        </p:nvSpPr>
        <p:spPr>
          <a:xfrm>
            <a:off x="4583430" y="2910205"/>
            <a:ext cx="3921125" cy="1666875"/>
          </a:xfrm>
          <a:prstGeom prst="roundRect">
            <a:avLst>
              <a:gd name="adj" fmla="val 24632"/>
            </a:avLst>
          </a:prstGeom>
          <a:solidFill>
            <a:schemeClr val="bg1">
              <a:lumMod val="90000"/>
              <a:lumOff val="10000"/>
            </a:schemeClr>
          </a:solidFill>
        </p:spPr>
        <p:style>
          <a:lnRef idx="0">
            <a:srgbClr val="FFFFFF"/>
          </a:lnRef>
          <a:fillRef idx="1">
            <a:schemeClr val="accent3"/>
          </a:fillRef>
          <a:effectRef idx="0">
            <a:srgbClr val="FFFFFF"/>
          </a:effectRef>
          <a:fontRef idx="minor">
            <a:schemeClr val="dk1"/>
          </a:fontRef>
        </p:style>
        <p:txBody>
          <a:bodyPr anchor="t">
            <a:noAutofit/>
          </a:bodyPr>
          <a:p>
            <a:pPr defTabSz="914400">
              <a:lnSpc>
                <a:spcPct val="150000"/>
              </a:lnSpc>
              <a:tabLst>
                <a:tab pos="0" algn="l"/>
              </a:tabLst>
            </a:pPr>
            <a:r>
              <a:rPr lang="en-US" altLang="en-US" sz="1600" b="0" u="none" strike="noStrike">
                <a:solidFill>
                  <a:srgbClr val="FFFFFF"/>
                </a:solidFill>
                <a:effectLst/>
                <a:uFillTx/>
                <a:latin typeface="Arial" panose="020B0604020202020204" pitchFamily="34" charset="0"/>
                <a:cs typeface="Arial" panose="020B0604020202020204" pitchFamily="34" charset="0"/>
              </a:rPr>
              <a:t>Flat Network</a:t>
            </a:r>
            <a:endParaRPr lang="en-US" altLang="en-US" sz="1600" b="0" u="none" strike="noStrike">
              <a:solidFill>
                <a:srgbClr val="FFFFFF"/>
              </a:solidFill>
              <a:effectLst/>
              <a:uFillTx/>
              <a:latin typeface="Arial" panose="020B0604020202020204" pitchFamily="34" charset="0"/>
              <a:cs typeface="Arial" panose="020B0604020202020204" pitchFamily="34" charset="0"/>
            </a:endParaRPr>
          </a:p>
          <a:p>
            <a:pPr indent="457200" defTabSz="914400">
              <a:lnSpc>
                <a:spcPct val="150000"/>
              </a:lnSpc>
              <a:tabLst>
                <a:tab pos="0" algn="l"/>
              </a:tabLst>
            </a:pPr>
            <a:r>
              <a:rPr lang="en-US" altLang="en-US" sz="1200" b="0" u="none" strike="noStrike">
                <a:solidFill>
                  <a:srgbClr val="FFFFFF"/>
                </a:solidFill>
                <a:effectLst/>
                <a:uFillTx/>
                <a:latin typeface="Arial" panose="020B0604020202020204" pitchFamily="34" charset="0"/>
                <a:cs typeface="Arial" panose="020B0604020202020204" pitchFamily="34" charset="0"/>
              </a:rPr>
              <a:t>Không cách ly mạng giữa các tầng</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a:p>
            <a:pPr lvl="1" defTabSz="914400">
              <a:lnSpc>
                <a:spcPct val="150000"/>
              </a:lnSpc>
              <a:tabLst>
                <a:tab pos="0" algn="l"/>
              </a:tabLst>
            </a:pPr>
            <a:r>
              <a:rPr lang="en-US" altLang="en-US" sz="1200" b="0" u="none" strike="noStrike">
                <a:solidFill>
                  <a:srgbClr val="FFFFFF"/>
                </a:solidFill>
                <a:effectLst/>
                <a:uFillTx/>
                <a:latin typeface="Arial" panose="020B0604020202020204" pitchFamily="34" charset="0"/>
                <a:cs typeface="Arial" panose="020B0604020202020204" pitchFamily="34" charset="0"/>
              </a:rPr>
              <a:t>Rủi ro: Lateral movement giữa container</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5650" y="53975"/>
            <a:ext cx="6791960" cy="762000"/>
          </a:xfrm>
          <a:prstGeom prst="rect">
            <a:avLst/>
          </a:prstGeom>
          <a:noFill/>
          <a:ln w="0">
            <a:noFill/>
          </a:ln>
        </p:spPr>
        <p:style>
          <a:lnRef idx="0">
            <a:srgbClr val="FFFFFF"/>
          </a:lnRef>
          <a:fillRef idx="0">
            <a:srgbClr val="FFFFFF"/>
          </a:fillRef>
          <a:effectRef idx="0">
            <a:srgbClr val="FFFFFF"/>
          </a:effectRef>
          <a:fontRef idx="minor"/>
        </p:style>
        <p:txBody>
          <a:bodyPr anchor="t">
            <a:noAutofit/>
          </a:bodyPr>
          <a:p>
            <a:pPr defTabSz="914400">
              <a:lnSpc>
                <a:spcPct val="100000"/>
              </a:lnSpc>
              <a:tabLst>
                <a:tab pos="0" algn="l"/>
              </a:tabLst>
            </a:pPr>
            <a:r>
              <a:rPr lang="en-US" altLang="en-US" sz="3000">
                <a:solidFill>
                  <a:srgbClr val="FFFFFF"/>
                </a:solidFill>
                <a:effectLst/>
                <a:uFillTx/>
                <a:latin typeface="Arial" panose="020B0604020202020204" pitchFamily="34" charset="0"/>
                <a:cs typeface="Arial" panose="020B0604020202020204" pitchFamily="34" charset="0"/>
                <a:sym typeface="+mn-ea"/>
              </a:rPr>
              <a:t>PostgreSQL E</a:t>
            </a:r>
            <a:r>
              <a:rPr lang="vi-VN" altLang="en-US" sz="3000">
                <a:solidFill>
                  <a:srgbClr val="FFFFFF"/>
                </a:solidFill>
                <a:effectLst/>
                <a:uFillTx/>
                <a:latin typeface="Arial" panose="020B0604020202020204" pitchFamily="34" charset="0"/>
                <a:cs typeface="Arial" panose="020B0604020202020204" pitchFamily="34" charset="0"/>
                <a:sym typeface="+mn-ea"/>
              </a:rPr>
              <a:t>xposure </a:t>
            </a:r>
            <a:endParaRPr lang="vi-VN" altLang="en-US" sz="3000">
              <a:solidFill>
                <a:srgbClr val="FFFFFF"/>
              </a:solidFill>
              <a:effectLst/>
              <a:uFillTx/>
              <a:latin typeface="Arial" panose="020B0604020202020204" pitchFamily="34" charset="0"/>
              <a:cs typeface="Arial" panose="020B0604020202020204" pitchFamily="34" charset="0"/>
              <a:sym typeface="+mn-ea"/>
            </a:endParaRPr>
          </a:p>
        </p:txBody>
      </p:sp>
      <p:sp>
        <p:nvSpPr>
          <p:cNvPr id="3" name="Rounded Rectangle 2"/>
          <p:cNvSpPr/>
          <p:nvPr/>
        </p:nvSpPr>
        <p:spPr>
          <a:xfrm>
            <a:off x="755650" y="627380"/>
            <a:ext cx="3876675" cy="1377315"/>
          </a:xfrm>
          <a:prstGeom prst="roundRect">
            <a:avLst>
              <a:gd name="adj" fmla="val 24632"/>
            </a:avLst>
          </a:prstGeom>
          <a:solidFill>
            <a:schemeClr val="bg1">
              <a:lumMod val="90000"/>
              <a:lumOff val="10000"/>
            </a:schemeClr>
          </a:solidFill>
        </p:spPr>
        <p:style>
          <a:lnRef idx="0">
            <a:srgbClr val="FFFFFF"/>
          </a:lnRef>
          <a:fillRef idx="1">
            <a:schemeClr val="accent3"/>
          </a:fillRef>
          <a:effectRef idx="0">
            <a:srgbClr val="FFFFFF"/>
          </a:effectRef>
          <a:fontRef idx="minor">
            <a:schemeClr val="dk1"/>
          </a:fontRef>
        </p:style>
        <p:txBody>
          <a:bodyPr anchor="t">
            <a:noAutofit/>
          </a:bodyPr>
          <a:p>
            <a:pPr defTabSz="914400">
              <a:lnSpc>
                <a:spcPct val="150000"/>
              </a:lnSpc>
              <a:tabLst>
                <a:tab pos="0" algn="l"/>
              </a:tabLst>
            </a:pPr>
            <a:r>
              <a:rPr lang="vi-VN" altLang="en-US" sz="1200" b="0" u="none" strike="noStrike">
                <a:solidFill>
                  <a:srgbClr val="FFFFFF"/>
                </a:solidFill>
                <a:effectLst/>
                <a:uFillTx/>
                <a:latin typeface="Arial" panose="020B0604020202020204" pitchFamily="34" charset="0"/>
                <a:cs typeface="Arial" panose="020B0604020202020204" pitchFamily="34" charset="0"/>
              </a:rPr>
              <a:t>1.</a:t>
            </a:r>
            <a:r>
              <a:rPr lang="en-US" altLang="en-US" sz="1200" b="0" u="none" strike="noStrike">
                <a:solidFill>
                  <a:srgbClr val="FFFFFF"/>
                </a:solidFill>
                <a:effectLst/>
                <a:uFillTx/>
                <a:latin typeface="Arial" panose="020B0604020202020204" pitchFamily="34" charset="0"/>
                <a:cs typeface="Arial" panose="020B0604020202020204" pitchFamily="34" charset="0"/>
              </a:rPr>
              <a:t>Mô tả vấn </a:t>
            </a:r>
            <a:r>
              <a:rPr lang="en-US" altLang="en-US" sz="1200" b="0" u="none" strike="noStrike">
                <a:solidFill>
                  <a:srgbClr val="FFFFFF"/>
                </a:solidFill>
                <a:effectLst/>
                <a:uFillTx/>
                <a:latin typeface="Arial" panose="020B0604020202020204" pitchFamily="34" charset="0"/>
                <a:cs typeface="Arial" panose="020B0604020202020204" pitchFamily="34" charset="0"/>
              </a:rPr>
              <a:t>đ</a:t>
            </a:r>
            <a:r>
              <a:rPr lang="en-US" altLang="en-US" sz="1200" b="0" u="none" strike="noStrike">
                <a:solidFill>
                  <a:srgbClr val="FFFFFF"/>
                </a:solidFill>
                <a:effectLst/>
                <a:uFillTx/>
                <a:latin typeface="Arial" panose="020B0604020202020204" pitchFamily="34" charset="0"/>
                <a:cs typeface="Arial" panose="020B0604020202020204" pitchFamily="34" charset="0"/>
              </a:rPr>
              <a:t>ề:</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a:p>
            <a:pPr defTabSz="914400">
              <a:lnSpc>
                <a:spcPct val="150000"/>
              </a:lnSpc>
              <a:tabLst>
                <a:tab pos="0" algn="l"/>
              </a:tabLst>
            </a:pP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p:txBody>
      </p:sp>
      <p:sp>
        <p:nvSpPr>
          <p:cNvPr id="6" name="Rounded Rectangle 5"/>
          <p:cNvSpPr/>
          <p:nvPr/>
        </p:nvSpPr>
        <p:spPr>
          <a:xfrm>
            <a:off x="755650" y="2012950"/>
            <a:ext cx="3876675" cy="1240790"/>
          </a:xfrm>
          <a:prstGeom prst="roundRect">
            <a:avLst>
              <a:gd name="adj" fmla="val 24632"/>
            </a:avLst>
          </a:prstGeom>
          <a:solidFill>
            <a:schemeClr val="bg1">
              <a:lumMod val="90000"/>
              <a:lumOff val="10000"/>
            </a:schemeClr>
          </a:solidFill>
        </p:spPr>
        <p:style>
          <a:lnRef idx="0">
            <a:srgbClr val="FFFFFF"/>
          </a:lnRef>
          <a:fillRef idx="1">
            <a:schemeClr val="accent3"/>
          </a:fillRef>
          <a:effectRef idx="0">
            <a:srgbClr val="FFFFFF"/>
          </a:effectRef>
          <a:fontRef idx="minor">
            <a:schemeClr val="dk1"/>
          </a:fontRef>
        </p:style>
        <p:txBody>
          <a:bodyPr anchor="t">
            <a:noAutofit/>
          </a:bodyPr>
          <a:p>
            <a:pPr defTabSz="914400">
              <a:lnSpc>
                <a:spcPct val="150000"/>
              </a:lnSpc>
              <a:tabLst>
                <a:tab pos="0" algn="l"/>
              </a:tabLst>
            </a:pPr>
            <a:r>
              <a:rPr lang="en-US" altLang="en-US" sz="1200" b="0" u="none" strike="noStrike">
                <a:solidFill>
                  <a:srgbClr val="FFFFFF"/>
                </a:solidFill>
                <a:effectLst/>
                <a:uFillTx/>
                <a:latin typeface="Arial" panose="020B0604020202020204" pitchFamily="34" charset="0"/>
                <a:cs typeface="Arial" panose="020B0604020202020204" pitchFamily="34" charset="0"/>
              </a:rPr>
              <a:t>Nguyên nhân:</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a:p>
            <a:pPr defTabSz="914400">
              <a:lnSpc>
                <a:spcPct val="150000"/>
              </a:lnSpc>
              <a:tabLst>
                <a:tab pos="0" algn="l"/>
              </a:tabLst>
            </a:pPr>
            <a:r>
              <a:rPr lang="en-US" altLang="en-US" sz="1200" b="0" u="none" strike="noStrike">
                <a:solidFill>
                  <a:srgbClr val="FFFFFF"/>
                </a:solidFill>
                <a:effectLst/>
                <a:uFillTx/>
                <a:latin typeface="Arial" panose="020B0604020202020204" pitchFamily="34" charset="0"/>
                <a:cs typeface="Arial" panose="020B0604020202020204" pitchFamily="34" charset="0"/>
              </a:rPr>
              <a:t>• Tiện lợi trong phát triển (truy cập từ xa)</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a:p>
            <a:pPr defTabSz="914400">
              <a:lnSpc>
                <a:spcPct val="150000"/>
              </a:lnSpc>
              <a:tabLst>
                <a:tab pos="0" algn="l"/>
              </a:tabLst>
            </a:pPr>
            <a:r>
              <a:rPr lang="en-US" altLang="en-US" sz="1200" b="0" u="none" strike="noStrike">
                <a:solidFill>
                  <a:srgbClr val="FFFFFF"/>
                </a:solidFill>
                <a:effectLst/>
                <a:uFillTx/>
                <a:latin typeface="Arial" panose="020B0604020202020204" pitchFamily="34" charset="0"/>
                <a:cs typeface="Arial" panose="020B0604020202020204" pitchFamily="34" charset="0"/>
              </a:rPr>
              <a:t>• Quên xóa khi deploy production</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a:p>
            <a:pPr defTabSz="914400">
              <a:lnSpc>
                <a:spcPct val="150000"/>
              </a:lnSpc>
              <a:tabLst>
                <a:tab pos="0" algn="l"/>
              </a:tabLst>
            </a:pPr>
            <a:r>
              <a:rPr lang="en-US" altLang="en-US" sz="1200" b="0" u="none" strike="noStrike">
                <a:solidFill>
                  <a:srgbClr val="FFFFFF"/>
                </a:solidFill>
                <a:effectLst/>
                <a:uFillTx/>
                <a:latin typeface="Arial" panose="020B0604020202020204" pitchFamily="34" charset="0"/>
                <a:cs typeface="Arial" panose="020B0604020202020204" pitchFamily="34" charset="0"/>
              </a:rPr>
              <a:t>• Thiếu hiểu biết về bảo mật</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p:txBody>
      </p:sp>
      <p:sp>
        <p:nvSpPr>
          <p:cNvPr id="7" name="Rounded Rectangle 6"/>
          <p:cNvSpPr/>
          <p:nvPr/>
        </p:nvSpPr>
        <p:spPr>
          <a:xfrm>
            <a:off x="755650" y="3392170"/>
            <a:ext cx="3876675" cy="1302385"/>
          </a:xfrm>
          <a:prstGeom prst="roundRect">
            <a:avLst>
              <a:gd name="adj" fmla="val 24632"/>
            </a:avLst>
          </a:prstGeom>
          <a:solidFill>
            <a:schemeClr val="bg1">
              <a:lumMod val="90000"/>
              <a:lumOff val="10000"/>
            </a:schemeClr>
          </a:solidFill>
        </p:spPr>
        <p:style>
          <a:lnRef idx="0">
            <a:srgbClr val="FFFFFF"/>
          </a:lnRef>
          <a:fillRef idx="1">
            <a:schemeClr val="accent3"/>
          </a:fillRef>
          <a:effectRef idx="0">
            <a:srgbClr val="FFFFFF"/>
          </a:effectRef>
          <a:fontRef idx="minor">
            <a:schemeClr val="dk1"/>
          </a:fontRef>
        </p:style>
        <p:txBody>
          <a:bodyPr anchor="t">
            <a:noAutofit/>
          </a:bodyPr>
          <a:p>
            <a:pPr defTabSz="914400">
              <a:lnSpc>
                <a:spcPct val="150000"/>
              </a:lnSpc>
              <a:tabLst>
                <a:tab pos="0" algn="l"/>
              </a:tabLst>
            </a:pPr>
            <a:r>
              <a:rPr lang="en-US" altLang="en-US" sz="1200" b="0" u="none" strike="noStrike">
                <a:solidFill>
                  <a:srgbClr val="FFFFFF"/>
                </a:solidFill>
                <a:effectLst/>
                <a:uFillTx/>
                <a:latin typeface="Arial" panose="020B0604020202020204" pitchFamily="34" charset="0"/>
                <a:cs typeface="Arial" panose="020B0604020202020204" pitchFamily="34" charset="0"/>
              </a:rPr>
              <a:t>Tác </a:t>
            </a:r>
            <a:r>
              <a:rPr lang="en-US" altLang="en-US" sz="1200" b="0" u="none" strike="noStrike">
                <a:solidFill>
                  <a:srgbClr val="FFFFFF"/>
                </a:solidFill>
                <a:effectLst/>
                <a:uFillTx/>
                <a:latin typeface="Arial" panose="020B0604020202020204" pitchFamily="34" charset="0"/>
                <a:cs typeface="Arial" panose="020B0604020202020204" pitchFamily="34" charset="0"/>
              </a:rPr>
              <a:t>đ</a:t>
            </a:r>
            <a:r>
              <a:rPr lang="en-US" altLang="en-US" sz="1200" b="0" u="none" strike="noStrike">
                <a:solidFill>
                  <a:srgbClr val="FFFFFF"/>
                </a:solidFill>
                <a:effectLst/>
                <a:uFillTx/>
                <a:latin typeface="Arial" panose="020B0604020202020204" pitchFamily="34" charset="0"/>
                <a:cs typeface="Arial" panose="020B0604020202020204" pitchFamily="34" charset="0"/>
              </a:rPr>
              <a:t>ộng</a:t>
            </a:r>
            <a:r>
              <a:rPr lang="vi-VN" altLang="en-US" sz="1200" b="0" u="none" strike="noStrike">
                <a:solidFill>
                  <a:srgbClr val="FFFFFF"/>
                </a:solidFill>
                <a:effectLst/>
                <a:uFillTx/>
                <a:latin typeface="Arial" panose="020B0604020202020204" pitchFamily="34" charset="0"/>
                <a:cs typeface="Arial" panose="020B0604020202020204" pitchFamily="34" charset="0"/>
              </a:rPr>
              <a:t> đến</a:t>
            </a:r>
            <a:r>
              <a:rPr lang="en-US" altLang="en-US" sz="1200" b="0" u="none" strike="noStrike">
                <a:solidFill>
                  <a:srgbClr val="FFFFFF"/>
                </a:solidFill>
                <a:effectLst/>
                <a:uFillTx/>
                <a:latin typeface="Arial" panose="020B0604020202020204" pitchFamily="34" charset="0"/>
                <a:cs typeface="Arial" panose="020B0604020202020204" pitchFamily="34" charset="0"/>
              </a:rPr>
              <a:t> CIA Triad:</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a:p>
            <a:pPr defTabSz="914400">
              <a:lnSpc>
                <a:spcPct val="150000"/>
              </a:lnSpc>
              <a:tabLst>
                <a:tab pos="0" algn="l"/>
              </a:tabLst>
            </a:pPr>
            <a:r>
              <a:rPr lang="en-US" altLang="en-US" sz="1200" b="0" u="none" strike="noStrike">
                <a:solidFill>
                  <a:srgbClr val="FFFFFF"/>
                </a:solidFill>
                <a:effectLst/>
                <a:uFillTx/>
                <a:latin typeface="Arial" panose="020B0604020202020204" pitchFamily="34" charset="0"/>
                <a:cs typeface="Arial" panose="020B0604020202020204" pitchFamily="34" charset="0"/>
              </a:rPr>
              <a:t>C</a:t>
            </a:r>
            <a:r>
              <a:rPr lang="vi-VN" altLang="en-US" sz="1200" b="0" u="none" strike="noStrike">
                <a:solidFill>
                  <a:srgbClr val="FFFFFF"/>
                </a:solidFill>
                <a:effectLst/>
                <a:uFillTx/>
                <a:latin typeface="Arial" panose="020B0604020202020204" pitchFamily="34" charset="0"/>
                <a:cs typeface="Arial" panose="020B0604020202020204" pitchFamily="34" charset="0"/>
              </a:rPr>
              <a:t> : </a:t>
            </a:r>
            <a:r>
              <a:rPr lang="en-US" altLang="en-US" sz="1200" b="0" u="none" strike="noStrike">
                <a:solidFill>
                  <a:srgbClr val="FFFFFF"/>
                </a:solidFill>
                <a:effectLst/>
                <a:uFillTx/>
                <a:latin typeface="Arial" panose="020B0604020202020204" pitchFamily="34" charset="0"/>
                <a:cs typeface="Arial" panose="020B0604020202020204" pitchFamily="34" charset="0"/>
              </a:rPr>
              <a:t>Dữ liệu bị tiếp xúc</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a:p>
            <a:pPr defTabSz="914400">
              <a:lnSpc>
                <a:spcPct val="150000"/>
              </a:lnSpc>
              <a:tabLst>
                <a:tab pos="0" algn="l"/>
              </a:tabLst>
            </a:pPr>
            <a:r>
              <a:rPr lang="en-US" altLang="en-US" sz="1200" b="0" u="none" strike="noStrike">
                <a:solidFill>
                  <a:srgbClr val="FFFFFF"/>
                </a:solidFill>
                <a:effectLst/>
                <a:uFillTx/>
                <a:latin typeface="Arial" panose="020B0604020202020204" pitchFamily="34" charset="0"/>
                <a:cs typeface="Arial" panose="020B0604020202020204" pitchFamily="34" charset="0"/>
              </a:rPr>
              <a:t>I</a:t>
            </a:r>
            <a:r>
              <a:rPr lang="vi-VN" altLang="en-US" sz="1200" b="0" u="none" strike="noStrike">
                <a:solidFill>
                  <a:srgbClr val="FFFFFF"/>
                </a:solidFill>
                <a:effectLst/>
                <a:uFillTx/>
                <a:latin typeface="Arial" panose="020B0604020202020204" pitchFamily="34" charset="0"/>
                <a:cs typeface="Arial" panose="020B0604020202020204" pitchFamily="34" charset="0"/>
              </a:rPr>
              <a:t> : </a:t>
            </a:r>
            <a:r>
              <a:rPr lang="en-US" altLang="en-US" sz="1200" b="0" u="none" strike="noStrike">
                <a:solidFill>
                  <a:srgbClr val="FFFFFF"/>
                </a:solidFill>
                <a:effectLst/>
                <a:uFillTx/>
                <a:latin typeface="Arial" panose="020B0604020202020204" pitchFamily="34" charset="0"/>
                <a:cs typeface="Arial" panose="020B0604020202020204" pitchFamily="34" charset="0"/>
              </a:rPr>
              <a:t>Dữ liệu bị thay </a:t>
            </a:r>
            <a:r>
              <a:rPr lang="en-US" altLang="en-US" sz="1200" b="0" u="none" strike="noStrike">
                <a:solidFill>
                  <a:srgbClr val="FFFFFF"/>
                </a:solidFill>
                <a:effectLst/>
                <a:uFillTx/>
                <a:latin typeface="Arial" panose="020B0604020202020204" pitchFamily="34" charset="0"/>
                <a:cs typeface="Arial" panose="020B0604020202020204" pitchFamily="34" charset="0"/>
              </a:rPr>
              <a:t>đ</a:t>
            </a:r>
            <a:r>
              <a:rPr lang="en-US" altLang="en-US" sz="1200" b="0" u="none" strike="noStrike">
                <a:solidFill>
                  <a:srgbClr val="FFFFFF"/>
                </a:solidFill>
                <a:effectLst/>
                <a:uFillTx/>
                <a:latin typeface="Arial" panose="020B0604020202020204" pitchFamily="34" charset="0"/>
                <a:cs typeface="Arial" panose="020B0604020202020204" pitchFamily="34" charset="0"/>
              </a:rPr>
              <a:t>ổi</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a:p>
            <a:pPr defTabSz="914400">
              <a:lnSpc>
                <a:spcPct val="150000"/>
              </a:lnSpc>
              <a:tabLst>
                <a:tab pos="0" algn="l"/>
              </a:tabLst>
            </a:pPr>
            <a:r>
              <a:rPr lang="en-US" altLang="en-US" sz="1200" b="0" u="none" strike="noStrike">
                <a:solidFill>
                  <a:srgbClr val="FFFFFF"/>
                </a:solidFill>
                <a:effectLst/>
                <a:uFillTx/>
                <a:latin typeface="Arial" panose="020B0604020202020204" pitchFamily="34" charset="0"/>
                <a:cs typeface="Arial" panose="020B0604020202020204" pitchFamily="34" charset="0"/>
              </a:rPr>
              <a:t>A</a:t>
            </a:r>
            <a:r>
              <a:rPr lang="vi-VN" altLang="en-US" sz="1200" b="0" u="none" strike="noStrike">
                <a:solidFill>
                  <a:srgbClr val="FFFFFF"/>
                </a:solidFill>
                <a:effectLst/>
                <a:uFillTx/>
                <a:latin typeface="Arial" panose="020B0604020202020204" pitchFamily="34" charset="0"/>
                <a:cs typeface="Arial" panose="020B0604020202020204" pitchFamily="34" charset="0"/>
              </a:rPr>
              <a:t> : </a:t>
            </a:r>
            <a:r>
              <a:rPr lang="en-US" altLang="en-US" sz="1200" b="0" u="none" strike="noStrike">
                <a:solidFill>
                  <a:srgbClr val="FFFFFF"/>
                </a:solidFill>
                <a:effectLst/>
                <a:uFillTx/>
                <a:latin typeface="Arial" panose="020B0604020202020204" pitchFamily="34" charset="0"/>
                <a:cs typeface="Arial" panose="020B0604020202020204" pitchFamily="34" charset="0"/>
              </a:rPr>
              <a:t>DDoS, server quá tải</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1"/>
          <a:stretch>
            <a:fillRect/>
          </a:stretch>
        </p:blipFill>
        <p:spPr>
          <a:xfrm>
            <a:off x="4716145" y="1409700"/>
            <a:ext cx="4351020" cy="23241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55650" y="53975"/>
            <a:ext cx="6791960" cy="762000"/>
          </a:xfrm>
          <a:prstGeom prst="rect">
            <a:avLst/>
          </a:prstGeom>
          <a:noFill/>
          <a:ln w="0">
            <a:noFill/>
          </a:ln>
        </p:spPr>
        <p:style>
          <a:lnRef idx="0">
            <a:srgbClr val="FFFFFF"/>
          </a:lnRef>
          <a:fillRef idx="0">
            <a:srgbClr val="FFFFFF"/>
          </a:fillRef>
          <a:effectRef idx="0">
            <a:srgbClr val="FFFFFF"/>
          </a:effectRef>
          <a:fontRef idx="minor"/>
        </p:style>
        <p:txBody>
          <a:bodyPr anchor="t">
            <a:noAutofit/>
          </a:bodyPr>
          <a:p>
            <a:pPr defTabSz="914400">
              <a:lnSpc>
                <a:spcPct val="100000"/>
              </a:lnSpc>
              <a:tabLst>
                <a:tab pos="0" algn="l"/>
              </a:tabLst>
            </a:pPr>
            <a:r>
              <a:rPr lang="en-US" altLang="en-US" sz="3000">
                <a:solidFill>
                  <a:srgbClr val="FFFFFF"/>
                </a:solidFill>
                <a:effectLst/>
                <a:uFillTx/>
                <a:latin typeface="Arial" panose="020B0604020202020204" pitchFamily="34" charset="0"/>
                <a:cs typeface="Arial" panose="020B0604020202020204" pitchFamily="34" charset="0"/>
                <a:sym typeface="+mn-ea"/>
              </a:rPr>
              <a:t>D</a:t>
            </a:r>
            <a:r>
              <a:rPr lang="vi-VN" altLang="en-US" sz="3000">
                <a:solidFill>
                  <a:srgbClr val="FFFFFF"/>
                </a:solidFill>
                <a:effectLst/>
                <a:uFillTx/>
                <a:latin typeface="Arial" panose="020B0604020202020204" pitchFamily="34" charset="0"/>
                <a:cs typeface="Arial" panose="020B0604020202020204" pitchFamily="34" charset="0"/>
                <a:sym typeface="+mn-ea"/>
              </a:rPr>
              <a:t>ocker Socket </a:t>
            </a:r>
            <a:r>
              <a:rPr lang="vi-VN" altLang="en-US" sz="3000">
                <a:solidFill>
                  <a:srgbClr val="FFFFFF"/>
                </a:solidFill>
                <a:effectLst/>
                <a:uFillTx/>
                <a:latin typeface="Arial" panose="020B0604020202020204" pitchFamily="34" charset="0"/>
                <a:cs typeface="Arial" panose="020B0604020202020204" pitchFamily="34" charset="0"/>
                <a:sym typeface="+mn-ea"/>
              </a:rPr>
              <a:t>Exposure</a:t>
            </a:r>
            <a:endParaRPr lang="vi-VN" altLang="en-US" sz="3000">
              <a:solidFill>
                <a:srgbClr val="FFFFFF"/>
              </a:solidFill>
              <a:effectLst/>
              <a:uFillTx/>
              <a:latin typeface="Arial" panose="020B0604020202020204" pitchFamily="34" charset="0"/>
              <a:cs typeface="Arial" panose="020B0604020202020204" pitchFamily="34" charset="0"/>
              <a:sym typeface="+mn-ea"/>
            </a:endParaRPr>
          </a:p>
        </p:txBody>
      </p:sp>
      <p:sp>
        <p:nvSpPr>
          <p:cNvPr id="5" name="Rounded Rectangle 4"/>
          <p:cNvSpPr/>
          <p:nvPr/>
        </p:nvSpPr>
        <p:spPr>
          <a:xfrm>
            <a:off x="755650" y="627380"/>
            <a:ext cx="4284980" cy="1371600"/>
          </a:xfrm>
          <a:prstGeom prst="roundRect">
            <a:avLst>
              <a:gd name="adj" fmla="val 24632"/>
            </a:avLst>
          </a:prstGeom>
          <a:solidFill>
            <a:schemeClr val="bg1">
              <a:lumMod val="90000"/>
              <a:lumOff val="10000"/>
            </a:schemeClr>
          </a:solidFill>
        </p:spPr>
        <p:style>
          <a:lnRef idx="0">
            <a:srgbClr val="FFFFFF"/>
          </a:lnRef>
          <a:fillRef idx="1">
            <a:schemeClr val="accent3"/>
          </a:fillRef>
          <a:effectRef idx="0">
            <a:srgbClr val="FFFFFF"/>
          </a:effectRef>
          <a:fontRef idx="minor">
            <a:schemeClr val="dk1"/>
          </a:fontRef>
        </p:style>
        <p:txBody>
          <a:bodyPr anchor="t">
            <a:noAutofit/>
          </a:bodyPr>
          <a:p>
            <a:pPr defTabSz="914400">
              <a:lnSpc>
                <a:spcPct val="150000"/>
              </a:lnSpc>
              <a:tabLst>
                <a:tab pos="0" algn="l"/>
              </a:tabLst>
            </a:pPr>
            <a:r>
              <a:rPr lang="vi-VN" altLang="en-US" sz="1200" b="0" u="none" strike="noStrike">
                <a:solidFill>
                  <a:srgbClr val="FFFFFF"/>
                </a:solidFill>
                <a:effectLst/>
                <a:uFillTx/>
                <a:latin typeface="Arial" panose="020B0604020202020204" pitchFamily="34" charset="0"/>
                <a:cs typeface="Arial" panose="020B0604020202020204" pitchFamily="34" charset="0"/>
              </a:rPr>
              <a:t>1.</a:t>
            </a:r>
            <a:r>
              <a:rPr lang="en-US" altLang="en-US" sz="1200" b="0" u="none" strike="noStrike">
                <a:solidFill>
                  <a:srgbClr val="FFFFFF"/>
                </a:solidFill>
                <a:effectLst/>
                <a:uFillTx/>
                <a:latin typeface="Arial" panose="020B0604020202020204" pitchFamily="34" charset="0"/>
                <a:cs typeface="Arial" panose="020B0604020202020204" pitchFamily="34" charset="0"/>
              </a:rPr>
              <a:t>Mô tả vấn </a:t>
            </a:r>
            <a:r>
              <a:rPr lang="en-US" altLang="en-US" sz="1200" b="0" u="none" strike="noStrike">
                <a:solidFill>
                  <a:srgbClr val="FFFFFF"/>
                </a:solidFill>
                <a:effectLst/>
                <a:uFillTx/>
                <a:latin typeface="Arial" panose="020B0604020202020204" pitchFamily="34" charset="0"/>
                <a:cs typeface="Arial" panose="020B0604020202020204" pitchFamily="34" charset="0"/>
              </a:rPr>
              <a:t>đ</a:t>
            </a:r>
            <a:r>
              <a:rPr lang="en-US" altLang="en-US" sz="1200" b="0" u="none" strike="noStrike">
                <a:solidFill>
                  <a:srgbClr val="FFFFFF"/>
                </a:solidFill>
                <a:effectLst/>
                <a:uFillTx/>
                <a:latin typeface="Arial" panose="020B0604020202020204" pitchFamily="34" charset="0"/>
                <a:cs typeface="Arial" panose="020B0604020202020204" pitchFamily="34" charset="0"/>
              </a:rPr>
              <a:t>ề:</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a:p>
            <a:pPr defTabSz="914400">
              <a:lnSpc>
                <a:spcPct val="150000"/>
              </a:lnSpc>
              <a:tabLst>
                <a:tab pos="0" algn="l"/>
              </a:tabLst>
            </a:pP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p:txBody>
      </p:sp>
      <p:sp>
        <p:nvSpPr>
          <p:cNvPr id="9" name="Rounded Rectangle 8"/>
          <p:cNvSpPr/>
          <p:nvPr/>
        </p:nvSpPr>
        <p:spPr>
          <a:xfrm>
            <a:off x="756285" y="2336800"/>
            <a:ext cx="4284345" cy="1948815"/>
          </a:xfrm>
          <a:prstGeom prst="roundRect">
            <a:avLst>
              <a:gd name="adj" fmla="val 24632"/>
            </a:avLst>
          </a:prstGeom>
          <a:solidFill>
            <a:schemeClr val="bg1">
              <a:lumMod val="90000"/>
              <a:lumOff val="10000"/>
            </a:schemeClr>
          </a:solidFill>
        </p:spPr>
        <p:style>
          <a:lnRef idx="0">
            <a:srgbClr val="FFFFFF"/>
          </a:lnRef>
          <a:fillRef idx="1">
            <a:schemeClr val="accent3"/>
          </a:fillRef>
          <a:effectRef idx="0">
            <a:srgbClr val="FFFFFF"/>
          </a:effectRef>
          <a:fontRef idx="minor">
            <a:schemeClr val="dk1"/>
          </a:fontRef>
        </p:style>
        <p:txBody>
          <a:bodyPr anchor="t">
            <a:noAutofit/>
          </a:bodyPr>
          <a:p>
            <a:pPr defTabSz="914400">
              <a:lnSpc>
                <a:spcPct val="150000"/>
              </a:lnSpc>
              <a:tabLst>
                <a:tab pos="0" algn="l"/>
              </a:tabLst>
            </a:pPr>
            <a:r>
              <a:rPr lang="en-US" altLang="en-US" sz="1200" b="0" u="none" strike="noStrike">
                <a:solidFill>
                  <a:srgbClr val="FFFFFF"/>
                </a:solidFill>
                <a:effectLst/>
                <a:uFillTx/>
                <a:latin typeface="Arial" panose="020B0604020202020204" pitchFamily="34" charset="0"/>
                <a:cs typeface="Arial" panose="020B0604020202020204" pitchFamily="34" charset="0"/>
              </a:rPr>
              <a:t>Tại sao nguy hiểm?</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a:p>
            <a:pPr defTabSz="914400">
              <a:lnSpc>
                <a:spcPct val="150000"/>
              </a:lnSpc>
              <a:tabLst>
                <a:tab pos="0" algn="l"/>
              </a:tabLst>
            </a:pPr>
            <a:r>
              <a:rPr lang="en-US" altLang="en-US" sz="1200" b="0" u="none" strike="noStrike">
                <a:solidFill>
                  <a:srgbClr val="FFFFFF"/>
                </a:solidFill>
                <a:effectLst/>
                <a:uFillTx/>
                <a:latin typeface="Arial" panose="020B0604020202020204" pitchFamily="34" charset="0"/>
                <a:cs typeface="Arial" panose="020B0604020202020204" pitchFamily="34" charset="0"/>
              </a:rPr>
              <a:t>• Docker Socket </a:t>
            </a:r>
            <a:r>
              <a:rPr lang="vi-VN" altLang="en-US" sz="1200" b="0" u="none" strike="noStrike">
                <a:solidFill>
                  <a:srgbClr val="FFFFFF"/>
                </a:solidFill>
                <a:effectLst/>
                <a:uFillTx/>
                <a:latin typeface="Arial" panose="020B0604020202020204" pitchFamily="34" charset="0"/>
                <a:cs typeface="Arial" panose="020B0604020202020204" pitchFamily="34" charset="0"/>
              </a:rPr>
              <a:t>là </a:t>
            </a:r>
            <a:r>
              <a:rPr lang="en-US" altLang="en-US" sz="1200" b="0" u="none" strike="noStrike">
                <a:solidFill>
                  <a:srgbClr val="FFFFFF"/>
                </a:solidFill>
                <a:effectLst/>
                <a:uFillTx/>
                <a:latin typeface="Arial" panose="020B0604020202020204" pitchFamily="34" charset="0"/>
                <a:cs typeface="Arial" panose="020B0604020202020204" pitchFamily="34" charset="0"/>
              </a:rPr>
              <a:t>chìa khóa toàn bộ Docker Engine</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a:p>
            <a:pPr defTabSz="914400">
              <a:lnSpc>
                <a:spcPct val="150000"/>
              </a:lnSpc>
              <a:tabLst>
                <a:tab pos="0" algn="l"/>
              </a:tabLst>
            </a:pPr>
            <a:r>
              <a:rPr lang="en-US" altLang="en-US" sz="1200" b="0" u="none" strike="noStrike">
                <a:solidFill>
                  <a:srgbClr val="FFFFFF"/>
                </a:solidFill>
                <a:effectLst/>
                <a:uFillTx/>
                <a:latin typeface="Arial" panose="020B0604020202020204" pitchFamily="34" charset="0"/>
                <a:cs typeface="Arial" panose="020B0604020202020204" pitchFamily="34" charset="0"/>
              </a:rPr>
              <a:t>• Container có thể tạo container khác</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a:p>
            <a:pPr defTabSz="914400">
              <a:lnSpc>
                <a:spcPct val="150000"/>
              </a:lnSpc>
              <a:tabLst>
                <a:tab pos="0" algn="l"/>
              </a:tabLst>
            </a:pPr>
            <a:r>
              <a:rPr lang="en-US" altLang="en-US" sz="1200" b="0" u="none" strike="noStrike">
                <a:solidFill>
                  <a:srgbClr val="FFFFFF"/>
                </a:solidFill>
                <a:effectLst/>
                <a:uFillTx/>
                <a:latin typeface="Arial" panose="020B0604020202020204" pitchFamily="34" charset="0"/>
                <a:cs typeface="Arial" panose="020B0604020202020204" pitchFamily="34" charset="0"/>
              </a:rPr>
              <a:t>• Có thể mount bất kỳ file nào từ host</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a:p>
            <a:pPr defTabSz="914400">
              <a:lnSpc>
                <a:spcPct val="150000"/>
              </a:lnSpc>
              <a:tabLst>
                <a:tab pos="0" algn="l"/>
              </a:tabLst>
            </a:pPr>
            <a:r>
              <a:rPr lang="en-US" altLang="en-US" sz="1200" b="0" u="none" strike="noStrike">
                <a:solidFill>
                  <a:srgbClr val="FFFFFF"/>
                </a:solidFill>
                <a:effectLst/>
                <a:uFillTx/>
                <a:latin typeface="Arial" panose="020B0604020202020204" pitchFamily="34" charset="0"/>
                <a:cs typeface="Arial" panose="020B0604020202020204" pitchFamily="34" charset="0"/>
              </a:rPr>
              <a:t>• Có thể chiếm quyền toàn bộ host</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p:txBody>
      </p:sp>
      <p:pic>
        <p:nvPicPr>
          <p:cNvPr id="2" name="Picture 1"/>
          <p:cNvPicPr>
            <a:picLocks noChangeAspect="1"/>
          </p:cNvPicPr>
          <p:nvPr/>
        </p:nvPicPr>
        <p:blipFill>
          <a:blip r:embed="rId1"/>
          <a:srcRect r="12715"/>
          <a:stretch>
            <a:fillRect/>
          </a:stretch>
        </p:blipFill>
        <p:spPr>
          <a:xfrm>
            <a:off x="5220335" y="1779270"/>
            <a:ext cx="3744595" cy="131064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5650" y="53975"/>
            <a:ext cx="7132955" cy="762000"/>
          </a:xfrm>
          <a:prstGeom prst="rect">
            <a:avLst/>
          </a:prstGeom>
          <a:noFill/>
          <a:ln w="0">
            <a:noFill/>
          </a:ln>
        </p:spPr>
        <p:style>
          <a:lnRef idx="0">
            <a:srgbClr val="FFFFFF"/>
          </a:lnRef>
          <a:fillRef idx="0">
            <a:srgbClr val="FFFFFF"/>
          </a:fillRef>
          <a:effectRef idx="0">
            <a:srgbClr val="FFFFFF"/>
          </a:effectRef>
          <a:fontRef idx="minor"/>
        </p:style>
        <p:txBody>
          <a:bodyPr anchor="t">
            <a:noAutofit/>
          </a:bodyPr>
          <a:p>
            <a:pPr defTabSz="914400">
              <a:lnSpc>
                <a:spcPct val="100000"/>
              </a:lnSpc>
              <a:tabLst>
                <a:tab pos="0" algn="l"/>
              </a:tabLst>
            </a:pPr>
            <a:r>
              <a:rPr lang="en-US" altLang="en-US" sz="3000">
                <a:solidFill>
                  <a:srgbClr val="FFFFFF"/>
                </a:solidFill>
                <a:effectLst/>
                <a:uFillTx/>
                <a:latin typeface="Arial" panose="020B0604020202020204" pitchFamily="34" charset="0"/>
                <a:cs typeface="Arial" panose="020B0604020202020204" pitchFamily="34" charset="0"/>
                <a:sym typeface="+mn-ea"/>
              </a:rPr>
              <a:t>ROOT PRIVILEGE </a:t>
            </a:r>
            <a:r>
              <a:rPr lang="vi-VN" altLang="en-US" sz="3000">
                <a:solidFill>
                  <a:srgbClr val="FFFFFF"/>
                </a:solidFill>
                <a:effectLst/>
                <a:uFillTx/>
                <a:latin typeface="Arial" panose="020B0604020202020204" pitchFamily="34" charset="0"/>
                <a:cs typeface="Arial" panose="020B0604020202020204" pitchFamily="34" charset="0"/>
                <a:sym typeface="+mn-ea"/>
              </a:rPr>
              <a:t>&amp; </a:t>
            </a:r>
            <a:r>
              <a:rPr lang="en-US" altLang="en-US" sz="3000">
                <a:solidFill>
                  <a:srgbClr val="FFFFFF"/>
                </a:solidFill>
                <a:effectLst/>
                <a:uFillTx/>
                <a:latin typeface="Arial" panose="020B0604020202020204" pitchFamily="34" charset="0"/>
                <a:cs typeface="Arial" panose="020B0604020202020204" pitchFamily="34" charset="0"/>
                <a:sym typeface="+mn-ea"/>
              </a:rPr>
              <a:t>FLAT NETWORK</a:t>
            </a:r>
            <a:r>
              <a:rPr lang="vi-VN" altLang="en-US" sz="3000">
                <a:solidFill>
                  <a:srgbClr val="FFFFFF"/>
                </a:solidFill>
                <a:effectLst/>
                <a:uFillTx/>
                <a:latin typeface="Arial" panose="020B0604020202020204" pitchFamily="34" charset="0"/>
                <a:cs typeface="Arial" panose="020B0604020202020204" pitchFamily="34" charset="0"/>
                <a:sym typeface="+mn-ea"/>
              </a:rPr>
              <a:t> </a:t>
            </a:r>
            <a:endParaRPr lang="vi-VN" altLang="en-US" sz="3000">
              <a:solidFill>
                <a:srgbClr val="FFFFFF"/>
              </a:solidFill>
              <a:effectLst/>
              <a:uFillTx/>
              <a:latin typeface="Arial" panose="020B0604020202020204" pitchFamily="34" charset="0"/>
              <a:cs typeface="Arial" panose="020B0604020202020204" pitchFamily="34" charset="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p:cNvSpPr/>
          <p:nvPr/>
        </p:nvSpPr>
        <p:spPr>
          <a:xfrm>
            <a:off x="619200" y="619200"/>
            <a:ext cx="2142720" cy="914040"/>
          </a:xfrm>
          <a:prstGeom prst="rect">
            <a:avLst/>
          </a:prstGeom>
          <a:noFill/>
          <a:ln w="0">
            <a:noFill/>
          </a:ln>
        </p:spPr>
        <p:style>
          <a:lnRef idx="0">
            <a:srgbClr val="FFFFFF"/>
          </a:lnRef>
          <a:fillRef idx="0">
            <a:srgbClr val="FFFFFF"/>
          </a:fillRef>
          <a:effectRef idx="0">
            <a:srgbClr val="FFFFFF"/>
          </a:effectRef>
          <a:fontRef idx="minor"/>
        </p:style>
        <p:txBody>
          <a:bodyPr anchor="t">
            <a:normAutofit/>
          </a:bodyPr>
          <a:p>
            <a:pPr defTabSz="914400">
              <a:lnSpc>
                <a:spcPct val="100000"/>
              </a:lnSpc>
              <a:tabLst>
                <a:tab pos="0" algn="l"/>
              </a:tabLst>
            </a:pPr>
            <a:r>
              <a:rPr lang="en-US" sz="5000" b="0" u="none" strike="noStrike">
                <a:solidFill>
                  <a:srgbClr val="FFFFFF"/>
                </a:solidFill>
                <a:effectLst/>
                <a:uFillTx/>
                <a:latin typeface="Montserrat"/>
              </a:rPr>
              <a:t>0</a:t>
            </a:r>
            <a:r>
              <a:rPr lang="vi-VN" altLang="en-US" sz="5000" b="0" u="none" strike="noStrike">
                <a:solidFill>
                  <a:srgbClr val="FFFFFF"/>
                </a:solidFill>
                <a:effectLst/>
                <a:uFillTx/>
                <a:latin typeface="Montserrat"/>
              </a:rPr>
              <a:t>4</a:t>
            </a:r>
            <a:endParaRPr lang="vi-VN" altLang="en-US" sz="5000" b="0" u="none" strike="noStrike">
              <a:solidFill>
                <a:srgbClr val="FFFFFF"/>
              </a:solidFill>
              <a:effectLst/>
              <a:uFillTx/>
              <a:latin typeface="Montserrat"/>
            </a:endParaRPr>
          </a:p>
        </p:txBody>
      </p:sp>
      <p:sp>
        <p:nvSpPr>
          <p:cNvPr id="44" name="Rectangle 43"/>
          <p:cNvSpPr/>
          <p:nvPr/>
        </p:nvSpPr>
        <p:spPr>
          <a:xfrm>
            <a:off x="619125" y="1428750"/>
            <a:ext cx="5821045" cy="2345690"/>
          </a:xfrm>
          <a:prstGeom prst="rect">
            <a:avLst/>
          </a:prstGeom>
          <a:noFill/>
          <a:ln w="0">
            <a:noFill/>
          </a:ln>
        </p:spPr>
        <p:style>
          <a:lnRef idx="0">
            <a:srgbClr val="FFFFFF"/>
          </a:lnRef>
          <a:fillRef idx="0">
            <a:srgbClr val="FFFFFF"/>
          </a:fillRef>
          <a:effectRef idx="0">
            <a:srgbClr val="FFFFFF"/>
          </a:effectRef>
          <a:fontRef idx="minor"/>
        </p:style>
        <p:txBody>
          <a:bodyPr anchor="t">
            <a:normAutofit lnSpcReduction="9999"/>
          </a:bodyPr>
          <a:p>
            <a:pPr defTabSz="914400">
              <a:lnSpc>
                <a:spcPct val="100000"/>
              </a:lnSpc>
              <a:tabLst>
                <a:tab pos="0" algn="l"/>
              </a:tabLst>
            </a:pPr>
            <a:r>
              <a:rPr lang="vi-VN" altLang="en-US" sz="4000" b="0" u="none" strike="noStrike">
                <a:solidFill>
                  <a:srgbClr val="FFFFFF"/>
                </a:solidFill>
                <a:effectLst/>
                <a:uFillTx/>
                <a:latin typeface="Montserrat"/>
              </a:rPr>
              <a:t>Giải </a:t>
            </a:r>
            <a:r>
              <a:rPr lang="vi-VN" altLang="en-US" sz="4000" b="0" u="none" strike="noStrike">
                <a:solidFill>
                  <a:srgbClr val="FFFFFF"/>
                </a:solidFill>
                <a:effectLst/>
                <a:uFillTx/>
                <a:latin typeface="Montserrat"/>
              </a:rPr>
              <a:t>pháp</a:t>
            </a:r>
            <a:endParaRPr lang="vi-VN" altLang="en-US" sz="4000" b="0" u="none" strike="noStrike">
              <a:solidFill>
                <a:srgbClr val="FFFFFF"/>
              </a:solidFill>
              <a:effectLst/>
              <a:uFillTx/>
              <a:latin typeface="Montserrat"/>
            </a:endParaRPr>
          </a:p>
        </p:txBody>
      </p:sp>
      <p:sp>
        <p:nvSpPr>
          <p:cNvPr id="45" name="Rectangle 44"/>
          <p:cNvSpPr/>
          <p:nvPr/>
        </p:nvSpPr>
        <p:spPr>
          <a:xfrm>
            <a:off x="619200" y="3333600"/>
            <a:ext cx="3476160" cy="456840"/>
          </a:xfrm>
          <a:prstGeom prst="rect">
            <a:avLst/>
          </a:prstGeom>
          <a:noFill/>
          <a:ln w="0">
            <a:noFill/>
          </a:ln>
        </p:spPr>
        <p:style>
          <a:lnRef idx="0">
            <a:srgbClr val="FFFFFF"/>
          </a:lnRef>
          <a:fillRef idx="0">
            <a:srgbClr val="FFFFFF"/>
          </a:fillRef>
          <a:effectRef idx="0">
            <a:srgbClr val="FFFFFF"/>
          </a:effectRef>
          <a:fontRef idx="minor"/>
        </p:style>
        <p:txBody>
          <a:bodyPr anchor="t">
            <a:normAutofit lnSpcReduction="20000"/>
          </a:bodyPr>
          <a:p>
            <a:pPr defTabSz="914400">
              <a:lnSpc>
                <a:spcPct val="150000"/>
              </a:lnSpc>
              <a:tabLst>
                <a:tab pos="0" algn="l"/>
              </a:tabLst>
            </a:pPr>
            <a:endParaRPr lang="en-US" sz="1800" b="0" u="none" strike="noStrike">
              <a:solidFill>
                <a:srgbClr val="FFFFFF"/>
              </a:solidFill>
              <a:effectLst/>
              <a:uFillTx/>
              <a:latin typeface="OpenSymbol" panose="0501000000000000000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5650" y="53975"/>
            <a:ext cx="6791960" cy="762000"/>
          </a:xfrm>
          <a:prstGeom prst="rect">
            <a:avLst/>
          </a:prstGeom>
          <a:noFill/>
          <a:ln w="0">
            <a:noFill/>
          </a:ln>
        </p:spPr>
        <p:style>
          <a:lnRef idx="0">
            <a:srgbClr val="FFFFFF"/>
          </a:lnRef>
          <a:fillRef idx="0">
            <a:srgbClr val="FFFFFF"/>
          </a:fillRef>
          <a:effectRef idx="0">
            <a:srgbClr val="FFFFFF"/>
          </a:effectRef>
          <a:fontRef idx="minor"/>
        </p:style>
        <p:txBody>
          <a:bodyPr anchor="t">
            <a:noAutofit/>
          </a:bodyPr>
          <a:p>
            <a:pPr defTabSz="914400">
              <a:lnSpc>
                <a:spcPct val="100000"/>
              </a:lnSpc>
              <a:tabLst>
                <a:tab pos="0" algn="l"/>
              </a:tabLst>
            </a:pPr>
            <a:r>
              <a:rPr lang="vi-VN" altLang="en-US" sz="3000">
                <a:solidFill>
                  <a:srgbClr val="FFFFFF"/>
                </a:solidFill>
                <a:effectLst/>
                <a:uFillTx/>
                <a:latin typeface="Arial" panose="020B0604020202020204" pitchFamily="34" charset="0"/>
                <a:cs typeface="Arial" panose="020B0604020202020204" pitchFamily="34" charset="0"/>
                <a:sym typeface="+mn-ea"/>
              </a:rPr>
              <a:t>Giải pháp cho </a:t>
            </a:r>
            <a:r>
              <a:rPr lang="en-US" altLang="en-US" sz="3000">
                <a:solidFill>
                  <a:srgbClr val="FFFFFF"/>
                </a:solidFill>
                <a:effectLst/>
                <a:uFillTx/>
                <a:latin typeface="Arial" panose="020B0604020202020204" pitchFamily="34" charset="0"/>
                <a:cs typeface="Arial" panose="020B0604020202020204" pitchFamily="34" charset="0"/>
                <a:sym typeface="+mn-ea"/>
              </a:rPr>
              <a:t>PostgreSQL E</a:t>
            </a:r>
            <a:r>
              <a:rPr lang="vi-VN" altLang="en-US" sz="3000">
                <a:solidFill>
                  <a:srgbClr val="FFFFFF"/>
                </a:solidFill>
                <a:effectLst/>
                <a:uFillTx/>
                <a:latin typeface="Arial" panose="020B0604020202020204" pitchFamily="34" charset="0"/>
                <a:cs typeface="Arial" panose="020B0604020202020204" pitchFamily="34" charset="0"/>
                <a:sym typeface="+mn-ea"/>
              </a:rPr>
              <a:t>xposure </a:t>
            </a:r>
            <a:endParaRPr lang="vi-VN" altLang="en-US" sz="3000">
              <a:solidFill>
                <a:srgbClr val="FFFFFF"/>
              </a:solidFill>
              <a:effectLst/>
              <a:uFillTx/>
              <a:latin typeface="Arial" panose="020B0604020202020204" pitchFamily="34" charset="0"/>
              <a:cs typeface="Arial" panose="020B0604020202020204" pitchFamily="34" charset="0"/>
              <a:sym typeface="+mn-ea"/>
            </a:endParaRPr>
          </a:p>
        </p:txBody>
      </p:sp>
      <p:sp>
        <p:nvSpPr>
          <p:cNvPr id="4" name="Rounded Rectangle 3"/>
          <p:cNvSpPr/>
          <p:nvPr/>
        </p:nvSpPr>
        <p:spPr>
          <a:xfrm>
            <a:off x="755650" y="635635"/>
            <a:ext cx="7609205" cy="821690"/>
          </a:xfrm>
          <a:prstGeom prst="roundRect">
            <a:avLst>
              <a:gd name="adj" fmla="val 24632"/>
            </a:avLst>
          </a:prstGeom>
          <a:solidFill>
            <a:schemeClr val="bg1">
              <a:lumMod val="90000"/>
              <a:lumOff val="10000"/>
            </a:schemeClr>
          </a:solidFill>
        </p:spPr>
        <p:style>
          <a:lnRef idx="0">
            <a:srgbClr val="FFFFFF"/>
          </a:lnRef>
          <a:fillRef idx="1">
            <a:schemeClr val="accent3"/>
          </a:fillRef>
          <a:effectRef idx="0">
            <a:srgbClr val="FFFFFF"/>
          </a:effectRef>
          <a:fontRef idx="minor">
            <a:schemeClr val="dk1"/>
          </a:fontRef>
        </p:style>
        <p:txBody>
          <a:bodyPr anchor="t">
            <a:noAutofit/>
          </a:bodyPr>
          <a:p>
            <a:pPr algn="just" defTabSz="914400">
              <a:lnSpc>
                <a:spcPct val="150000"/>
              </a:lnSpc>
              <a:tabLst>
                <a:tab pos="0" algn="l"/>
              </a:tabLst>
            </a:pPr>
            <a:r>
              <a:rPr lang="vi-VN" altLang="en-US" sz="1200" b="0" u="none" strike="noStrike">
                <a:solidFill>
                  <a:srgbClr val="FFFFFF"/>
                </a:solidFill>
                <a:effectLst/>
                <a:uFillTx/>
                <a:latin typeface="Arial" panose="020B0604020202020204" pitchFamily="34" charset="0"/>
                <a:cs typeface="Arial" panose="020B0604020202020204" pitchFamily="34" charset="0"/>
              </a:rPr>
              <a:t>L</a:t>
            </a:r>
            <a:r>
              <a:rPr lang="en-US" altLang="en-US" sz="1200" b="0" u="none" strike="noStrike">
                <a:solidFill>
                  <a:srgbClr val="FFFFFF"/>
                </a:solidFill>
                <a:effectLst/>
                <a:uFillTx/>
                <a:latin typeface="Arial" panose="020B0604020202020204" pitchFamily="34" charset="0"/>
                <a:cs typeface="Arial" panose="020B0604020202020204" pitchFamily="34" charset="0"/>
              </a:rPr>
              <a:t>oại bỏ Port Mapping</a:t>
            </a:r>
            <a:r>
              <a:rPr lang="vi-VN" altLang="en-US" sz="1200" b="0" u="none" strike="noStrike">
                <a:solidFill>
                  <a:srgbClr val="FFFFFF"/>
                </a:solidFill>
                <a:effectLst/>
                <a:uFillTx/>
                <a:latin typeface="Arial" panose="020B0604020202020204" pitchFamily="34" charset="0"/>
                <a:cs typeface="Arial" panose="020B0604020202020204" pitchFamily="34" charset="0"/>
              </a:rPr>
              <a:t>:</a:t>
            </a:r>
            <a:r>
              <a:rPr lang="en-US" altLang="en-US" sz="1200" b="0" u="none" strike="noStrike">
                <a:solidFill>
                  <a:srgbClr val="FFFFFF"/>
                </a:solidFill>
                <a:effectLst/>
                <a:uFillTx/>
                <a:latin typeface="Arial" panose="020B0604020202020204" pitchFamily="34" charset="0"/>
                <a:cs typeface="Arial" panose="020B0604020202020204" pitchFamily="34" charset="0"/>
              </a:rPr>
              <a:t> Thay vì khai báo ports: 5432:5432, chúng ta loại bỏ hoàn toàn section ports. Nh</a:t>
            </a:r>
            <a:r>
              <a:rPr lang="en-US" altLang="en-US" sz="1200" b="0" u="none" strike="noStrike">
                <a:solidFill>
                  <a:srgbClr val="FFFFFF"/>
                </a:solidFill>
                <a:effectLst/>
                <a:uFillTx/>
                <a:latin typeface="Arial" panose="020B0604020202020204" pitchFamily="34" charset="0"/>
                <a:cs typeface="Arial" panose="020B0604020202020204" pitchFamily="34" charset="0"/>
              </a:rPr>
              <a:t>ư </a:t>
            </a:r>
            <a:r>
              <a:rPr lang="en-US" altLang="en-US" sz="1200" b="0" u="none" strike="noStrike">
                <a:solidFill>
                  <a:srgbClr val="FFFFFF"/>
                </a:solidFill>
                <a:effectLst/>
                <a:uFillTx/>
                <a:latin typeface="Arial" panose="020B0604020202020204" pitchFamily="34" charset="0"/>
                <a:cs typeface="Arial" panose="020B0604020202020204" pitchFamily="34" charset="0"/>
              </a:rPr>
              <a:t>vậy, cổng 5432 không </a:t>
            </a:r>
            <a:r>
              <a:rPr lang="en-US" altLang="en-US" sz="1200" b="0" u="none" strike="noStrike">
                <a:solidFill>
                  <a:srgbClr val="FFFFFF"/>
                </a:solidFill>
                <a:effectLst/>
                <a:uFillTx/>
                <a:latin typeface="Arial" panose="020B0604020202020204" pitchFamily="34" charset="0"/>
                <a:cs typeface="Arial" panose="020B0604020202020204" pitchFamily="34" charset="0"/>
              </a:rPr>
              <a:t>đư</a:t>
            </a:r>
            <a:r>
              <a:rPr lang="en-US" altLang="en-US" sz="1200" b="0" u="none" strike="noStrike">
                <a:solidFill>
                  <a:srgbClr val="FFFFFF"/>
                </a:solidFill>
                <a:effectLst/>
                <a:uFillTx/>
                <a:latin typeface="Arial" panose="020B0604020202020204" pitchFamily="34" charset="0"/>
                <a:cs typeface="Arial" panose="020B0604020202020204" pitchFamily="34" charset="0"/>
              </a:rPr>
              <a:t>ợc ánh xạ ra ngoài, chỉ tồn tại bên trong container.</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p:txBody>
      </p:sp>
      <p:sp>
        <p:nvSpPr>
          <p:cNvPr id="5" name="Rounded Rectangle 4"/>
          <p:cNvSpPr/>
          <p:nvPr/>
        </p:nvSpPr>
        <p:spPr>
          <a:xfrm>
            <a:off x="755650" y="1534160"/>
            <a:ext cx="7609205" cy="1465580"/>
          </a:xfrm>
          <a:prstGeom prst="roundRect">
            <a:avLst>
              <a:gd name="adj" fmla="val 24632"/>
            </a:avLst>
          </a:prstGeom>
          <a:solidFill>
            <a:schemeClr val="bg1">
              <a:lumMod val="90000"/>
              <a:lumOff val="10000"/>
            </a:schemeClr>
          </a:solidFill>
        </p:spPr>
        <p:style>
          <a:lnRef idx="0">
            <a:srgbClr val="FFFFFF"/>
          </a:lnRef>
          <a:fillRef idx="1">
            <a:schemeClr val="accent3"/>
          </a:fillRef>
          <a:effectRef idx="0">
            <a:srgbClr val="FFFFFF"/>
          </a:effectRef>
          <a:fontRef idx="minor">
            <a:schemeClr val="dk1"/>
          </a:fontRef>
        </p:style>
        <p:txBody>
          <a:bodyPr anchor="t">
            <a:noAutofit/>
          </a:bodyPr>
          <a:p>
            <a:pPr algn="just" defTabSz="914400">
              <a:lnSpc>
                <a:spcPct val="150000"/>
              </a:lnSpc>
              <a:tabLst>
                <a:tab pos="0" algn="l"/>
              </a:tabLst>
            </a:pPr>
            <a:r>
              <a:rPr lang="en-US" altLang="en-US" sz="1200" b="0" u="none" strike="noStrike">
                <a:solidFill>
                  <a:srgbClr val="FFFFFF"/>
                </a:solidFill>
                <a:effectLst/>
                <a:uFillTx/>
                <a:latin typeface="Arial" panose="020B0604020202020204" pitchFamily="34" charset="0"/>
                <a:cs typeface="Arial" panose="020B0604020202020204" pitchFamily="34" charset="0"/>
              </a:rPr>
              <a:t>Docker Internal Network</a:t>
            </a:r>
            <a:r>
              <a:rPr lang="vi-VN" altLang="en-US" sz="1200" b="0" u="none" strike="noStrike">
                <a:solidFill>
                  <a:srgbClr val="FFFFFF"/>
                </a:solidFill>
                <a:effectLst/>
                <a:uFillTx/>
                <a:latin typeface="Arial" panose="020B0604020202020204" pitchFamily="34" charset="0"/>
                <a:cs typeface="Arial" panose="020B0604020202020204" pitchFamily="34" charset="0"/>
              </a:rPr>
              <a:t>:</a:t>
            </a:r>
            <a:r>
              <a:rPr lang="en-US" altLang="en-US" sz="1200" b="0" u="none" strike="noStrike">
                <a:solidFill>
                  <a:srgbClr val="FFFFFF"/>
                </a:solidFill>
                <a:effectLst/>
                <a:uFillTx/>
                <a:latin typeface="Arial" panose="020B0604020202020204" pitchFamily="34" charset="0"/>
                <a:cs typeface="Arial" panose="020B0604020202020204" pitchFamily="34" charset="0"/>
              </a:rPr>
              <a:t> Chúng ta tạo một mạng Docker riêng biệt dành cho backend có tên backend_net với driver bridge và internal: true. Từ khóa internal: true có </a:t>
            </a:r>
            <a:r>
              <a:rPr lang="en-US" altLang="en-US" sz="1200" b="0" u="none" strike="noStrike">
                <a:solidFill>
                  <a:srgbClr val="FFFFFF"/>
                </a:solidFill>
                <a:effectLst/>
                <a:uFillTx/>
                <a:latin typeface="Arial" panose="020B0604020202020204" pitchFamily="34" charset="0"/>
                <a:cs typeface="Arial" panose="020B0604020202020204" pitchFamily="34" charset="0"/>
              </a:rPr>
              <a:t>ý </a:t>
            </a:r>
            <a:r>
              <a:rPr lang="en-US" altLang="en-US" sz="1200" b="0" u="none" strike="noStrike">
                <a:solidFill>
                  <a:srgbClr val="FFFFFF"/>
                </a:solidFill>
                <a:effectLst/>
                <a:uFillTx/>
                <a:latin typeface="Arial" panose="020B0604020202020204" pitchFamily="34" charset="0"/>
                <a:cs typeface="Arial" panose="020B0604020202020204" pitchFamily="34" charset="0"/>
              </a:rPr>
              <a:t>ngh</a:t>
            </a:r>
            <a:r>
              <a:rPr lang="en-US" altLang="en-US" sz="1200" b="0" u="none" strike="noStrike">
                <a:solidFill>
                  <a:srgbClr val="FFFFFF"/>
                </a:solidFill>
                <a:effectLst/>
                <a:uFillTx/>
                <a:latin typeface="Arial" panose="020B0604020202020204" pitchFamily="34" charset="0"/>
                <a:cs typeface="Arial" panose="020B0604020202020204" pitchFamily="34" charset="0"/>
              </a:rPr>
              <a:t>ĩ</a:t>
            </a:r>
            <a:r>
              <a:rPr lang="en-US" altLang="en-US" sz="1200" b="0" u="none" strike="noStrike">
                <a:solidFill>
                  <a:srgbClr val="FFFFFF"/>
                </a:solidFill>
                <a:effectLst/>
                <a:uFillTx/>
                <a:latin typeface="Arial" panose="020B0604020202020204" pitchFamily="34" charset="0"/>
                <a:cs typeface="Arial" panose="020B0604020202020204" pitchFamily="34" charset="0"/>
              </a:rPr>
              <a:t>a cực kỳ quan trọng vì nó </a:t>
            </a:r>
            <a:r>
              <a:rPr lang="en-US" altLang="en-US" sz="1200" b="0" u="none" strike="noStrike">
                <a:solidFill>
                  <a:srgbClr val="FFFFFF"/>
                </a:solidFill>
                <a:effectLst/>
                <a:uFillTx/>
                <a:latin typeface="Arial" panose="020B0604020202020204" pitchFamily="34" charset="0"/>
                <a:cs typeface="Arial" panose="020B0604020202020204" pitchFamily="34" charset="0"/>
              </a:rPr>
              <a:t>đ</a:t>
            </a:r>
            <a:r>
              <a:rPr lang="en-US" altLang="en-US" sz="1200" b="0" u="none" strike="noStrike">
                <a:solidFill>
                  <a:srgbClr val="FFFFFF"/>
                </a:solidFill>
                <a:effectLst/>
                <a:uFillTx/>
                <a:latin typeface="Arial" panose="020B0604020202020204" pitchFamily="34" charset="0"/>
                <a:cs typeface="Arial" panose="020B0604020202020204" pitchFamily="34" charset="0"/>
              </a:rPr>
              <a:t>ảm bảo mạng này hoàn toàn cô lập khỏi bên ngoài. Docker sẽ tự </a:t>
            </a:r>
            <a:r>
              <a:rPr lang="en-US" altLang="en-US" sz="1200" b="0" u="none" strike="noStrike">
                <a:solidFill>
                  <a:srgbClr val="FFFFFF"/>
                </a:solidFill>
                <a:effectLst/>
                <a:uFillTx/>
                <a:latin typeface="Arial" panose="020B0604020202020204" pitchFamily="34" charset="0"/>
                <a:cs typeface="Arial" panose="020B0604020202020204" pitchFamily="34" charset="0"/>
              </a:rPr>
              <a:t>đ</a:t>
            </a:r>
            <a:r>
              <a:rPr lang="en-US" altLang="en-US" sz="1200" b="0" u="none" strike="noStrike">
                <a:solidFill>
                  <a:srgbClr val="FFFFFF"/>
                </a:solidFill>
                <a:effectLst/>
                <a:uFillTx/>
                <a:latin typeface="Arial" panose="020B0604020202020204" pitchFamily="34" charset="0"/>
                <a:cs typeface="Arial" panose="020B0604020202020204" pitchFamily="34" charset="0"/>
              </a:rPr>
              <a:t>ộng quản l</a:t>
            </a:r>
            <a:r>
              <a:rPr lang="en-US" altLang="en-US" sz="1200" b="0" u="none" strike="noStrike">
                <a:solidFill>
                  <a:srgbClr val="FFFFFF"/>
                </a:solidFill>
                <a:effectLst/>
                <a:uFillTx/>
                <a:latin typeface="Arial" panose="020B0604020202020204" pitchFamily="34" charset="0"/>
                <a:cs typeface="Arial" panose="020B0604020202020204" pitchFamily="34" charset="0"/>
              </a:rPr>
              <a:t>ý </a:t>
            </a:r>
            <a:r>
              <a:rPr lang="en-US" altLang="en-US" sz="1200" b="0" u="none" strike="noStrike">
                <a:solidFill>
                  <a:srgbClr val="FFFFFF"/>
                </a:solidFill>
                <a:effectLst/>
                <a:uFillTx/>
                <a:latin typeface="Arial" panose="020B0604020202020204" pitchFamily="34" charset="0"/>
                <a:cs typeface="Arial" panose="020B0604020202020204" pitchFamily="34" charset="0"/>
              </a:rPr>
              <a:t>DNS resolution, cho phép container app kết nối tới PostgreSQL bằng hostname "db" thay vì phải biết IP address.</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p:txBody>
      </p:sp>
      <p:sp>
        <p:nvSpPr>
          <p:cNvPr id="9" name="Rounded Rectangle 8"/>
          <p:cNvSpPr/>
          <p:nvPr/>
        </p:nvSpPr>
        <p:spPr>
          <a:xfrm>
            <a:off x="755650" y="3076575"/>
            <a:ext cx="7609205" cy="1746250"/>
          </a:xfrm>
          <a:prstGeom prst="roundRect">
            <a:avLst>
              <a:gd name="adj" fmla="val 24632"/>
            </a:avLst>
          </a:prstGeom>
          <a:solidFill>
            <a:schemeClr val="bg1">
              <a:lumMod val="90000"/>
              <a:lumOff val="10000"/>
            </a:schemeClr>
          </a:solidFill>
        </p:spPr>
        <p:style>
          <a:lnRef idx="0">
            <a:srgbClr val="FFFFFF"/>
          </a:lnRef>
          <a:fillRef idx="1">
            <a:schemeClr val="accent3"/>
          </a:fillRef>
          <a:effectRef idx="0">
            <a:srgbClr val="FFFFFF"/>
          </a:effectRef>
          <a:fontRef idx="minor">
            <a:schemeClr val="dk1"/>
          </a:fontRef>
        </p:style>
        <p:txBody>
          <a:bodyPr anchor="t">
            <a:noAutofit/>
          </a:bodyPr>
          <a:p>
            <a:pPr algn="just" defTabSz="914400">
              <a:lnSpc>
                <a:spcPct val="150000"/>
              </a:lnSpc>
              <a:tabLst>
                <a:tab pos="0" algn="l"/>
              </a:tabLst>
            </a:pPr>
            <a:r>
              <a:rPr lang="en-US" altLang="en-US" sz="1200" b="0" u="none" strike="noStrike">
                <a:solidFill>
                  <a:srgbClr val="FFFFFF"/>
                </a:solidFill>
                <a:effectLst/>
                <a:uFillTx/>
                <a:latin typeface="Arial" panose="020B0604020202020204" pitchFamily="34" charset="0"/>
                <a:cs typeface="Arial" panose="020B0604020202020204" pitchFamily="34" charset="0"/>
              </a:rPr>
              <a:t>Firewall Host (UFW)</a:t>
            </a:r>
            <a:r>
              <a:rPr lang="vi-VN" altLang="en-US" sz="1200" b="0" u="none" strike="noStrike">
                <a:solidFill>
                  <a:srgbClr val="FFFFFF"/>
                </a:solidFill>
                <a:effectLst/>
                <a:uFillTx/>
                <a:latin typeface="Arial" panose="020B0604020202020204" pitchFamily="34" charset="0"/>
                <a:cs typeface="Arial" panose="020B0604020202020204" pitchFamily="34" charset="0"/>
              </a:rPr>
              <a:t>:</a:t>
            </a:r>
            <a:r>
              <a:rPr lang="en-US" altLang="en-US" sz="1200" b="0" u="none" strike="noStrike">
                <a:solidFill>
                  <a:srgbClr val="FFFFFF"/>
                </a:solidFill>
                <a:effectLst/>
                <a:uFillTx/>
                <a:latin typeface="Arial" panose="020B0604020202020204" pitchFamily="34" charset="0"/>
                <a:cs typeface="Arial" panose="020B0604020202020204" pitchFamily="34" charset="0"/>
              </a:rPr>
              <a:t> Trên máy chủ host, chúng ta cấu hình t</a:t>
            </a:r>
            <a:r>
              <a:rPr lang="en-US" altLang="en-US" sz="1200" b="0" u="none" strike="noStrike">
                <a:solidFill>
                  <a:srgbClr val="FFFFFF"/>
                </a:solidFill>
                <a:effectLst/>
                <a:uFillTx/>
                <a:latin typeface="Arial" panose="020B0604020202020204" pitchFamily="34" charset="0"/>
                <a:cs typeface="Arial" panose="020B0604020202020204" pitchFamily="34" charset="0"/>
              </a:rPr>
              <a:t>ư</a:t>
            </a:r>
            <a:r>
              <a:rPr lang="en-US" altLang="en-US" sz="1200" b="0" u="none" strike="noStrike">
                <a:solidFill>
                  <a:srgbClr val="FFFFFF"/>
                </a:solidFill>
                <a:effectLst/>
                <a:uFillTx/>
                <a:latin typeface="Arial" panose="020B0604020202020204" pitchFamily="34" charset="0"/>
                <a:cs typeface="Arial" panose="020B0604020202020204" pitchFamily="34" charset="0"/>
              </a:rPr>
              <a:t>ờng lửa với các lệnh: sudo ufw default deny incoming (từ chối tất cả l</a:t>
            </a:r>
            <a:r>
              <a:rPr lang="en-US" altLang="en-US" sz="1200" b="0" u="none" strike="noStrike">
                <a:solidFill>
                  <a:srgbClr val="FFFFFF"/>
                </a:solidFill>
                <a:effectLst/>
                <a:uFillTx/>
                <a:latin typeface="Arial" panose="020B0604020202020204" pitchFamily="34" charset="0"/>
                <a:cs typeface="Arial" panose="020B0604020202020204" pitchFamily="34" charset="0"/>
              </a:rPr>
              <a:t>ư</a:t>
            </a:r>
            <a:r>
              <a:rPr lang="en-US" altLang="en-US" sz="1200" b="0" u="none" strike="noStrike">
                <a:solidFill>
                  <a:srgbClr val="FFFFFF"/>
                </a:solidFill>
                <a:effectLst/>
                <a:uFillTx/>
                <a:latin typeface="Arial" panose="020B0604020202020204" pitchFamily="34" charset="0"/>
                <a:cs typeface="Arial" panose="020B0604020202020204" pitchFamily="34" charset="0"/>
              </a:rPr>
              <a:t>u l</a:t>
            </a:r>
            <a:r>
              <a:rPr lang="en-US" altLang="en-US" sz="1200" b="0" u="none" strike="noStrike">
                <a:solidFill>
                  <a:srgbClr val="FFFFFF"/>
                </a:solidFill>
                <a:effectLst/>
                <a:uFillTx/>
                <a:latin typeface="Arial" panose="020B0604020202020204" pitchFamily="34" charset="0"/>
                <a:cs typeface="Arial" panose="020B0604020202020204" pitchFamily="34" charset="0"/>
              </a:rPr>
              <a:t>ư</a:t>
            </a:r>
            <a:r>
              <a:rPr lang="en-US" altLang="en-US" sz="1200" b="0" u="none" strike="noStrike">
                <a:solidFill>
                  <a:srgbClr val="FFFFFF"/>
                </a:solidFill>
                <a:effectLst/>
                <a:uFillTx/>
                <a:latin typeface="Arial" panose="020B0604020202020204" pitchFamily="34" charset="0"/>
                <a:cs typeface="Arial" panose="020B0604020202020204" pitchFamily="34" charset="0"/>
              </a:rPr>
              <a:t>ợng vào), sudo ufw default allow outgoing (cho phép tất cả l</a:t>
            </a:r>
            <a:r>
              <a:rPr lang="en-US" altLang="en-US" sz="1200" b="0" u="none" strike="noStrike">
                <a:solidFill>
                  <a:srgbClr val="FFFFFF"/>
                </a:solidFill>
                <a:effectLst/>
                <a:uFillTx/>
                <a:latin typeface="Arial" panose="020B0604020202020204" pitchFamily="34" charset="0"/>
                <a:cs typeface="Arial" panose="020B0604020202020204" pitchFamily="34" charset="0"/>
              </a:rPr>
              <a:t>ư</a:t>
            </a:r>
            <a:r>
              <a:rPr lang="en-US" altLang="en-US" sz="1200" b="0" u="none" strike="noStrike">
                <a:solidFill>
                  <a:srgbClr val="FFFFFF"/>
                </a:solidFill>
                <a:effectLst/>
                <a:uFillTx/>
                <a:latin typeface="Arial" panose="020B0604020202020204" pitchFamily="34" charset="0"/>
                <a:cs typeface="Arial" panose="020B0604020202020204" pitchFamily="34" charset="0"/>
              </a:rPr>
              <a:t>u l</a:t>
            </a:r>
            <a:r>
              <a:rPr lang="en-US" altLang="en-US" sz="1200" b="0" u="none" strike="noStrike">
                <a:solidFill>
                  <a:srgbClr val="FFFFFF"/>
                </a:solidFill>
                <a:effectLst/>
                <a:uFillTx/>
                <a:latin typeface="Arial" panose="020B0604020202020204" pitchFamily="34" charset="0"/>
                <a:cs typeface="Arial" panose="020B0604020202020204" pitchFamily="34" charset="0"/>
              </a:rPr>
              <a:t>ư</a:t>
            </a:r>
            <a:r>
              <a:rPr lang="en-US" altLang="en-US" sz="1200" b="0" u="none" strike="noStrike">
                <a:solidFill>
                  <a:srgbClr val="FFFFFF"/>
                </a:solidFill>
                <a:effectLst/>
                <a:uFillTx/>
                <a:latin typeface="Arial" panose="020B0604020202020204" pitchFamily="34" charset="0"/>
                <a:cs typeface="Arial" panose="020B0604020202020204" pitchFamily="34" charset="0"/>
              </a:rPr>
              <a:t>ợng ra), sudo ufw allow 80/tcp (HTTP), sudo ufw allow 443/tcp (HTTPS), và sudo ufw enable. Cấu hình này tạo ra một bộ lọc vòng ngoài kiên cố. Ngay cả nếu Docker nhầm mở cổng 5432, t</a:t>
            </a:r>
            <a:r>
              <a:rPr lang="en-US" altLang="en-US" sz="1200" b="0" u="none" strike="noStrike">
                <a:solidFill>
                  <a:srgbClr val="FFFFFF"/>
                </a:solidFill>
                <a:effectLst/>
                <a:uFillTx/>
                <a:latin typeface="Arial" panose="020B0604020202020204" pitchFamily="34" charset="0"/>
                <a:cs typeface="Arial" panose="020B0604020202020204" pitchFamily="34" charset="0"/>
              </a:rPr>
              <a:t>ư</a:t>
            </a:r>
            <a:r>
              <a:rPr lang="en-US" altLang="en-US" sz="1200" b="0" u="none" strike="noStrike">
                <a:solidFill>
                  <a:srgbClr val="FFFFFF"/>
                </a:solidFill>
                <a:effectLst/>
                <a:uFillTx/>
                <a:latin typeface="Arial" panose="020B0604020202020204" pitchFamily="34" charset="0"/>
                <a:cs typeface="Arial" panose="020B0604020202020204" pitchFamily="34" charset="0"/>
              </a:rPr>
              <a:t>ờng lửa UFW của hệ </a:t>
            </a:r>
            <a:r>
              <a:rPr lang="en-US" altLang="en-US" sz="1200" b="0" u="none" strike="noStrike">
                <a:solidFill>
                  <a:srgbClr val="FFFFFF"/>
                </a:solidFill>
                <a:effectLst/>
                <a:uFillTx/>
                <a:latin typeface="Arial" panose="020B0604020202020204" pitchFamily="34" charset="0"/>
                <a:cs typeface="Arial" panose="020B0604020202020204" pitchFamily="34" charset="0"/>
              </a:rPr>
              <a:t>đ</a:t>
            </a:r>
            <a:r>
              <a:rPr lang="en-US" altLang="en-US" sz="1200" b="0" u="none" strike="noStrike">
                <a:solidFill>
                  <a:srgbClr val="FFFFFF"/>
                </a:solidFill>
                <a:effectLst/>
                <a:uFillTx/>
                <a:latin typeface="Arial" panose="020B0604020202020204" pitchFamily="34" charset="0"/>
                <a:cs typeface="Arial" panose="020B0604020202020204" pitchFamily="34" charset="0"/>
              </a:rPr>
              <a:t>iều hành vẫn sẽ DROP gói tin này.</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5650" y="53975"/>
            <a:ext cx="6791960" cy="762000"/>
          </a:xfrm>
          <a:prstGeom prst="rect">
            <a:avLst/>
          </a:prstGeom>
          <a:noFill/>
          <a:ln w="0">
            <a:noFill/>
          </a:ln>
        </p:spPr>
        <p:style>
          <a:lnRef idx="0">
            <a:srgbClr val="FFFFFF"/>
          </a:lnRef>
          <a:fillRef idx="0">
            <a:srgbClr val="FFFFFF"/>
          </a:fillRef>
          <a:effectRef idx="0">
            <a:srgbClr val="FFFFFF"/>
          </a:effectRef>
          <a:fontRef idx="minor"/>
        </p:style>
        <p:txBody>
          <a:bodyPr anchor="t">
            <a:noAutofit/>
          </a:bodyPr>
          <a:p>
            <a:pPr defTabSz="914400">
              <a:lnSpc>
                <a:spcPct val="100000"/>
              </a:lnSpc>
              <a:tabLst>
                <a:tab pos="0" algn="l"/>
              </a:tabLst>
            </a:pPr>
            <a:r>
              <a:rPr lang="vi-VN" altLang="en-US" sz="3000">
                <a:solidFill>
                  <a:srgbClr val="FFFFFF"/>
                </a:solidFill>
                <a:effectLst/>
                <a:uFillTx/>
                <a:latin typeface="Arial" panose="020B0604020202020204" pitchFamily="34" charset="0"/>
                <a:cs typeface="Arial" panose="020B0604020202020204" pitchFamily="34" charset="0"/>
                <a:sym typeface="+mn-ea"/>
              </a:rPr>
              <a:t>Giải pháp cho </a:t>
            </a:r>
            <a:r>
              <a:rPr lang="en-US" altLang="en-US" sz="3000">
                <a:solidFill>
                  <a:srgbClr val="FFFFFF"/>
                </a:solidFill>
                <a:effectLst/>
                <a:uFillTx/>
                <a:latin typeface="Arial" panose="020B0604020202020204" pitchFamily="34" charset="0"/>
                <a:cs typeface="Arial" panose="020B0604020202020204" pitchFamily="34" charset="0"/>
                <a:sym typeface="+mn-ea"/>
              </a:rPr>
              <a:t>PostgreSQL E</a:t>
            </a:r>
            <a:r>
              <a:rPr lang="vi-VN" altLang="en-US" sz="3000">
                <a:solidFill>
                  <a:srgbClr val="FFFFFF"/>
                </a:solidFill>
                <a:effectLst/>
                <a:uFillTx/>
                <a:latin typeface="Arial" panose="020B0604020202020204" pitchFamily="34" charset="0"/>
                <a:cs typeface="Arial" panose="020B0604020202020204" pitchFamily="34" charset="0"/>
                <a:sym typeface="+mn-ea"/>
              </a:rPr>
              <a:t>xposure </a:t>
            </a:r>
            <a:endParaRPr lang="vi-VN" altLang="en-US" sz="3000">
              <a:solidFill>
                <a:srgbClr val="FFFFFF"/>
              </a:solidFill>
              <a:effectLst/>
              <a:uFillTx/>
              <a:latin typeface="Arial" panose="020B0604020202020204" pitchFamily="34" charset="0"/>
              <a:cs typeface="Arial" panose="020B0604020202020204" pitchFamily="34" charset="0"/>
              <a:sym typeface="+mn-ea"/>
            </a:endParaRPr>
          </a:p>
        </p:txBody>
      </p:sp>
      <p:sp>
        <p:nvSpPr>
          <p:cNvPr id="4" name="Rounded Rectangle 3"/>
          <p:cNvSpPr/>
          <p:nvPr/>
        </p:nvSpPr>
        <p:spPr>
          <a:xfrm>
            <a:off x="755650" y="635635"/>
            <a:ext cx="7609205" cy="1389380"/>
          </a:xfrm>
          <a:prstGeom prst="roundRect">
            <a:avLst>
              <a:gd name="adj" fmla="val 24632"/>
            </a:avLst>
          </a:prstGeom>
          <a:solidFill>
            <a:schemeClr val="bg1">
              <a:lumMod val="90000"/>
              <a:lumOff val="10000"/>
            </a:schemeClr>
          </a:solidFill>
        </p:spPr>
        <p:style>
          <a:lnRef idx="0">
            <a:srgbClr val="FFFFFF"/>
          </a:lnRef>
          <a:fillRef idx="1">
            <a:schemeClr val="accent3"/>
          </a:fillRef>
          <a:effectRef idx="0">
            <a:srgbClr val="FFFFFF"/>
          </a:effectRef>
          <a:fontRef idx="minor">
            <a:schemeClr val="dk1"/>
          </a:fontRef>
        </p:style>
        <p:txBody>
          <a:bodyPr anchor="t">
            <a:noAutofit/>
          </a:bodyPr>
          <a:p>
            <a:pPr algn="just" defTabSz="914400">
              <a:lnSpc>
                <a:spcPct val="150000"/>
              </a:lnSpc>
              <a:tabLst>
                <a:tab pos="0" algn="l"/>
              </a:tabLst>
            </a:pPr>
            <a:r>
              <a:rPr lang="vi-VN" altLang="en-US" sz="1200" b="0" u="none" strike="noStrike">
                <a:solidFill>
                  <a:srgbClr val="FFFFFF"/>
                </a:solidFill>
                <a:effectLst/>
                <a:uFillTx/>
                <a:latin typeface="Arial" panose="020B0604020202020204" pitchFamily="34" charset="0"/>
                <a:cs typeface="Arial" panose="020B0604020202020204" pitchFamily="34" charset="0"/>
              </a:rPr>
              <a:t>K</a:t>
            </a:r>
            <a:r>
              <a:rPr lang="en-US" altLang="en-US" sz="1200" b="0" u="none" strike="noStrike">
                <a:solidFill>
                  <a:srgbClr val="FFFFFF"/>
                </a:solidFill>
                <a:effectLst/>
                <a:uFillTx/>
                <a:latin typeface="Arial" panose="020B0604020202020204" pitchFamily="34" charset="0"/>
                <a:cs typeface="Arial" panose="020B0604020202020204" pitchFamily="34" charset="0"/>
              </a:rPr>
              <a:t>hông mount socket vào container. Thay vì khai báo volumes chứa /var/run/docker.sock:/var/run/docker.sock, chúng ta chỉ mount những folder thực sự cần thiết nh</a:t>
            </a:r>
            <a:r>
              <a:rPr lang="en-US" altLang="en-US" sz="1200" b="0" u="none" strike="noStrike">
                <a:solidFill>
                  <a:srgbClr val="FFFFFF"/>
                </a:solidFill>
                <a:effectLst/>
                <a:uFillTx/>
                <a:latin typeface="Arial" panose="020B0604020202020204" pitchFamily="34" charset="0"/>
                <a:cs typeface="Arial" panose="020B0604020202020204" pitchFamily="34" charset="0"/>
              </a:rPr>
              <a:t>ư ./</a:t>
            </a:r>
            <a:r>
              <a:rPr lang="en-US" altLang="en-US" sz="1200" b="0" u="none" strike="noStrike">
                <a:solidFill>
                  <a:srgbClr val="FFFFFF"/>
                </a:solidFill>
                <a:effectLst/>
                <a:uFillTx/>
                <a:latin typeface="Arial" panose="020B0604020202020204" pitchFamily="34" charset="0"/>
                <a:cs typeface="Arial" panose="020B0604020202020204" pitchFamily="34" charset="0"/>
              </a:rPr>
              <a:t>storage:/app/storage. Nh</a:t>
            </a:r>
            <a:r>
              <a:rPr lang="en-US" altLang="en-US" sz="1200" b="0" u="none" strike="noStrike">
                <a:solidFill>
                  <a:srgbClr val="FFFFFF"/>
                </a:solidFill>
                <a:effectLst/>
                <a:uFillTx/>
                <a:latin typeface="Arial" panose="020B0604020202020204" pitchFamily="34" charset="0"/>
                <a:cs typeface="Arial" panose="020B0604020202020204" pitchFamily="34" charset="0"/>
              </a:rPr>
              <a:t>ư </a:t>
            </a:r>
            <a:r>
              <a:rPr lang="en-US" altLang="en-US" sz="1200" b="0" u="none" strike="noStrike">
                <a:solidFill>
                  <a:srgbClr val="FFFFFF"/>
                </a:solidFill>
                <a:effectLst/>
                <a:uFillTx/>
                <a:latin typeface="Arial" panose="020B0604020202020204" pitchFamily="34" charset="0"/>
                <a:cs typeface="Arial" panose="020B0604020202020204" pitchFamily="34" charset="0"/>
              </a:rPr>
              <a:t>vậy, container không có quyền truy cập Docker Engine, không thể tạo hoặc xóa container khác.</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p:txBody>
      </p:sp>
      <p:sp>
        <p:nvSpPr>
          <p:cNvPr id="5" name="Rounded Rectangle 4"/>
          <p:cNvSpPr/>
          <p:nvPr/>
        </p:nvSpPr>
        <p:spPr>
          <a:xfrm>
            <a:off x="827405" y="2145665"/>
            <a:ext cx="7609205" cy="1098550"/>
          </a:xfrm>
          <a:prstGeom prst="roundRect">
            <a:avLst>
              <a:gd name="adj" fmla="val 24632"/>
            </a:avLst>
          </a:prstGeom>
          <a:solidFill>
            <a:schemeClr val="bg1">
              <a:lumMod val="90000"/>
              <a:lumOff val="10000"/>
            </a:schemeClr>
          </a:solidFill>
        </p:spPr>
        <p:style>
          <a:lnRef idx="0">
            <a:srgbClr val="FFFFFF"/>
          </a:lnRef>
          <a:fillRef idx="1">
            <a:schemeClr val="accent3"/>
          </a:fillRef>
          <a:effectRef idx="0">
            <a:srgbClr val="FFFFFF"/>
          </a:effectRef>
          <a:fontRef idx="minor">
            <a:schemeClr val="dk1"/>
          </a:fontRef>
        </p:style>
        <p:txBody>
          <a:bodyPr anchor="t">
            <a:noAutofit/>
          </a:bodyPr>
          <a:p>
            <a:pPr algn="just" defTabSz="914400">
              <a:lnSpc>
                <a:spcPct val="150000"/>
              </a:lnSpc>
              <a:tabLst>
                <a:tab pos="0" algn="l"/>
              </a:tabLst>
            </a:pPr>
            <a:r>
              <a:rPr lang="vi-VN" altLang="en-US" sz="1200" b="0" u="none" strike="noStrike">
                <a:solidFill>
                  <a:srgbClr val="FFFFFF"/>
                </a:solidFill>
                <a:effectLst/>
                <a:uFillTx/>
                <a:latin typeface="Arial" panose="020B0604020202020204" pitchFamily="34" charset="0"/>
                <a:cs typeface="Arial" panose="020B0604020202020204" pitchFamily="34" charset="0"/>
              </a:rPr>
              <a:t>S</a:t>
            </a:r>
            <a:r>
              <a:rPr lang="en-US" altLang="en-US" sz="1200" b="0" u="none" strike="noStrike">
                <a:solidFill>
                  <a:srgbClr val="FFFFFF"/>
                </a:solidFill>
                <a:effectLst/>
                <a:uFillTx/>
                <a:latin typeface="Arial" panose="020B0604020202020204" pitchFamily="34" charset="0"/>
                <a:cs typeface="Arial" panose="020B0604020202020204" pitchFamily="34" charset="0"/>
              </a:rPr>
              <a:t>ử dụng Docker API qua HTTP thay vì mount socket, áp dụng fine-grained permissions (phân quyền chi tiết), enable audit logging </a:t>
            </a:r>
            <a:r>
              <a:rPr lang="en-US" altLang="en-US" sz="1200" b="0" u="none" strike="noStrike">
                <a:solidFill>
                  <a:srgbClr val="FFFFFF"/>
                </a:solidFill>
                <a:effectLst/>
                <a:uFillTx/>
                <a:latin typeface="Arial" panose="020B0604020202020204" pitchFamily="34" charset="0"/>
                <a:cs typeface="Arial" panose="020B0604020202020204" pitchFamily="34" charset="0"/>
              </a:rPr>
              <a:t>đ</a:t>
            </a:r>
            <a:r>
              <a:rPr lang="en-US" altLang="en-US" sz="1200" b="0" u="none" strike="noStrike">
                <a:solidFill>
                  <a:srgbClr val="FFFFFF"/>
                </a:solidFill>
                <a:effectLst/>
                <a:uFillTx/>
                <a:latin typeface="Arial" panose="020B0604020202020204" pitchFamily="34" charset="0"/>
                <a:cs typeface="Arial" panose="020B0604020202020204" pitchFamily="34" charset="0"/>
              </a:rPr>
              <a:t>ể ghi lại mọi hoạt </a:t>
            </a:r>
            <a:r>
              <a:rPr lang="en-US" altLang="en-US" sz="1200" b="0" u="none" strike="noStrike">
                <a:solidFill>
                  <a:srgbClr val="FFFFFF"/>
                </a:solidFill>
                <a:effectLst/>
                <a:uFillTx/>
                <a:latin typeface="Arial" panose="020B0604020202020204" pitchFamily="34" charset="0"/>
                <a:cs typeface="Arial" panose="020B0604020202020204" pitchFamily="34" charset="0"/>
              </a:rPr>
              <a:t>đ</a:t>
            </a:r>
            <a:r>
              <a:rPr lang="en-US" altLang="en-US" sz="1200" b="0" u="none" strike="noStrike">
                <a:solidFill>
                  <a:srgbClr val="FFFFFF"/>
                </a:solidFill>
                <a:effectLst/>
                <a:uFillTx/>
                <a:latin typeface="Arial" panose="020B0604020202020204" pitchFamily="34" charset="0"/>
                <a:cs typeface="Arial" panose="020B0604020202020204" pitchFamily="34" charset="0"/>
              </a:rPr>
              <a:t>ộng Docker, và giới hạn những ng</a:t>
            </a:r>
            <a:r>
              <a:rPr lang="en-US" altLang="en-US" sz="1200" b="0" u="none" strike="noStrike">
                <a:solidFill>
                  <a:srgbClr val="FFFFFF"/>
                </a:solidFill>
                <a:effectLst/>
                <a:uFillTx/>
                <a:latin typeface="Arial" panose="020B0604020202020204" pitchFamily="34" charset="0"/>
                <a:cs typeface="Arial" panose="020B0604020202020204" pitchFamily="34" charset="0"/>
              </a:rPr>
              <a:t>ư</a:t>
            </a:r>
            <a:r>
              <a:rPr lang="en-US" altLang="en-US" sz="1200" b="0" u="none" strike="noStrike">
                <a:solidFill>
                  <a:srgbClr val="FFFFFF"/>
                </a:solidFill>
                <a:effectLst/>
                <a:uFillTx/>
                <a:latin typeface="Arial" panose="020B0604020202020204" pitchFamily="34" charset="0"/>
                <a:cs typeface="Arial" panose="020B0604020202020204" pitchFamily="34" charset="0"/>
              </a:rPr>
              <a:t>ời/dịch vụ nào </a:t>
            </a:r>
            <a:r>
              <a:rPr lang="en-US" altLang="en-US" sz="1200" b="0" u="none" strike="noStrike">
                <a:solidFill>
                  <a:srgbClr val="FFFFFF"/>
                </a:solidFill>
                <a:effectLst/>
                <a:uFillTx/>
                <a:latin typeface="Arial" panose="020B0604020202020204" pitchFamily="34" charset="0"/>
                <a:cs typeface="Arial" panose="020B0604020202020204" pitchFamily="34" charset="0"/>
              </a:rPr>
              <a:t>đư</a:t>
            </a:r>
            <a:r>
              <a:rPr lang="en-US" altLang="en-US" sz="1200" b="0" u="none" strike="noStrike">
                <a:solidFill>
                  <a:srgbClr val="FFFFFF"/>
                </a:solidFill>
                <a:effectLst/>
                <a:uFillTx/>
                <a:latin typeface="Arial" panose="020B0604020202020204" pitchFamily="34" charset="0"/>
                <a:cs typeface="Arial" panose="020B0604020202020204" pitchFamily="34" charset="0"/>
              </a:rPr>
              <a:t>ợc phép access.</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p:txBody>
      </p:sp>
      <p:sp>
        <p:nvSpPr>
          <p:cNvPr id="9" name="Rounded Rectangle 8"/>
          <p:cNvSpPr/>
          <p:nvPr/>
        </p:nvSpPr>
        <p:spPr>
          <a:xfrm>
            <a:off x="755650" y="3364230"/>
            <a:ext cx="7609205" cy="1238885"/>
          </a:xfrm>
          <a:prstGeom prst="roundRect">
            <a:avLst>
              <a:gd name="adj" fmla="val 24632"/>
            </a:avLst>
          </a:prstGeom>
          <a:solidFill>
            <a:schemeClr val="bg1">
              <a:lumMod val="90000"/>
              <a:lumOff val="10000"/>
            </a:schemeClr>
          </a:solidFill>
        </p:spPr>
        <p:style>
          <a:lnRef idx="0">
            <a:srgbClr val="FFFFFF"/>
          </a:lnRef>
          <a:fillRef idx="1">
            <a:schemeClr val="accent3"/>
          </a:fillRef>
          <a:effectRef idx="0">
            <a:srgbClr val="FFFFFF"/>
          </a:effectRef>
          <a:fontRef idx="minor">
            <a:schemeClr val="dk1"/>
          </a:fontRef>
        </p:style>
        <p:txBody>
          <a:bodyPr anchor="t">
            <a:noAutofit/>
          </a:bodyPr>
          <a:p>
            <a:pPr algn="just" defTabSz="914400">
              <a:lnSpc>
                <a:spcPct val="150000"/>
              </a:lnSpc>
              <a:tabLst>
                <a:tab pos="0" algn="l"/>
              </a:tabLst>
            </a:pPr>
            <a:r>
              <a:rPr lang="en-US" altLang="en-US" sz="1200" b="0" u="none" strike="noStrike">
                <a:solidFill>
                  <a:srgbClr val="FFFFFF"/>
                </a:solidFill>
                <a:effectLst/>
                <a:uFillTx/>
                <a:latin typeface="Arial" panose="020B0604020202020204" pitchFamily="34" charset="0"/>
                <a:cs typeface="Arial" panose="020B0604020202020204" pitchFamily="34" charset="0"/>
              </a:rPr>
              <a:t>Không nên thêm user thông th</a:t>
            </a:r>
            <a:r>
              <a:rPr lang="en-US" altLang="en-US" sz="1200" b="0" u="none" strike="noStrike">
                <a:solidFill>
                  <a:srgbClr val="FFFFFF"/>
                </a:solidFill>
                <a:effectLst/>
                <a:uFillTx/>
                <a:latin typeface="Arial" panose="020B0604020202020204" pitchFamily="34" charset="0"/>
                <a:cs typeface="Arial" panose="020B0604020202020204" pitchFamily="34" charset="0"/>
              </a:rPr>
              <a:t>ư</a:t>
            </a:r>
            <a:r>
              <a:rPr lang="en-US" altLang="en-US" sz="1200" b="0" u="none" strike="noStrike">
                <a:solidFill>
                  <a:srgbClr val="FFFFFF"/>
                </a:solidFill>
                <a:effectLst/>
                <a:uFillTx/>
                <a:latin typeface="Arial" panose="020B0604020202020204" pitchFamily="34" charset="0"/>
                <a:cs typeface="Arial" panose="020B0604020202020204" pitchFamily="34" charset="0"/>
              </a:rPr>
              <a:t>ờng vào docker group vì bất kỳ thành viên nào trong docker group </a:t>
            </a:r>
            <a:r>
              <a:rPr lang="en-US" altLang="en-US" sz="1200" b="0" u="none" strike="noStrike">
                <a:solidFill>
                  <a:srgbClr val="FFFFFF"/>
                </a:solidFill>
                <a:effectLst/>
                <a:uFillTx/>
                <a:latin typeface="Arial" panose="020B0604020202020204" pitchFamily="34" charset="0"/>
                <a:cs typeface="Arial" panose="020B0604020202020204" pitchFamily="34" charset="0"/>
              </a:rPr>
              <a:t>đ</a:t>
            </a:r>
            <a:r>
              <a:rPr lang="en-US" altLang="en-US" sz="1200" b="0" u="none" strike="noStrike">
                <a:solidFill>
                  <a:srgbClr val="FFFFFF"/>
                </a:solidFill>
                <a:effectLst/>
                <a:uFillTx/>
                <a:latin typeface="Arial" panose="020B0604020202020204" pitchFamily="34" charset="0"/>
                <a:cs typeface="Arial" panose="020B0604020202020204" pitchFamily="34" charset="0"/>
              </a:rPr>
              <a:t>ều có quyền full Docker. Thay vào </a:t>
            </a:r>
            <a:r>
              <a:rPr lang="en-US" altLang="en-US" sz="1200" b="0" u="none" strike="noStrike">
                <a:solidFill>
                  <a:srgbClr val="FFFFFF"/>
                </a:solidFill>
                <a:effectLst/>
                <a:uFillTx/>
                <a:latin typeface="Arial" panose="020B0604020202020204" pitchFamily="34" charset="0"/>
                <a:cs typeface="Arial" panose="020B0604020202020204" pitchFamily="34" charset="0"/>
              </a:rPr>
              <a:t>đ</a:t>
            </a:r>
            <a:r>
              <a:rPr lang="en-US" altLang="en-US" sz="1200" b="0" u="none" strike="noStrike">
                <a:solidFill>
                  <a:srgbClr val="FFFFFF"/>
                </a:solidFill>
                <a:effectLst/>
                <a:uFillTx/>
                <a:latin typeface="Arial" panose="020B0604020202020204" pitchFamily="34" charset="0"/>
                <a:cs typeface="Arial" panose="020B0604020202020204" pitchFamily="34" charset="0"/>
              </a:rPr>
              <a:t>ó, chỉ run Docker qua sudo </a:t>
            </a:r>
            <a:r>
              <a:rPr lang="en-US" altLang="en-US" sz="1200" b="0" u="none" strike="noStrike">
                <a:solidFill>
                  <a:srgbClr val="FFFFFF"/>
                </a:solidFill>
                <a:effectLst/>
                <a:uFillTx/>
                <a:latin typeface="Arial" panose="020B0604020202020204" pitchFamily="34" charset="0"/>
                <a:cs typeface="Arial" panose="020B0604020202020204" pitchFamily="34" charset="0"/>
              </a:rPr>
              <a:t>đ</a:t>
            </a:r>
            <a:r>
              <a:rPr lang="en-US" altLang="en-US" sz="1200" b="0" u="none" strike="noStrike">
                <a:solidFill>
                  <a:srgbClr val="FFFFFF"/>
                </a:solidFill>
                <a:effectLst/>
                <a:uFillTx/>
                <a:latin typeface="Arial" panose="020B0604020202020204" pitchFamily="34" charset="0"/>
                <a:cs typeface="Arial" panose="020B0604020202020204" pitchFamily="34" charset="0"/>
              </a:rPr>
              <a:t>ể audit trail </a:t>
            </a:r>
            <a:r>
              <a:rPr lang="en-US" altLang="en-US" sz="1200" b="0" u="none" strike="noStrike">
                <a:solidFill>
                  <a:srgbClr val="FFFFFF"/>
                </a:solidFill>
                <a:effectLst/>
                <a:uFillTx/>
                <a:latin typeface="Arial" panose="020B0604020202020204" pitchFamily="34" charset="0"/>
                <a:cs typeface="Arial" panose="020B0604020202020204" pitchFamily="34" charset="0"/>
              </a:rPr>
              <a:t>đư</a:t>
            </a:r>
            <a:r>
              <a:rPr lang="en-US" altLang="en-US" sz="1200" b="0" u="none" strike="noStrike">
                <a:solidFill>
                  <a:srgbClr val="FFFFFF"/>
                </a:solidFill>
                <a:effectLst/>
                <a:uFillTx/>
                <a:latin typeface="Arial" panose="020B0604020202020204" pitchFamily="34" charset="0"/>
                <a:cs typeface="Arial" panose="020B0604020202020204" pitchFamily="34" charset="0"/>
              </a:rPr>
              <a:t>ợc ghi lại: sudo docker ps, sudo docker logs container_name.</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5650" y="53975"/>
            <a:ext cx="6791960" cy="762000"/>
          </a:xfrm>
          <a:prstGeom prst="rect">
            <a:avLst/>
          </a:prstGeom>
          <a:noFill/>
          <a:ln w="0">
            <a:noFill/>
          </a:ln>
        </p:spPr>
        <p:style>
          <a:lnRef idx="0">
            <a:srgbClr val="FFFFFF"/>
          </a:lnRef>
          <a:fillRef idx="0">
            <a:srgbClr val="FFFFFF"/>
          </a:fillRef>
          <a:effectRef idx="0">
            <a:srgbClr val="FFFFFF"/>
          </a:effectRef>
          <a:fontRef idx="minor"/>
        </p:style>
        <p:txBody>
          <a:bodyPr anchor="t">
            <a:noAutofit/>
          </a:bodyPr>
          <a:p>
            <a:pPr defTabSz="914400">
              <a:lnSpc>
                <a:spcPct val="100000"/>
              </a:lnSpc>
              <a:tabLst>
                <a:tab pos="0" algn="l"/>
              </a:tabLst>
            </a:pPr>
            <a:r>
              <a:rPr lang="vi-VN" altLang="en-US" sz="3000">
                <a:solidFill>
                  <a:srgbClr val="FFFFFF"/>
                </a:solidFill>
                <a:effectLst/>
                <a:uFillTx/>
                <a:latin typeface="Arial" panose="020B0604020202020204" pitchFamily="34" charset="0"/>
                <a:cs typeface="Arial" panose="020B0604020202020204" pitchFamily="34" charset="0"/>
                <a:sym typeface="+mn-ea"/>
              </a:rPr>
              <a:t>Giải pháp cho </a:t>
            </a:r>
            <a:r>
              <a:rPr lang="en-US" altLang="en-US" sz="3000">
                <a:solidFill>
                  <a:srgbClr val="FFFFFF"/>
                </a:solidFill>
                <a:effectLst/>
                <a:uFillTx/>
                <a:latin typeface="Arial" panose="020B0604020202020204" pitchFamily="34" charset="0"/>
                <a:cs typeface="Arial" panose="020B0604020202020204" pitchFamily="34" charset="0"/>
                <a:sym typeface="+mn-ea"/>
              </a:rPr>
              <a:t>PostgreSQL E</a:t>
            </a:r>
            <a:r>
              <a:rPr lang="vi-VN" altLang="en-US" sz="3000">
                <a:solidFill>
                  <a:srgbClr val="FFFFFF"/>
                </a:solidFill>
                <a:effectLst/>
                <a:uFillTx/>
                <a:latin typeface="Arial" panose="020B0604020202020204" pitchFamily="34" charset="0"/>
                <a:cs typeface="Arial" panose="020B0604020202020204" pitchFamily="34" charset="0"/>
                <a:sym typeface="+mn-ea"/>
              </a:rPr>
              <a:t>xposure </a:t>
            </a:r>
            <a:endParaRPr lang="vi-VN" altLang="en-US" sz="3000">
              <a:solidFill>
                <a:srgbClr val="FFFFFF"/>
              </a:solidFill>
              <a:effectLst/>
              <a:uFillTx/>
              <a:latin typeface="Arial" panose="020B0604020202020204" pitchFamily="34" charset="0"/>
              <a:cs typeface="Arial" panose="020B0604020202020204" pitchFamily="34" charset="0"/>
              <a:sym typeface="+mn-ea"/>
            </a:endParaRPr>
          </a:p>
        </p:txBody>
      </p:sp>
      <p:sp>
        <p:nvSpPr>
          <p:cNvPr id="4" name="Rounded Rectangle 3"/>
          <p:cNvSpPr/>
          <p:nvPr/>
        </p:nvSpPr>
        <p:spPr>
          <a:xfrm>
            <a:off x="755650" y="635635"/>
            <a:ext cx="7609205" cy="1389380"/>
          </a:xfrm>
          <a:prstGeom prst="roundRect">
            <a:avLst>
              <a:gd name="adj" fmla="val 24632"/>
            </a:avLst>
          </a:prstGeom>
          <a:solidFill>
            <a:schemeClr val="bg1">
              <a:lumMod val="90000"/>
              <a:lumOff val="10000"/>
            </a:schemeClr>
          </a:solidFill>
        </p:spPr>
        <p:style>
          <a:lnRef idx="0">
            <a:srgbClr val="FFFFFF"/>
          </a:lnRef>
          <a:fillRef idx="1">
            <a:schemeClr val="accent3"/>
          </a:fillRef>
          <a:effectRef idx="0">
            <a:srgbClr val="FFFFFF"/>
          </a:effectRef>
          <a:fontRef idx="minor">
            <a:schemeClr val="dk1"/>
          </a:fontRef>
        </p:style>
        <p:txBody>
          <a:bodyPr anchor="t">
            <a:noAutofit/>
          </a:bodyPr>
          <a:p>
            <a:pPr algn="just" defTabSz="914400">
              <a:lnSpc>
                <a:spcPct val="150000"/>
              </a:lnSpc>
              <a:tabLst>
                <a:tab pos="0" algn="l"/>
              </a:tabLst>
            </a:pPr>
            <a:r>
              <a:rPr lang="en-US" altLang="en-US" sz="1200" b="0" u="none" strike="noStrike">
                <a:solidFill>
                  <a:srgbClr val="FFFFFF"/>
                </a:solidFill>
                <a:effectLst/>
                <a:uFillTx/>
                <a:latin typeface="Arial" panose="020B0604020202020204" pitchFamily="34" charset="0"/>
                <a:cs typeface="Arial" panose="020B0604020202020204" pitchFamily="34" charset="0"/>
              </a:rPr>
              <a:t>chuyển sang Non-Root User. Trong Dockerfile, chúng ta tạo một user thông th</a:t>
            </a:r>
            <a:r>
              <a:rPr lang="en-US" altLang="en-US" sz="1200" b="0" u="none" strike="noStrike">
                <a:solidFill>
                  <a:srgbClr val="FFFFFF"/>
                </a:solidFill>
                <a:effectLst/>
                <a:uFillTx/>
                <a:latin typeface="Arial" panose="020B0604020202020204" pitchFamily="34" charset="0"/>
                <a:cs typeface="Arial" panose="020B0604020202020204" pitchFamily="34" charset="0"/>
              </a:rPr>
              <a:t>ư</a:t>
            </a:r>
            <a:r>
              <a:rPr lang="en-US" altLang="en-US" sz="1200" b="0" u="none" strike="noStrike">
                <a:solidFill>
                  <a:srgbClr val="FFFFFF"/>
                </a:solidFill>
                <a:effectLst/>
                <a:uFillTx/>
                <a:latin typeface="Arial" panose="020B0604020202020204" pitchFamily="34" charset="0"/>
                <a:cs typeface="Arial" panose="020B0604020202020204" pitchFamily="34" charset="0"/>
              </a:rPr>
              <a:t>ờng với RUN addgroup --gid 1000 appgroup, RUN adduser --uid 1000 --gid 1000 --disabled-password appuser, và sau </a:t>
            </a:r>
            <a:r>
              <a:rPr lang="en-US" altLang="en-US" sz="1200" b="0" u="none" strike="noStrike">
                <a:solidFill>
                  <a:srgbClr val="FFFFFF"/>
                </a:solidFill>
                <a:effectLst/>
                <a:uFillTx/>
                <a:latin typeface="Arial" panose="020B0604020202020204" pitchFamily="34" charset="0"/>
                <a:cs typeface="Arial" panose="020B0604020202020204" pitchFamily="34" charset="0"/>
              </a:rPr>
              <a:t>đ</a:t>
            </a:r>
            <a:r>
              <a:rPr lang="en-US" altLang="en-US" sz="1200" b="0" u="none" strike="noStrike">
                <a:solidFill>
                  <a:srgbClr val="FFFFFF"/>
                </a:solidFill>
                <a:effectLst/>
                <a:uFillTx/>
                <a:latin typeface="Arial" panose="020B0604020202020204" pitchFamily="34" charset="0"/>
                <a:cs typeface="Arial" panose="020B0604020202020204" pitchFamily="34" charset="0"/>
              </a:rPr>
              <a:t>ó USER appuser. Tất cả tiến trình bên trong container sẽ chạy d</a:t>
            </a:r>
            <a:r>
              <a:rPr lang="en-US" altLang="en-US" sz="1200" b="0" u="none" strike="noStrike">
                <a:solidFill>
                  <a:srgbClr val="FFFFFF"/>
                </a:solidFill>
                <a:effectLst/>
                <a:uFillTx/>
                <a:latin typeface="Arial" panose="020B0604020202020204" pitchFamily="34" charset="0"/>
                <a:cs typeface="Arial" panose="020B0604020202020204" pitchFamily="34" charset="0"/>
              </a:rPr>
              <a:t>ư</a:t>
            </a:r>
            <a:r>
              <a:rPr lang="en-US" altLang="en-US" sz="1200" b="0" u="none" strike="noStrike">
                <a:solidFill>
                  <a:srgbClr val="FFFFFF"/>
                </a:solidFill>
                <a:effectLst/>
                <a:uFillTx/>
                <a:latin typeface="Arial" panose="020B0604020202020204" pitchFamily="34" charset="0"/>
                <a:cs typeface="Arial" panose="020B0604020202020204" pitchFamily="34" charset="0"/>
              </a:rPr>
              <a:t>ới quyền appuser (uid=1000) thay vì root (uid=0). Nếu ứng dụng bị khai thác, kẻ tấn công chỉ có quyền của user appuser, hạn chế phạm vi tác hại.</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p:txBody>
      </p:sp>
      <p:sp>
        <p:nvSpPr>
          <p:cNvPr id="5" name="Rounded Rectangle 4"/>
          <p:cNvSpPr/>
          <p:nvPr/>
        </p:nvSpPr>
        <p:spPr>
          <a:xfrm>
            <a:off x="827405" y="2145665"/>
            <a:ext cx="7609205" cy="1098550"/>
          </a:xfrm>
          <a:prstGeom prst="roundRect">
            <a:avLst>
              <a:gd name="adj" fmla="val 24632"/>
            </a:avLst>
          </a:prstGeom>
          <a:solidFill>
            <a:schemeClr val="bg1">
              <a:lumMod val="90000"/>
              <a:lumOff val="10000"/>
            </a:schemeClr>
          </a:solidFill>
        </p:spPr>
        <p:style>
          <a:lnRef idx="0">
            <a:srgbClr val="FFFFFF"/>
          </a:lnRef>
          <a:fillRef idx="1">
            <a:schemeClr val="accent3"/>
          </a:fillRef>
          <a:effectRef idx="0">
            <a:srgbClr val="FFFFFF"/>
          </a:effectRef>
          <a:fontRef idx="minor">
            <a:schemeClr val="dk1"/>
          </a:fontRef>
        </p:style>
        <p:txBody>
          <a:bodyPr anchor="t">
            <a:noAutofit/>
          </a:bodyPr>
          <a:p>
            <a:pPr algn="just" defTabSz="914400">
              <a:lnSpc>
                <a:spcPct val="150000"/>
              </a:lnSpc>
              <a:tabLst>
                <a:tab pos="0" algn="l"/>
              </a:tabLst>
            </a:pPr>
            <a:r>
              <a:rPr lang="vi-VN" altLang="en-US" sz="1200" b="0" u="none" strike="noStrike">
                <a:solidFill>
                  <a:srgbClr val="FFFFFF"/>
                </a:solidFill>
                <a:effectLst/>
                <a:uFillTx/>
                <a:latin typeface="Arial" panose="020B0604020202020204" pitchFamily="34" charset="0"/>
                <a:cs typeface="Arial" panose="020B0604020202020204" pitchFamily="34" charset="0"/>
              </a:rPr>
              <a:t>K</a:t>
            </a:r>
            <a:r>
              <a:rPr lang="en-US" altLang="en-US" sz="1200" b="0" u="none" strike="noStrike">
                <a:solidFill>
                  <a:srgbClr val="FFFFFF"/>
                </a:solidFill>
                <a:effectLst/>
                <a:uFillTx/>
                <a:latin typeface="Arial" panose="020B0604020202020204" pitchFamily="34" charset="0"/>
                <a:cs typeface="Arial" panose="020B0604020202020204" pitchFamily="34" charset="0"/>
              </a:rPr>
              <a:t>iểm soát quyền truy cập tập tin. Th</a:t>
            </a:r>
            <a:r>
              <a:rPr lang="en-US" altLang="en-US" sz="1200" b="0" u="none" strike="noStrike">
                <a:solidFill>
                  <a:srgbClr val="FFFFFF"/>
                </a:solidFill>
                <a:effectLst/>
                <a:uFillTx/>
                <a:latin typeface="Arial" panose="020B0604020202020204" pitchFamily="34" charset="0"/>
                <a:cs typeface="Arial" panose="020B0604020202020204" pitchFamily="34" charset="0"/>
              </a:rPr>
              <a:t>ư </a:t>
            </a:r>
            <a:r>
              <a:rPr lang="en-US" altLang="en-US" sz="1200" b="0" u="none" strike="noStrike">
                <a:solidFill>
                  <a:srgbClr val="FFFFFF"/>
                </a:solidFill>
                <a:effectLst/>
                <a:uFillTx/>
                <a:latin typeface="Arial" panose="020B0604020202020204" pitchFamily="34" charset="0"/>
                <a:cs typeface="Arial" panose="020B0604020202020204" pitchFamily="34" charset="0"/>
              </a:rPr>
              <a:t>mục source code nên chmod 755 (owner RWX, others RX), th</a:t>
            </a:r>
            <a:r>
              <a:rPr lang="en-US" altLang="en-US" sz="1200" b="0" u="none" strike="noStrike">
                <a:solidFill>
                  <a:srgbClr val="FFFFFF"/>
                </a:solidFill>
                <a:effectLst/>
                <a:uFillTx/>
                <a:latin typeface="Arial" panose="020B0604020202020204" pitchFamily="34" charset="0"/>
                <a:cs typeface="Arial" panose="020B0604020202020204" pitchFamily="34" charset="0"/>
              </a:rPr>
              <a:t>ư </a:t>
            </a:r>
            <a:r>
              <a:rPr lang="en-US" altLang="en-US" sz="1200" b="0" u="none" strike="noStrike">
                <a:solidFill>
                  <a:srgbClr val="FFFFFF"/>
                </a:solidFill>
                <a:effectLst/>
                <a:uFillTx/>
                <a:latin typeface="Arial" panose="020B0604020202020204" pitchFamily="34" charset="0"/>
                <a:cs typeface="Arial" panose="020B0604020202020204" pitchFamily="34" charset="0"/>
              </a:rPr>
              <a:t>mục storage nên chmod 775 (owner+group RWX), tệp .env nên chmod 600 (chỉ owner </a:t>
            </a:r>
            <a:r>
              <a:rPr lang="en-US" altLang="en-US" sz="1200" b="0" u="none" strike="noStrike">
                <a:solidFill>
                  <a:srgbClr val="FFFFFF"/>
                </a:solidFill>
                <a:effectLst/>
                <a:uFillTx/>
                <a:latin typeface="Arial" panose="020B0604020202020204" pitchFamily="34" charset="0"/>
                <a:cs typeface="Arial" panose="020B0604020202020204" pitchFamily="34" charset="0"/>
              </a:rPr>
              <a:t>đ</a:t>
            </a:r>
            <a:r>
              <a:rPr lang="en-US" altLang="en-US" sz="1200" b="0" u="none" strike="noStrike">
                <a:solidFill>
                  <a:srgbClr val="FFFFFF"/>
                </a:solidFill>
                <a:effectLst/>
                <a:uFillTx/>
                <a:latin typeface="Arial" panose="020B0604020202020204" pitchFamily="34" charset="0"/>
                <a:cs typeface="Arial" panose="020B0604020202020204" pitchFamily="34" charset="0"/>
              </a:rPr>
              <a:t>ọc), cơ sở dữ liệu volume nên chmod 700 (chỉ owner). Tuyệt </a:t>
            </a:r>
            <a:r>
              <a:rPr lang="en-US" altLang="en-US" sz="1200" b="0" u="none" strike="noStrike">
                <a:solidFill>
                  <a:srgbClr val="FFFFFF"/>
                </a:solidFill>
                <a:effectLst/>
                <a:uFillTx/>
                <a:latin typeface="Arial" panose="020B0604020202020204" pitchFamily="34" charset="0"/>
                <a:cs typeface="Arial" panose="020B0604020202020204" pitchFamily="34" charset="0"/>
              </a:rPr>
              <a:t>đ</a:t>
            </a:r>
            <a:r>
              <a:rPr lang="en-US" altLang="en-US" sz="1200" b="0" u="none" strike="noStrike">
                <a:solidFill>
                  <a:srgbClr val="FFFFFF"/>
                </a:solidFill>
                <a:effectLst/>
                <a:uFillTx/>
                <a:latin typeface="Arial" panose="020B0604020202020204" pitchFamily="34" charset="0"/>
                <a:cs typeface="Arial" panose="020B0604020202020204" pitchFamily="34" charset="0"/>
              </a:rPr>
              <a:t>ối tránh chmod 777 trên bất kỳ tập tin hay th</a:t>
            </a:r>
            <a:r>
              <a:rPr lang="en-US" altLang="en-US" sz="1200" b="0" u="none" strike="noStrike">
                <a:solidFill>
                  <a:srgbClr val="FFFFFF"/>
                </a:solidFill>
                <a:effectLst/>
                <a:uFillTx/>
                <a:latin typeface="Arial" panose="020B0604020202020204" pitchFamily="34" charset="0"/>
                <a:cs typeface="Arial" panose="020B0604020202020204" pitchFamily="34" charset="0"/>
              </a:rPr>
              <a:t>ư </a:t>
            </a:r>
            <a:r>
              <a:rPr lang="en-US" altLang="en-US" sz="1200" b="0" u="none" strike="noStrike">
                <a:solidFill>
                  <a:srgbClr val="FFFFFF"/>
                </a:solidFill>
                <a:effectLst/>
                <a:uFillTx/>
                <a:latin typeface="Arial" panose="020B0604020202020204" pitchFamily="34" charset="0"/>
                <a:cs typeface="Arial" panose="020B0604020202020204" pitchFamily="34" charset="0"/>
              </a:rPr>
              <a:t>mục nào.</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p:txBody>
      </p:sp>
      <p:sp>
        <p:nvSpPr>
          <p:cNvPr id="9" name="Rounded Rectangle 8"/>
          <p:cNvSpPr/>
          <p:nvPr/>
        </p:nvSpPr>
        <p:spPr>
          <a:xfrm>
            <a:off x="755650" y="3364230"/>
            <a:ext cx="7609205" cy="1238885"/>
          </a:xfrm>
          <a:prstGeom prst="roundRect">
            <a:avLst>
              <a:gd name="adj" fmla="val 24632"/>
            </a:avLst>
          </a:prstGeom>
          <a:solidFill>
            <a:schemeClr val="bg1">
              <a:lumMod val="90000"/>
              <a:lumOff val="10000"/>
            </a:schemeClr>
          </a:solidFill>
        </p:spPr>
        <p:style>
          <a:lnRef idx="0">
            <a:srgbClr val="FFFFFF"/>
          </a:lnRef>
          <a:fillRef idx="1">
            <a:schemeClr val="accent3"/>
          </a:fillRef>
          <a:effectRef idx="0">
            <a:srgbClr val="FFFFFF"/>
          </a:effectRef>
          <a:fontRef idx="minor">
            <a:schemeClr val="dk1"/>
          </a:fontRef>
        </p:style>
        <p:txBody>
          <a:bodyPr anchor="t">
            <a:noAutofit/>
          </a:bodyPr>
          <a:p>
            <a:pPr algn="just" defTabSz="914400">
              <a:lnSpc>
                <a:spcPct val="150000"/>
              </a:lnSpc>
              <a:tabLst>
                <a:tab pos="0" algn="l"/>
              </a:tabLst>
            </a:pPr>
            <a:r>
              <a:rPr lang="vi-VN" altLang="en-US" sz="1200" b="0" u="none" strike="noStrike">
                <a:solidFill>
                  <a:srgbClr val="FFFFFF"/>
                </a:solidFill>
                <a:effectLst/>
                <a:uFillTx/>
                <a:latin typeface="Arial" panose="020B0604020202020204" pitchFamily="34" charset="0"/>
                <a:cs typeface="Arial" panose="020B0604020202020204" pitchFamily="34" charset="0"/>
              </a:rPr>
              <a:t>H</a:t>
            </a:r>
            <a:r>
              <a:rPr lang="en-US" altLang="en-US" sz="1200" b="0" u="none" strike="noStrike">
                <a:solidFill>
                  <a:srgbClr val="FFFFFF"/>
                </a:solidFill>
                <a:effectLst/>
                <a:uFillTx/>
                <a:latin typeface="Arial" panose="020B0604020202020204" pitchFamily="34" charset="0"/>
                <a:cs typeface="Arial" panose="020B0604020202020204" pitchFamily="34" charset="0"/>
              </a:rPr>
              <a:t>ạn chế </a:t>
            </a:r>
            <a:r>
              <a:rPr lang="en-US" altLang="en-US" sz="1200" b="0" u="none" strike="noStrike">
                <a:solidFill>
                  <a:srgbClr val="FFFFFF"/>
                </a:solidFill>
                <a:effectLst/>
                <a:uFillTx/>
                <a:latin typeface="Arial" panose="020B0604020202020204" pitchFamily="34" charset="0"/>
                <a:cs typeface="Arial" panose="020B0604020202020204" pitchFamily="34" charset="0"/>
              </a:rPr>
              <a:t>đ</a:t>
            </a:r>
            <a:r>
              <a:rPr lang="en-US" altLang="en-US" sz="1200" b="0" u="none" strike="noStrike">
                <a:solidFill>
                  <a:srgbClr val="FFFFFF"/>
                </a:solidFill>
                <a:effectLst/>
                <a:uFillTx/>
                <a:latin typeface="Arial" panose="020B0604020202020204" pitchFamily="34" charset="0"/>
                <a:cs typeface="Arial" panose="020B0604020202020204" pitchFamily="34" charset="0"/>
              </a:rPr>
              <a:t>ặc quyền không cần thiết bằng cách </a:t>
            </a:r>
            <a:r>
              <a:rPr lang="en-US" altLang="en-US" sz="1200" b="0" u="none" strike="noStrike">
                <a:solidFill>
                  <a:srgbClr val="FFFFFF"/>
                </a:solidFill>
                <a:effectLst/>
                <a:uFillTx/>
                <a:latin typeface="Arial" panose="020B0604020202020204" pitchFamily="34" charset="0"/>
                <a:cs typeface="Arial" panose="020B0604020202020204" pitchFamily="34" charset="0"/>
              </a:rPr>
              <a:t>đ</a:t>
            </a:r>
            <a:r>
              <a:rPr lang="en-US" altLang="en-US" sz="1200" b="0" u="none" strike="noStrike">
                <a:solidFill>
                  <a:srgbClr val="FFFFFF"/>
                </a:solidFill>
                <a:effectLst/>
                <a:uFillTx/>
                <a:latin typeface="Arial" panose="020B0604020202020204" pitchFamily="34" charset="0"/>
                <a:cs typeface="Arial" panose="020B0604020202020204" pitchFamily="34" charset="0"/>
              </a:rPr>
              <a:t>ặt filesystem thành read-only: read_only: true, sau </a:t>
            </a:r>
            <a:r>
              <a:rPr lang="en-US" altLang="en-US" sz="1200" b="0" u="none" strike="noStrike">
                <a:solidFill>
                  <a:srgbClr val="FFFFFF"/>
                </a:solidFill>
                <a:effectLst/>
                <a:uFillTx/>
                <a:latin typeface="Arial" panose="020B0604020202020204" pitchFamily="34" charset="0"/>
                <a:cs typeface="Arial" panose="020B0604020202020204" pitchFamily="34" charset="0"/>
              </a:rPr>
              <a:t>đ</a:t>
            </a:r>
            <a:r>
              <a:rPr lang="en-US" altLang="en-US" sz="1200" b="0" u="none" strike="noStrike">
                <a:solidFill>
                  <a:srgbClr val="FFFFFF"/>
                </a:solidFill>
                <a:effectLst/>
                <a:uFillTx/>
                <a:latin typeface="Arial" panose="020B0604020202020204" pitchFamily="34" charset="0"/>
                <a:cs typeface="Arial" panose="020B0604020202020204" pitchFamily="34" charset="0"/>
              </a:rPr>
              <a:t>ó chỉ mount các volume có thể ghi. Chúng ta c</a:t>
            </a:r>
            <a:r>
              <a:rPr lang="en-US" altLang="en-US" sz="1200" b="0" u="none" strike="noStrike">
                <a:solidFill>
                  <a:srgbClr val="FFFFFF"/>
                </a:solidFill>
                <a:effectLst/>
                <a:uFillTx/>
                <a:latin typeface="Arial" panose="020B0604020202020204" pitchFamily="34" charset="0"/>
                <a:cs typeface="Arial" panose="020B0604020202020204" pitchFamily="34" charset="0"/>
              </a:rPr>
              <a:t>ũ</a:t>
            </a:r>
            <a:r>
              <a:rPr lang="en-US" altLang="en-US" sz="1200" b="0" u="none" strike="noStrike">
                <a:solidFill>
                  <a:srgbClr val="FFFFFF"/>
                </a:solidFill>
                <a:effectLst/>
                <a:uFillTx/>
                <a:latin typeface="Arial" panose="020B0604020202020204" pitchFamily="34" charset="0"/>
                <a:cs typeface="Arial" panose="020B0604020202020204" pitchFamily="34" charset="0"/>
              </a:rPr>
              <a:t>ng áp dụng no-new-privileges: true </a:t>
            </a:r>
            <a:r>
              <a:rPr lang="en-US" altLang="en-US" sz="1200" b="0" u="none" strike="noStrike">
                <a:solidFill>
                  <a:srgbClr val="FFFFFF"/>
                </a:solidFill>
                <a:effectLst/>
                <a:uFillTx/>
                <a:latin typeface="Arial" panose="020B0604020202020204" pitchFamily="34" charset="0"/>
                <a:cs typeface="Arial" panose="020B0604020202020204" pitchFamily="34" charset="0"/>
              </a:rPr>
              <a:t>đ</a:t>
            </a:r>
            <a:r>
              <a:rPr lang="en-US" altLang="en-US" sz="1200" b="0" u="none" strike="noStrike">
                <a:solidFill>
                  <a:srgbClr val="FFFFFF"/>
                </a:solidFill>
                <a:effectLst/>
                <a:uFillTx/>
                <a:latin typeface="Arial" panose="020B0604020202020204" pitchFamily="34" charset="0"/>
                <a:cs typeface="Arial" panose="020B0604020202020204" pitchFamily="34" charset="0"/>
              </a:rPr>
              <a:t>ể ng</a:t>
            </a:r>
            <a:r>
              <a:rPr lang="en-US" altLang="en-US" sz="1200" b="0" u="none" strike="noStrike">
                <a:solidFill>
                  <a:srgbClr val="FFFFFF"/>
                </a:solidFill>
                <a:effectLst/>
                <a:uFillTx/>
                <a:latin typeface="Arial" panose="020B0604020202020204" pitchFamily="34" charset="0"/>
                <a:cs typeface="Arial" panose="020B0604020202020204" pitchFamily="34" charset="0"/>
              </a:rPr>
              <a:t>ă</a:t>
            </a:r>
            <a:r>
              <a:rPr lang="en-US" altLang="en-US" sz="1200" b="0" u="none" strike="noStrike">
                <a:solidFill>
                  <a:srgbClr val="FFFFFF"/>
                </a:solidFill>
                <a:effectLst/>
                <a:uFillTx/>
                <a:latin typeface="Arial" panose="020B0604020202020204" pitchFamily="34" charset="0"/>
                <a:cs typeface="Arial" panose="020B0604020202020204" pitchFamily="34" charset="0"/>
              </a:rPr>
              <a:t>n chặn container từ t</a:t>
            </a:r>
            <a:r>
              <a:rPr lang="en-US" altLang="en-US" sz="1200" b="0" u="none" strike="noStrike">
                <a:solidFill>
                  <a:srgbClr val="FFFFFF"/>
                </a:solidFill>
                <a:effectLst/>
                <a:uFillTx/>
                <a:latin typeface="Arial" panose="020B0604020202020204" pitchFamily="34" charset="0"/>
                <a:cs typeface="Arial" panose="020B0604020202020204" pitchFamily="34" charset="0"/>
              </a:rPr>
              <a:t>ă</a:t>
            </a:r>
            <a:r>
              <a:rPr lang="en-US" altLang="en-US" sz="1200" b="0" u="none" strike="noStrike">
                <a:solidFill>
                  <a:srgbClr val="FFFFFF"/>
                </a:solidFill>
                <a:effectLst/>
                <a:uFillTx/>
                <a:latin typeface="Arial" panose="020B0604020202020204" pitchFamily="34" charset="0"/>
                <a:cs typeface="Arial" panose="020B0604020202020204" pitchFamily="34" charset="0"/>
              </a:rPr>
              <a:t>ng </a:t>
            </a:r>
            <a:r>
              <a:rPr lang="en-US" altLang="en-US" sz="1200" b="0" u="none" strike="noStrike">
                <a:solidFill>
                  <a:srgbClr val="FFFFFF"/>
                </a:solidFill>
                <a:effectLst/>
                <a:uFillTx/>
                <a:latin typeface="Arial" panose="020B0604020202020204" pitchFamily="34" charset="0"/>
                <a:cs typeface="Arial" panose="020B0604020202020204" pitchFamily="34" charset="0"/>
              </a:rPr>
              <a:t>đ</a:t>
            </a:r>
            <a:r>
              <a:rPr lang="en-US" altLang="en-US" sz="1200" b="0" u="none" strike="noStrike">
                <a:solidFill>
                  <a:srgbClr val="FFFFFF"/>
                </a:solidFill>
                <a:effectLst/>
                <a:uFillTx/>
                <a:latin typeface="Arial" panose="020B0604020202020204" pitchFamily="34" charset="0"/>
                <a:cs typeface="Arial" panose="020B0604020202020204" pitchFamily="34" charset="0"/>
              </a:rPr>
              <a:t>ặc quyền. Chúng ta không cấp quyền net.admin: net.ipv4.ip_forward=0.</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5650" y="53975"/>
            <a:ext cx="6791960" cy="762000"/>
          </a:xfrm>
          <a:prstGeom prst="rect">
            <a:avLst/>
          </a:prstGeom>
          <a:noFill/>
          <a:ln w="0">
            <a:noFill/>
          </a:ln>
        </p:spPr>
        <p:style>
          <a:lnRef idx="0">
            <a:srgbClr val="FFFFFF"/>
          </a:lnRef>
          <a:fillRef idx="0">
            <a:srgbClr val="FFFFFF"/>
          </a:fillRef>
          <a:effectRef idx="0">
            <a:srgbClr val="FFFFFF"/>
          </a:effectRef>
          <a:fontRef idx="minor"/>
        </p:style>
        <p:txBody>
          <a:bodyPr anchor="t">
            <a:noAutofit/>
          </a:bodyPr>
          <a:p>
            <a:pPr defTabSz="914400">
              <a:lnSpc>
                <a:spcPct val="100000"/>
              </a:lnSpc>
              <a:tabLst>
                <a:tab pos="0" algn="l"/>
              </a:tabLst>
            </a:pPr>
            <a:r>
              <a:rPr lang="vi-VN" altLang="en-US" sz="3000">
                <a:solidFill>
                  <a:srgbClr val="FFFFFF"/>
                </a:solidFill>
                <a:effectLst/>
                <a:uFillTx/>
                <a:latin typeface="Arial" panose="020B0604020202020204" pitchFamily="34" charset="0"/>
                <a:cs typeface="Arial" panose="020B0604020202020204" pitchFamily="34" charset="0"/>
                <a:sym typeface="+mn-ea"/>
              </a:rPr>
              <a:t>Giải pháp cho </a:t>
            </a:r>
            <a:r>
              <a:rPr lang="en-US" altLang="en-US" sz="3000">
                <a:solidFill>
                  <a:srgbClr val="FFFFFF"/>
                </a:solidFill>
                <a:effectLst/>
                <a:uFillTx/>
                <a:latin typeface="Arial" panose="020B0604020202020204" pitchFamily="34" charset="0"/>
                <a:cs typeface="Arial" panose="020B0604020202020204" pitchFamily="34" charset="0"/>
                <a:sym typeface="+mn-ea"/>
              </a:rPr>
              <a:t>PostgreSQL E</a:t>
            </a:r>
            <a:r>
              <a:rPr lang="vi-VN" altLang="en-US" sz="3000">
                <a:solidFill>
                  <a:srgbClr val="FFFFFF"/>
                </a:solidFill>
                <a:effectLst/>
                <a:uFillTx/>
                <a:latin typeface="Arial" panose="020B0604020202020204" pitchFamily="34" charset="0"/>
                <a:cs typeface="Arial" panose="020B0604020202020204" pitchFamily="34" charset="0"/>
                <a:sym typeface="+mn-ea"/>
              </a:rPr>
              <a:t>xposure </a:t>
            </a:r>
            <a:endParaRPr lang="vi-VN" altLang="en-US" sz="3000">
              <a:solidFill>
                <a:srgbClr val="FFFFFF"/>
              </a:solidFill>
              <a:effectLst/>
              <a:uFillTx/>
              <a:latin typeface="Arial" panose="020B0604020202020204" pitchFamily="34" charset="0"/>
              <a:cs typeface="Arial" panose="020B0604020202020204" pitchFamily="34" charset="0"/>
              <a:sym typeface="+mn-ea"/>
            </a:endParaRPr>
          </a:p>
        </p:txBody>
      </p:sp>
      <p:sp>
        <p:nvSpPr>
          <p:cNvPr id="4" name="Rounded Rectangle 3"/>
          <p:cNvSpPr/>
          <p:nvPr/>
        </p:nvSpPr>
        <p:spPr>
          <a:xfrm>
            <a:off x="755650" y="635635"/>
            <a:ext cx="7609205" cy="1389380"/>
          </a:xfrm>
          <a:prstGeom prst="roundRect">
            <a:avLst>
              <a:gd name="adj" fmla="val 24632"/>
            </a:avLst>
          </a:prstGeom>
          <a:solidFill>
            <a:schemeClr val="bg1">
              <a:lumMod val="90000"/>
              <a:lumOff val="10000"/>
            </a:schemeClr>
          </a:solidFill>
        </p:spPr>
        <p:style>
          <a:lnRef idx="0">
            <a:srgbClr val="FFFFFF"/>
          </a:lnRef>
          <a:fillRef idx="1">
            <a:schemeClr val="accent3"/>
          </a:fillRef>
          <a:effectRef idx="0">
            <a:srgbClr val="FFFFFF"/>
          </a:effectRef>
          <a:fontRef idx="minor">
            <a:schemeClr val="dk1"/>
          </a:fontRef>
        </p:style>
        <p:txBody>
          <a:bodyPr anchor="t">
            <a:noAutofit/>
          </a:bodyPr>
          <a:p>
            <a:pPr algn="just" defTabSz="914400">
              <a:lnSpc>
                <a:spcPct val="150000"/>
              </a:lnSpc>
              <a:tabLst>
                <a:tab pos="0" algn="l"/>
              </a:tabLst>
            </a:pPr>
            <a:r>
              <a:rPr lang="vi-VN" altLang="en-US" sz="1200" b="0" u="none" strike="noStrike">
                <a:solidFill>
                  <a:srgbClr val="FFFFFF"/>
                </a:solidFill>
                <a:effectLst/>
                <a:uFillTx/>
                <a:latin typeface="Arial" panose="020B0604020202020204" pitchFamily="34" charset="0"/>
                <a:cs typeface="Arial" panose="020B0604020202020204" pitchFamily="34" charset="0"/>
              </a:rPr>
              <a:t>T</a:t>
            </a:r>
            <a:r>
              <a:rPr lang="en-US" altLang="en-US" sz="1200" b="0" u="none" strike="noStrike">
                <a:solidFill>
                  <a:srgbClr val="FFFFFF"/>
                </a:solidFill>
                <a:effectLst/>
                <a:uFillTx/>
                <a:latin typeface="Arial" panose="020B0604020202020204" pitchFamily="34" charset="0"/>
                <a:cs typeface="Arial" panose="020B0604020202020204" pitchFamily="34" charset="0"/>
              </a:rPr>
              <a:t>ạo hai mạng Docker riêng biệt. Frontend_net là mạng kết nối tới Internet, chỉ chứa container Nginx. Backend_net là mạng riêng biệt không </a:t>
            </a:r>
            <a:r>
              <a:rPr lang="en-US" altLang="en-US" sz="1200" b="0" u="none" strike="noStrike">
                <a:solidFill>
                  <a:srgbClr val="FFFFFF"/>
                </a:solidFill>
                <a:effectLst/>
                <a:uFillTx/>
                <a:latin typeface="Arial" panose="020B0604020202020204" pitchFamily="34" charset="0"/>
                <a:cs typeface="Arial" panose="020B0604020202020204" pitchFamily="34" charset="0"/>
              </a:rPr>
              <a:t>đư</a:t>
            </a:r>
            <a:r>
              <a:rPr lang="en-US" altLang="en-US" sz="1200" b="0" u="none" strike="noStrike">
                <a:solidFill>
                  <a:srgbClr val="FFFFFF"/>
                </a:solidFill>
                <a:effectLst/>
                <a:uFillTx/>
                <a:latin typeface="Arial" panose="020B0604020202020204" pitchFamily="34" charset="0"/>
                <a:cs typeface="Arial" panose="020B0604020202020204" pitchFamily="34" charset="0"/>
              </a:rPr>
              <a:t>ợc công khai, chứa container App và Database. Nginx </a:t>
            </a:r>
            <a:r>
              <a:rPr lang="en-US" altLang="en-US" sz="1200" b="0" u="none" strike="noStrike">
                <a:solidFill>
                  <a:srgbClr val="FFFFFF"/>
                </a:solidFill>
                <a:effectLst/>
                <a:uFillTx/>
                <a:latin typeface="Arial" panose="020B0604020202020204" pitchFamily="34" charset="0"/>
                <a:cs typeface="Arial" panose="020B0604020202020204" pitchFamily="34" charset="0"/>
              </a:rPr>
              <a:t>đư</a:t>
            </a:r>
            <a:r>
              <a:rPr lang="en-US" altLang="en-US" sz="1200" b="0" u="none" strike="noStrike">
                <a:solidFill>
                  <a:srgbClr val="FFFFFF"/>
                </a:solidFill>
                <a:effectLst/>
                <a:uFillTx/>
                <a:latin typeface="Arial" panose="020B0604020202020204" pitchFamily="34" charset="0"/>
                <a:cs typeface="Arial" panose="020B0604020202020204" pitchFamily="34" charset="0"/>
              </a:rPr>
              <a:t>ợc kết nối tới cả frontend_net (</a:t>
            </a:r>
            <a:r>
              <a:rPr lang="en-US" altLang="en-US" sz="1200" b="0" u="none" strike="noStrike">
                <a:solidFill>
                  <a:srgbClr val="FFFFFF"/>
                </a:solidFill>
                <a:effectLst/>
                <a:uFillTx/>
                <a:latin typeface="Arial" panose="020B0604020202020204" pitchFamily="34" charset="0"/>
                <a:cs typeface="Arial" panose="020B0604020202020204" pitchFamily="34" charset="0"/>
              </a:rPr>
              <a:t>đ</a:t>
            </a:r>
            <a:r>
              <a:rPr lang="en-US" altLang="en-US" sz="1200" b="0" u="none" strike="noStrike">
                <a:solidFill>
                  <a:srgbClr val="FFFFFF"/>
                </a:solidFill>
                <a:effectLst/>
                <a:uFillTx/>
                <a:latin typeface="Arial" panose="020B0604020202020204" pitchFamily="34" charset="0"/>
                <a:cs typeface="Arial" panose="020B0604020202020204" pitchFamily="34" charset="0"/>
              </a:rPr>
              <a:t>ể tiếp nhận request từ Internet) và backend_net (</a:t>
            </a:r>
            <a:r>
              <a:rPr lang="en-US" altLang="en-US" sz="1200" b="0" u="none" strike="noStrike">
                <a:solidFill>
                  <a:srgbClr val="FFFFFF"/>
                </a:solidFill>
                <a:effectLst/>
                <a:uFillTx/>
                <a:latin typeface="Arial" panose="020B0604020202020204" pitchFamily="34" charset="0"/>
                <a:cs typeface="Arial" panose="020B0604020202020204" pitchFamily="34" charset="0"/>
              </a:rPr>
              <a:t>đ</a:t>
            </a:r>
            <a:r>
              <a:rPr lang="en-US" altLang="en-US" sz="1200" b="0" u="none" strike="noStrike">
                <a:solidFill>
                  <a:srgbClr val="FFFFFF"/>
                </a:solidFill>
                <a:effectLst/>
                <a:uFillTx/>
                <a:latin typeface="Arial" panose="020B0604020202020204" pitchFamily="34" charset="0"/>
                <a:cs typeface="Arial" panose="020B0604020202020204" pitchFamily="34" charset="0"/>
              </a:rPr>
              <a:t>ể chuyển tiếp tới App). App chỉ </a:t>
            </a:r>
            <a:r>
              <a:rPr lang="en-US" altLang="en-US" sz="1200" b="0" u="none" strike="noStrike">
                <a:solidFill>
                  <a:srgbClr val="FFFFFF"/>
                </a:solidFill>
                <a:effectLst/>
                <a:uFillTx/>
                <a:latin typeface="Arial" panose="020B0604020202020204" pitchFamily="34" charset="0"/>
                <a:cs typeface="Arial" panose="020B0604020202020204" pitchFamily="34" charset="0"/>
              </a:rPr>
              <a:t>đư</a:t>
            </a:r>
            <a:r>
              <a:rPr lang="en-US" altLang="en-US" sz="1200" b="0" u="none" strike="noStrike">
                <a:solidFill>
                  <a:srgbClr val="FFFFFF"/>
                </a:solidFill>
                <a:effectLst/>
                <a:uFillTx/>
                <a:latin typeface="Arial" panose="020B0604020202020204" pitchFamily="34" charset="0"/>
                <a:cs typeface="Arial" panose="020B0604020202020204" pitchFamily="34" charset="0"/>
              </a:rPr>
              <a:t>ợc kết nối tới backend_net. Database chỉ </a:t>
            </a:r>
            <a:r>
              <a:rPr lang="en-US" altLang="en-US" sz="1200" b="0" u="none" strike="noStrike">
                <a:solidFill>
                  <a:srgbClr val="FFFFFF"/>
                </a:solidFill>
                <a:effectLst/>
                <a:uFillTx/>
                <a:latin typeface="Arial" panose="020B0604020202020204" pitchFamily="34" charset="0"/>
                <a:cs typeface="Arial" panose="020B0604020202020204" pitchFamily="34" charset="0"/>
              </a:rPr>
              <a:t>đư</a:t>
            </a:r>
            <a:r>
              <a:rPr lang="en-US" altLang="en-US" sz="1200" b="0" u="none" strike="noStrike">
                <a:solidFill>
                  <a:srgbClr val="FFFFFF"/>
                </a:solidFill>
                <a:effectLst/>
                <a:uFillTx/>
                <a:latin typeface="Arial" panose="020B0604020202020204" pitchFamily="34" charset="0"/>
                <a:cs typeface="Arial" panose="020B0604020202020204" pitchFamily="34" charset="0"/>
              </a:rPr>
              <a:t>ợc kết nối tới backend_net.</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5650" y="53975"/>
            <a:ext cx="6791960" cy="762000"/>
          </a:xfrm>
          <a:prstGeom prst="rect">
            <a:avLst/>
          </a:prstGeom>
          <a:noFill/>
          <a:ln w="0">
            <a:noFill/>
          </a:ln>
        </p:spPr>
        <p:style>
          <a:lnRef idx="0">
            <a:srgbClr val="FFFFFF"/>
          </a:lnRef>
          <a:fillRef idx="0">
            <a:srgbClr val="FFFFFF"/>
          </a:fillRef>
          <a:effectRef idx="0">
            <a:srgbClr val="FFFFFF"/>
          </a:effectRef>
          <a:fontRef idx="minor"/>
        </p:style>
        <p:txBody>
          <a:bodyPr anchor="t">
            <a:noAutofit/>
          </a:bodyPr>
          <a:p>
            <a:pPr defTabSz="914400">
              <a:lnSpc>
                <a:spcPct val="100000"/>
              </a:lnSpc>
              <a:tabLst>
                <a:tab pos="0" algn="l"/>
              </a:tabLst>
            </a:pPr>
            <a:r>
              <a:rPr lang="en-US" altLang="en-US" sz="3000">
                <a:solidFill>
                  <a:srgbClr val="FFFFFF"/>
                </a:solidFill>
                <a:effectLst/>
                <a:uFillTx/>
                <a:latin typeface="Arial" panose="020B0604020202020204" pitchFamily="34" charset="0"/>
                <a:cs typeface="Arial" panose="020B0604020202020204" pitchFamily="34" charset="0"/>
                <a:sym typeface="+mn-ea"/>
              </a:rPr>
              <a:t>LOGGING &amp; SECRETS</a:t>
            </a:r>
            <a:r>
              <a:rPr lang="vi-VN" altLang="en-US" sz="3000">
                <a:solidFill>
                  <a:srgbClr val="FFFFFF"/>
                </a:solidFill>
                <a:effectLst/>
                <a:uFillTx/>
                <a:latin typeface="Arial" panose="020B0604020202020204" pitchFamily="34" charset="0"/>
                <a:cs typeface="Arial" panose="020B0604020202020204" pitchFamily="34" charset="0"/>
                <a:sym typeface="+mn-ea"/>
              </a:rPr>
              <a:t> </a:t>
            </a:r>
            <a:endParaRPr lang="vi-VN" altLang="en-US" sz="3000">
              <a:solidFill>
                <a:srgbClr val="FFFFFF"/>
              </a:solidFill>
              <a:effectLst/>
              <a:uFillTx/>
              <a:latin typeface="Arial" panose="020B0604020202020204" pitchFamily="34" charset="0"/>
              <a:cs typeface="Arial" panose="020B0604020202020204" pitchFamily="34" charset="0"/>
              <a:sym typeface="+mn-ea"/>
            </a:endParaRPr>
          </a:p>
        </p:txBody>
      </p:sp>
      <p:sp>
        <p:nvSpPr>
          <p:cNvPr id="4" name="Rounded Rectangle 3"/>
          <p:cNvSpPr/>
          <p:nvPr/>
        </p:nvSpPr>
        <p:spPr>
          <a:xfrm>
            <a:off x="755650" y="635635"/>
            <a:ext cx="7609205" cy="1389380"/>
          </a:xfrm>
          <a:prstGeom prst="roundRect">
            <a:avLst>
              <a:gd name="adj" fmla="val 24632"/>
            </a:avLst>
          </a:prstGeom>
          <a:solidFill>
            <a:schemeClr val="bg1">
              <a:lumMod val="90000"/>
              <a:lumOff val="10000"/>
            </a:schemeClr>
          </a:solidFill>
        </p:spPr>
        <p:style>
          <a:lnRef idx="0">
            <a:srgbClr val="FFFFFF"/>
          </a:lnRef>
          <a:fillRef idx="1">
            <a:schemeClr val="accent3"/>
          </a:fillRef>
          <a:effectRef idx="0">
            <a:srgbClr val="FFFFFF"/>
          </a:effectRef>
          <a:fontRef idx="minor">
            <a:schemeClr val="dk1"/>
          </a:fontRef>
        </p:style>
        <p:txBody>
          <a:bodyPr anchor="t">
            <a:noAutofit/>
          </a:bodyPr>
          <a:p>
            <a:pPr algn="just" defTabSz="914400">
              <a:lnSpc>
                <a:spcPct val="150000"/>
              </a:lnSpc>
              <a:tabLst>
                <a:tab pos="0" algn="l"/>
              </a:tabLst>
            </a:pPr>
            <a:r>
              <a:rPr lang="en-US" altLang="en-US" sz="1200" b="0" u="none" strike="noStrike">
                <a:solidFill>
                  <a:srgbClr val="FFFFFF"/>
                </a:solidFill>
                <a:effectLst/>
                <a:uFillTx/>
                <a:latin typeface="Arial" panose="020B0604020202020204" pitchFamily="34" charset="0"/>
                <a:cs typeface="Arial" panose="020B0604020202020204" pitchFamily="34" charset="0"/>
              </a:rPr>
              <a:t>File .env chứa những thông tin cực kỳ nhạy cảm nh</a:t>
            </a:r>
            <a:r>
              <a:rPr lang="en-US" altLang="en-US" sz="1200" b="0" u="none" strike="noStrike">
                <a:solidFill>
                  <a:srgbClr val="FFFFFF"/>
                </a:solidFill>
                <a:effectLst/>
                <a:uFillTx/>
                <a:latin typeface="Arial" panose="020B0604020202020204" pitchFamily="34" charset="0"/>
                <a:cs typeface="Arial" panose="020B0604020202020204" pitchFamily="34" charset="0"/>
              </a:rPr>
              <a:t>ư </a:t>
            </a:r>
            <a:r>
              <a:rPr lang="en-US" altLang="en-US" sz="1200" b="0" u="none" strike="noStrike">
                <a:solidFill>
                  <a:srgbClr val="FFFFFF"/>
                </a:solidFill>
                <a:effectLst/>
                <a:uFillTx/>
                <a:latin typeface="Arial" panose="020B0604020202020204" pitchFamily="34" charset="0"/>
                <a:cs typeface="Arial" panose="020B0604020202020204" pitchFamily="34" charset="0"/>
              </a:rPr>
              <a:t>database credentials, API keys, secret keys. Chúng ta bảo vệ nó bằng Nginx configuration. Trong Nginx config, chúng ta thêm location ~ /. { deny all; return 403; }. Cấu hình này ng</a:t>
            </a:r>
            <a:r>
              <a:rPr lang="en-US" altLang="en-US" sz="1200" b="0" u="none" strike="noStrike">
                <a:solidFill>
                  <a:srgbClr val="FFFFFF"/>
                </a:solidFill>
                <a:effectLst/>
                <a:uFillTx/>
                <a:latin typeface="Arial" panose="020B0604020202020204" pitchFamily="34" charset="0"/>
                <a:cs typeface="Arial" panose="020B0604020202020204" pitchFamily="34" charset="0"/>
              </a:rPr>
              <a:t>ă</a:t>
            </a:r>
            <a:r>
              <a:rPr lang="en-US" altLang="en-US" sz="1200" b="0" u="none" strike="noStrike">
                <a:solidFill>
                  <a:srgbClr val="FFFFFF"/>
                </a:solidFill>
                <a:effectLst/>
                <a:uFillTx/>
                <a:latin typeface="Arial" panose="020B0604020202020204" pitchFamily="34" charset="0"/>
                <a:cs typeface="Arial" panose="020B0604020202020204" pitchFamily="34" charset="0"/>
              </a:rPr>
              <a:t>n chặn bất kỳ yêu cầu HTTP nào tới .env, .git, .htaccess, v.v. Ngoài ra, chúng ta </a:t>
            </a:r>
            <a:r>
              <a:rPr lang="en-US" altLang="en-US" sz="1200" b="0" u="none" strike="noStrike">
                <a:solidFill>
                  <a:srgbClr val="FFFFFF"/>
                </a:solidFill>
                <a:effectLst/>
                <a:uFillTx/>
                <a:latin typeface="Arial" panose="020B0604020202020204" pitchFamily="34" charset="0"/>
                <a:cs typeface="Arial" panose="020B0604020202020204" pitchFamily="34" charset="0"/>
              </a:rPr>
              <a:t>đ</a:t>
            </a:r>
            <a:r>
              <a:rPr lang="en-US" altLang="en-US" sz="1200" b="0" u="none" strike="noStrike">
                <a:solidFill>
                  <a:srgbClr val="FFFFFF"/>
                </a:solidFill>
                <a:effectLst/>
                <a:uFillTx/>
                <a:latin typeface="Arial" panose="020B0604020202020204" pitchFamily="34" charset="0"/>
                <a:cs typeface="Arial" panose="020B0604020202020204" pitchFamily="34" charset="0"/>
              </a:rPr>
              <a:t>ặt chmod 600 .env </a:t>
            </a:r>
            <a:r>
              <a:rPr lang="en-US" altLang="en-US" sz="1200" b="0" u="none" strike="noStrike">
                <a:solidFill>
                  <a:srgbClr val="FFFFFF"/>
                </a:solidFill>
                <a:effectLst/>
                <a:uFillTx/>
                <a:latin typeface="Arial" panose="020B0604020202020204" pitchFamily="34" charset="0"/>
                <a:cs typeface="Arial" panose="020B0604020202020204" pitchFamily="34" charset="0"/>
              </a:rPr>
              <a:t>đ</a:t>
            </a:r>
            <a:r>
              <a:rPr lang="en-US" altLang="en-US" sz="1200" b="0" u="none" strike="noStrike">
                <a:solidFill>
                  <a:srgbClr val="FFFFFF"/>
                </a:solidFill>
                <a:effectLst/>
                <a:uFillTx/>
                <a:latin typeface="Arial" panose="020B0604020202020204" pitchFamily="34" charset="0"/>
                <a:cs typeface="Arial" panose="020B0604020202020204" pitchFamily="34" charset="0"/>
              </a:rPr>
              <a:t>ể chỉ owner (ứng dụng) có thể </a:t>
            </a:r>
            <a:r>
              <a:rPr lang="en-US" altLang="en-US" sz="1200" b="0" u="none" strike="noStrike">
                <a:solidFill>
                  <a:srgbClr val="FFFFFF"/>
                </a:solidFill>
                <a:effectLst/>
                <a:uFillTx/>
                <a:latin typeface="Arial" panose="020B0604020202020204" pitchFamily="34" charset="0"/>
                <a:cs typeface="Arial" panose="020B0604020202020204" pitchFamily="34" charset="0"/>
              </a:rPr>
              <a:t>đ</a:t>
            </a:r>
            <a:r>
              <a:rPr lang="en-US" altLang="en-US" sz="1200" b="0" u="none" strike="noStrike">
                <a:solidFill>
                  <a:srgbClr val="FFFFFF"/>
                </a:solidFill>
                <a:effectLst/>
                <a:uFillTx/>
                <a:latin typeface="Arial" panose="020B0604020202020204" pitchFamily="34" charset="0"/>
                <a:cs typeface="Arial" panose="020B0604020202020204" pitchFamily="34" charset="0"/>
              </a:rPr>
              <a:t>ọc.</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p:txBody>
      </p:sp>
      <p:sp>
        <p:nvSpPr>
          <p:cNvPr id="3" name="Rounded Rectangle 2"/>
          <p:cNvSpPr/>
          <p:nvPr/>
        </p:nvSpPr>
        <p:spPr>
          <a:xfrm>
            <a:off x="683895" y="2025015"/>
            <a:ext cx="7609205" cy="1389380"/>
          </a:xfrm>
          <a:prstGeom prst="roundRect">
            <a:avLst>
              <a:gd name="adj" fmla="val 24632"/>
            </a:avLst>
          </a:prstGeom>
          <a:solidFill>
            <a:schemeClr val="bg1">
              <a:lumMod val="90000"/>
              <a:lumOff val="10000"/>
            </a:schemeClr>
          </a:solidFill>
        </p:spPr>
        <p:style>
          <a:lnRef idx="0">
            <a:srgbClr val="FFFFFF"/>
          </a:lnRef>
          <a:fillRef idx="1">
            <a:schemeClr val="accent3"/>
          </a:fillRef>
          <a:effectRef idx="0">
            <a:srgbClr val="FFFFFF"/>
          </a:effectRef>
          <a:fontRef idx="minor">
            <a:schemeClr val="dk1"/>
          </a:fontRef>
        </p:style>
        <p:txBody>
          <a:bodyPr anchor="t">
            <a:noAutofit/>
          </a:bodyPr>
          <a:p>
            <a:pPr algn="just" defTabSz="914400">
              <a:lnSpc>
                <a:spcPct val="150000"/>
              </a:lnSpc>
              <a:tabLst>
                <a:tab pos="0" algn="l"/>
              </a:tabLst>
            </a:pPr>
            <a:r>
              <a:rPr lang="en-US" altLang="en-US" sz="1200" b="0" u="none" strike="noStrike">
                <a:solidFill>
                  <a:srgbClr val="FFFFFF"/>
                </a:solidFill>
                <a:effectLst/>
                <a:uFillTx/>
                <a:latin typeface="Arial" panose="020B0604020202020204" pitchFamily="34" charset="0"/>
                <a:cs typeface="Arial" panose="020B0604020202020204" pitchFamily="34" charset="0"/>
              </a:rPr>
              <a:t>Logging toàn diện là rất quan trọng. Chúng ta ghi log từ tất cả các thành phần: Nginx Access Logs ghi mọi HTTP request, giúp phát hiện SQL injection, XSS, brute force. Nginx Error Logs ghi các lỗi cấu hình và anomalies. Laravel Logs ghi exceptions, errors, important events. PostgreSQL Logs ghi queries, connection attempts, unauthorized access. Docker Logs ghi container lifecycle events.</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p:txBody>
      </p:sp>
      <p:sp>
        <p:nvSpPr>
          <p:cNvPr id="5" name="Rounded Rectangle 4"/>
          <p:cNvSpPr/>
          <p:nvPr/>
        </p:nvSpPr>
        <p:spPr>
          <a:xfrm>
            <a:off x="755650" y="3499485"/>
            <a:ext cx="7609205" cy="1389380"/>
          </a:xfrm>
          <a:prstGeom prst="roundRect">
            <a:avLst>
              <a:gd name="adj" fmla="val 24632"/>
            </a:avLst>
          </a:prstGeom>
          <a:solidFill>
            <a:schemeClr val="bg1">
              <a:lumMod val="90000"/>
              <a:lumOff val="10000"/>
            </a:schemeClr>
          </a:solidFill>
        </p:spPr>
        <p:style>
          <a:lnRef idx="0">
            <a:srgbClr val="FFFFFF"/>
          </a:lnRef>
          <a:fillRef idx="1">
            <a:schemeClr val="accent3"/>
          </a:fillRef>
          <a:effectRef idx="0">
            <a:srgbClr val="FFFFFF"/>
          </a:effectRef>
          <a:fontRef idx="minor">
            <a:schemeClr val="dk1"/>
          </a:fontRef>
        </p:style>
        <p:txBody>
          <a:bodyPr anchor="t">
            <a:noAutofit/>
          </a:bodyPr>
          <a:p>
            <a:pPr algn="just" defTabSz="914400">
              <a:lnSpc>
                <a:spcPct val="150000"/>
              </a:lnSpc>
              <a:tabLst>
                <a:tab pos="0" algn="l"/>
              </a:tabLst>
            </a:pPr>
            <a:r>
              <a:rPr lang="vi-VN" altLang="en-US" sz="1200" b="0" u="none" strike="noStrike">
                <a:solidFill>
                  <a:srgbClr val="FFFFFF"/>
                </a:solidFill>
                <a:effectLst/>
                <a:uFillTx/>
                <a:latin typeface="Arial" panose="020B0604020202020204" pitchFamily="34" charset="0"/>
                <a:cs typeface="Arial" panose="020B0604020202020204" pitchFamily="34" charset="0"/>
              </a:rPr>
              <a:t>S</a:t>
            </a:r>
            <a:r>
              <a:rPr lang="en-US" altLang="en-US" sz="1200" b="0" u="none" strike="noStrike">
                <a:solidFill>
                  <a:srgbClr val="FFFFFF"/>
                </a:solidFill>
                <a:effectLst/>
                <a:uFillTx/>
                <a:latin typeface="Arial" panose="020B0604020202020204" pitchFamily="34" charset="0"/>
                <a:cs typeface="Arial" panose="020B0604020202020204" pitchFamily="34" charset="0"/>
              </a:rPr>
              <a:t>ử dụng ELK Stack (Elasticsearch, Logstash, Kibana), Prometheus + Grafana, hoặc Loki. Hệ thống centralized logging giúp tìm kiếm mẫu tấn công, phát hiện anomalies tự </a:t>
            </a:r>
            <a:r>
              <a:rPr lang="en-US" altLang="en-US" sz="1200" b="0" u="none" strike="noStrike">
                <a:solidFill>
                  <a:srgbClr val="FFFFFF"/>
                </a:solidFill>
                <a:effectLst/>
                <a:uFillTx/>
                <a:latin typeface="Arial" panose="020B0604020202020204" pitchFamily="34" charset="0"/>
                <a:cs typeface="Arial" panose="020B0604020202020204" pitchFamily="34" charset="0"/>
              </a:rPr>
              <a:t>đ</a:t>
            </a:r>
            <a:r>
              <a:rPr lang="en-US" altLang="en-US" sz="1200" b="0" u="none" strike="noStrike">
                <a:solidFill>
                  <a:srgbClr val="FFFFFF"/>
                </a:solidFill>
                <a:effectLst/>
                <a:uFillTx/>
                <a:latin typeface="Arial" panose="020B0604020202020204" pitchFamily="34" charset="0"/>
                <a:cs typeface="Arial" panose="020B0604020202020204" pitchFamily="34" charset="0"/>
              </a:rPr>
              <a:t>ộng, tạo alerting rules (cảnh báo khi có hoạt </a:t>
            </a:r>
            <a:r>
              <a:rPr lang="en-US" altLang="en-US" sz="1200" b="0" u="none" strike="noStrike">
                <a:solidFill>
                  <a:srgbClr val="FFFFFF"/>
                </a:solidFill>
                <a:effectLst/>
                <a:uFillTx/>
                <a:latin typeface="Arial" panose="020B0604020202020204" pitchFamily="34" charset="0"/>
                <a:cs typeface="Arial" panose="020B0604020202020204" pitchFamily="34" charset="0"/>
              </a:rPr>
              <a:t>đ</a:t>
            </a:r>
            <a:r>
              <a:rPr lang="en-US" altLang="en-US" sz="1200" b="0" u="none" strike="noStrike">
                <a:solidFill>
                  <a:srgbClr val="FFFFFF"/>
                </a:solidFill>
                <a:effectLst/>
                <a:uFillTx/>
                <a:latin typeface="Arial" panose="020B0604020202020204" pitchFamily="34" charset="0"/>
                <a:cs typeface="Arial" panose="020B0604020202020204" pitchFamily="34" charset="0"/>
              </a:rPr>
              <a:t>ộng bất th</a:t>
            </a:r>
            <a:r>
              <a:rPr lang="en-US" altLang="en-US" sz="1200" b="0" u="none" strike="noStrike">
                <a:solidFill>
                  <a:srgbClr val="FFFFFF"/>
                </a:solidFill>
                <a:effectLst/>
                <a:uFillTx/>
                <a:latin typeface="Arial" panose="020B0604020202020204" pitchFamily="34" charset="0"/>
                <a:cs typeface="Arial" panose="020B0604020202020204" pitchFamily="34" charset="0"/>
              </a:rPr>
              <a:t>ư</a:t>
            </a:r>
            <a:r>
              <a:rPr lang="en-US" altLang="en-US" sz="1200" b="0" u="none" strike="noStrike">
                <a:solidFill>
                  <a:srgbClr val="FFFFFF"/>
                </a:solidFill>
                <a:effectLst/>
                <a:uFillTx/>
                <a:latin typeface="Arial" panose="020B0604020202020204" pitchFamily="34" charset="0"/>
                <a:cs typeface="Arial" panose="020B0604020202020204" pitchFamily="34" charset="0"/>
              </a:rPr>
              <a:t>ờng).</a:t>
            </a:r>
            <a:endParaRPr lang="en-US" altLang="en-US" sz="1200" b="0" u="none" strike="noStrike">
              <a:solidFill>
                <a:srgbClr val="FFFFFF"/>
              </a:solidFill>
              <a:effectLst/>
              <a:uFillTx/>
              <a:latin typeface="Arial" panose="020B0604020202020204" pitchFamily="34" charset="0"/>
              <a:cs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Rectangle 63"/>
          <p:cNvSpPr/>
          <p:nvPr/>
        </p:nvSpPr>
        <p:spPr>
          <a:xfrm>
            <a:off x="914400" y="533520"/>
            <a:ext cx="3323880" cy="380520"/>
          </a:xfrm>
          <a:prstGeom prst="rect">
            <a:avLst/>
          </a:prstGeom>
          <a:noFill/>
          <a:ln w="0">
            <a:noFill/>
          </a:ln>
        </p:spPr>
        <p:style>
          <a:lnRef idx="0">
            <a:srgbClr val="FFFFFF"/>
          </a:lnRef>
          <a:fillRef idx="0">
            <a:srgbClr val="FFFFFF"/>
          </a:fillRef>
          <a:effectRef idx="0">
            <a:srgbClr val="FFFFFF"/>
          </a:effectRef>
          <a:fontRef idx="minor"/>
        </p:style>
        <p:txBody>
          <a:bodyPr anchor="t">
            <a:normAutofit fontScale="77500" lnSpcReduction="19999"/>
          </a:bodyPr>
          <a:p>
            <a:pPr defTabSz="914400">
              <a:lnSpc>
                <a:spcPct val="100000"/>
              </a:lnSpc>
              <a:tabLst>
                <a:tab pos="0" algn="l"/>
              </a:tabLst>
            </a:pPr>
            <a:r>
              <a:rPr lang="en-US" sz="3000" b="1" u="none" strike="noStrike">
                <a:solidFill>
                  <a:srgbClr val="FFFFFF"/>
                </a:solidFill>
                <a:effectLst/>
                <a:uFillTx/>
                <a:latin typeface="Montserrat"/>
              </a:rPr>
              <a:t>Kết luận</a:t>
            </a:r>
            <a:endParaRPr lang="en-US" sz="3000" b="0" u="none" strike="noStrike">
              <a:solidFill>
                <a:srgbClr val="FFFFFF"/>
              </a:solidFill>
              <a:effectLst/>
              <a:uFillTx/>
              <a:latin typeface="OpenSymbol" panose="05010000000000000000"/>
            </a:endParaRPr>
          </a:p>
        </p:txBody>
      </p:sp>
      <p:graphicFrame>
        <p:nvGraphicFramePr>
          <p:cNvPr id="2" name="Table 1"/>
          <p:cNvGraphicFramePr/>
          <p:nvPr/>
        </p:nvGraphicFramePr>
        <p:xfrm>
          <a:off x="1371600" y="1238250"/>
          <a:ext cx="6400800" cy="2667000"/>
        </p:xfrm>
        <a:graphic>
          <a:graphicData uri="http://schemas.openxmlformats.org/drawingml/2006/table">
            <a:tbl>
              <a:tblPr firstRow="1" bandRow="1">
                <a:tableStyleId>{5C22544A-7EE6-4342-B048-85BDC9FD1C3A}</a:tableStyleId>
              </a:tblPr>
              <a:tblGrid>
                <a:gridCol w="3200400"/>
                <a:gridCol w="3200400"/>
              </a:tblGrid>
              <a:tr h="381000">
                <a:tc>
                  <a:txBody>
                    <a:bodyPr/>
                    <a:p>
                      <a:pPr>
                        <a:buNone/>
                      </a:pPr>
                      <a:endParaRPr lang="en-US"/>
                    </a:p>
                  </a:txBody>
                  <a:tcPr/>
                </a:tc>
                <a:tc>
                  <a:txBody>
                    <a:bodyPr/>
                    <a:p>
                      <a:pPr>
                        <a:buNone/>
                      </a:pPr>
                      <a:endParaRPr lang="en-US"/>
                    </a:p>
                  </a:txBody>
                  <a:tcPr/>
                </a:tc>
              </a:tr>
              <a:tr h="381000">
                <a:tc>
                  <a:txBody>
                    <a:bodyPr/>
                    <a:p>
                      <a:pPr>
                        <a:buNone/>
                      </a:pPr>
                      <a:r>
                        <a:rPr lang="en-US" altLang="en-US"/>
                        <a:t>Docker Socket </a:t>
                      </a:r>
                      <a:r>
                        <a:rPr lang="en-US" altLang="en-US"/>
                        <a:t>đư</a:t>
                      </a:r>
                      <a:r>
                        <a:rPr lang="en-US" altLang="en-US"/>
                        <a:t>ợc mounted vào container.</a:t>
                      </a:r>
                      <a:endParaRPr lang="en-US" altLang="en-US"/>
                    </a:p>
                  </a:txBody>
                  <a:tcPr/>
                </a:tc>
                <a:tc>
                  <a:txBody>
                    <a:bodyPr/>
                    <a:p>
                      <a:pPr>
                        <a:buNone/>
                      </a:pPr>
                      <a:r>
                        <a:rPr lang="en-US" altLang="en-US"/>
                        <a:t>socket bị loại bỏ hoàn toàn.</a:t>
                      </a:r>
                      <a:endParaRPr lang="en-US" altLang="en-US"/>
                    </a:p>
                  </a:txBody>
                  <a:tcPr/>
                </a:tc>
              </a:tr>
              <a:tr h="381000">
                <a:tc>
                  <a:txBody>
                    <a:bodyPr/>
                    <a:p>
                      <a:pPr>
                        <a:buNone/>
                      </a:pPr>
                      <a:r>
                        <a:rPr lang="en-US" altLang="en-US"/>
                        <a:t>user chạy container là root (uid=0)</a:t>
                      </a:r>
                      <a:endParaRPr lang="en-US" altLang="en-US"/>
                    </a:p>
                  </a:txBody>
                  <a:tcPr/>
                </a:tc>
                <a:tc>
                  <a:txBody>
                    <a:bodyPr/>
                    <a:p>
                      <a:pPr>
                        <a:buNone/>
                      </a:pPr>
                      <a:r>
                        <a:rPr lang="en-US" altLang="en-US"/>
                        <a:t> user là appuser (uid=1000).</a:t>
                      </a:r>
                      <a:endParaRPr lang="en-US" altLang="en-US"/>
                    </a:p>
                  </a:txBody>
                  <a:tcPr/>
                </a:tc>
              </a:tr>
              <a:tr h="381000">
                <a:tc>
                  <a:txBody>
                    <a:bodyPr/>
                    <a:p>
                      <a:pPr>
                        <a:buNone/>
                      </a:pPr>
                      <a:r>
                        <a:rPr lang="en-US" altLang="en-US"/>
                        <a:t>network là Flat (tất cả cùng mạng)</a:t>
                      </a:r>
                      <a:endParaRPr lang="en-US" altLang="en-US"/>
                    </a:p>
                  </a:txBody>
                  <a:tcPr/>
                </a:tc>
                <a:tc>
                  <a:txBody>
                    <a:bodyPr/>
                    <a:p>
                      <a:pPr>
                        <a:buNone/>
                      </a:pPr>
                      <a:r>
                        <a:rPr lang="en-US" altLang="en-US"/>
                        <a:t>network là Frontend &amp; Backend riêng biệt.</a:t>
                      </a:r>
                      <a:endParaRPr lang="en-US" altLang="en-US"/>
                    </a:p>
                  </a:txBody>
                  <a:tcPr/>
                </a:tc>
              </a:tr>
              <a:tr h="381000">
                <a:tc>
                  <a:txBody>
                    <a:bodyPr/>
                    <a:p>
                      <a:pPr>
                        <a:buNone/>
                      </a:pPr>
                      <a:r>
                        <a:rPr lang="en-US" altLang="en-US"/>
                        <a:t> logging tối thiểu</a:t>
                      </a:r>
                      <a:endParaRPr lang="en-US" altLang="en-US"/>
                    </a:p>
                  </a:txBody>
                  <a:tcPr/>
                </a:tc>
                <a:tc>
                  <a:txBody>
                    <a:bodyPr/>
                    <a:p>
                      <a:pPr>
                        <a:buNone/>
                      </a:pPr>
                      <a:r>
                        <a:rPr lang="en-US" altLang="en-US"/>
                        <a:t>logging </a:t>
                      </a:r>
                      <a:r>
                        <a:rPr lang="en-US" altLang="en-US"/>
                        <a:t>đ</a:t>
                      </a:r>
                      <a:r>
                        <a:rPr lang="en-US" altLang="en-US"/>
                        <a:t>ầy </a:t>
                      </a:r>
                      <a:r>
                        <a:rPr lang="en-US" altLang="en-US"/>
                        <a:t>đ</a:t>
                      </a:r>
                      <a:r>
                        <a:rPr lang="en-US" altLang="en-US"/>
                        <a:t>ủ tất cả thành phần.</a:t>
                      </a:r>
                      <a:endParaRPr lang="en-US" altLang="en-US"/>
                    </a:p>
                  </a:txBody>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558;p50"/>
          <p:cNvPicPr/>
          <p:nvPr/>
        </p:nvPicPr>
        <p:blipFill>
          <a:blip r:embed="rId1"/>
          <a:srcRect t="47052"/>
          <a:stretch>
            <a:fillRect/>
          </a:stretch>
        </p:blipFill>
        <p:spPr>
          <a:xfrm rot="10800000" flipH="1">
            <a:off x="-138240" y="3435120"/>
            <a:ext cx="9419760" cy="1770120"/>
          </a:xfrm>
          <a:prstGeom prst="rect">
            <a:avLst/>
          </a:prstGeom>
          <a:noFill/>
          <a:ln w="0">
            <a:noFill/>
          </a:ln>
        </p:spPr>
      </p:pic>
      <p:sp>
        <p:nvSpPr>
          <p:cNvPr id="5" name="PlaceHolder 2"/>
          <p:cNvSpPr>
            <a:spLocks noGrp="1"/>
          </p:cNvSpPr>
          <p:nvPr/>
        </p:nvSpPr>
        <p:spPr>
          <a:xfrm>
            <a:off x="1014095" y="600710"/>
            <a:ext cx="5090795" cy="1945005"/>
          </a:xfrm>
          <a:prstGeom prst="rect">
            <a:avLst/>
          </a:prstGeom>
          <a:noFill/>
          <a:ln w="0">
            <a:noFill/>
          </a:ln>
        </p:spPr>
        <p:txBody>
          <a:bodyPr lIns="91440" tIns="91440" rIns="91440" bIns="91440" anchor="t">
            <a:noAutofit/>
          </a:bodyPr>
          <a:lstStyle>
            <a:lvl1pPr/>
          </a:lstStyle>
          <a:p>
            <a:pPr indent="0">
              <a:lnSpc>
                <a:spcPct val="100000"/>
              </a:lnSpc>
              <a:buNone/>
              <a:tabLst>
                <a:tab pos="0" algn="l"/>
              </a:tabLst>
            </a:pPr>
            <a:r>
              <a:rPr lang="en-GB" sz="6000" b="1" u="none" strike="noStrike">
                <a:solidFill>
                  <a:schemeClr val="dk1"/>
                </a:solidFill>
                <a:effectLst/>
                <a:uFillTx/>
                <a:latin typeface="Montserrat"/>
                <a:ea typeface="Montserrat"/>
              </a:rPr>
              <a:t>THANKS</a:t>
            </a:r>
            <a:endParaRPr lang="fr-FR" sz="6000" b="0" u="none" strike="noStrike">
              <a:solidFill>
                <a:schemeClr val="dk1"/>
              </a:solidFill>
              <a:effectLst/>
              <a:uFillTx/>
              <a:latin typeface="Arial" panose="020B0604020202020204"/>
            </a:endParaRPr>
          </a:p>
        </p:txBody>
      </p:sp>
      <p:cxnSp>
        <p:nvCxnSpPr>
          <p:cNvPr id="16" name="Google Shape;571;p50"/>
          <p:cNvCxnSpPr/>
          <p:nvPr/>
        </p:nvCxnSpPr>
        <p:spPr>
          <a:xfrm>
            <a:off x="1028160" y="1577880"/>
            <a:ext cx="7087680" cy="360"/>
          </a:xfrm>
          <a:prstGeom prst="straightConnector1">
            <a:avLst/>
          </a:prstGeom>
          <a:ln w="9525">
            <a:solidFill>
              <a:srgbClr val="4DE6EC"/>
            </a:solidFill>
            <a:round/>
          </a:ln>
        </p:spPr>
      </p:cxn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ags/tag1.xml><?xml version="1.0" encoding="utf-8"?>
<p:tagLst xmlns:p="http://schemas.openxmlformats.org/presentationml/2006/main">
  <p:tag name="TABLE_ENDDRAG_ORIGIN_RECT" val="606*252"/>
  <p:tag name="TABLE_ENDDRAG_RECT" val="57*109*606*252"/>
</p:tagLst>
</file>

<file path=ppt/theme/theme1.xml><?xml version="1.0" encoding="utf-8"?>
<a:theme xmlns:a="http://schemas.openxmlformats.org/drawingml/2006/main" name="Futuristic Pattern Social Media Strategy by Slidesgo">
  <a:themeElements>
    <a:clrScheme name="Simple Light">
      <a:dk1>
        <a:srgbClr val="FFFFFF"/>
      </a:dk1>
      <a:lt1>
        <a:srgbClr val="0E0734"/>
      </a:lt1>
      <a:dk2>
        <a:srgbClr val="17216B"/>
      </a:dk2>
      <a:lt2>
        <a:srgbClr val="DF3CB0"/>
      </a:lt2>
      <a:accent1>
        <a:srgbClr val="8944BF"/>
      </a:accent1>
      <a:accent2>
        <a:srgbClr val="3060ED"/>
      </a:accent2>
      <a:accent3>
        <a:srgbClr val="4DE6EC"/>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7942</Words>
  <Application>WPS Presentation</Application>
  <PresentationFormat/>
  <Paragraphs>251</Paragraphs>
  <Slides>24</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24</vt:i4>
      </vt:variant>
    </vt:vector>
  </HeadingPairs>
  <TitlesOfParts>
    <vt:vector size="38" baseType="lpstr">
      <vt:lpstr>Arial</vt:lpstr>
      <vt:lpstr>SimSun</vt:lpstr>
      <vt:lpstr>Wingdings</vt:lpstr>
      <vt:lpstr>Arial</vt:lpstr>
      <vt:lpstr>Symbol</vt:lpstr>
      <vt:lpstr>Montserrat</vt:lpstr>
      <vt:lpstr>Liberation Mono</vt:lpstr>
      <vt:lpstr>OpenSymbol</vt:lpstr>
      <vt:lpstr>Inter Bold</vt:lpstr>
      <vt:lpstr>Inter</vt:lpstr>
      <vt:lpstr>Microsoft YaHei</vt:lpstr>
      <vt:lpstr>Arial Unicode MS</vt:lpstr>
      <vt:lpstr>Calibri</vt:lpstr>
      <vt:lpstr>Futuristic Pattern Social Media Strategy by Slidesgo</vt:lpstr>
      <vt:lpstr>PowerPoint 演示文稿</vt:lpstr>
      <vt:lpstr>Mục tiêu chính của đề tài:</vt:lpstr>
      <vt:lpstr>Nội dung trình bày:</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admin</cp:lastModifiedBy>
  <cp:revision>14</cp:revision>
  <dcterms:created xsi:type="dcterms:W3CDTF">2026-06-20T13:44:00Z</dcterms:created>
  <dcterms:modified xsi:type="dcterms:W3CDTF">2026-06-22T01:51:51Z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y fmtid="{D5CDD505-2E9C-101B-9397-08002B2CF9AE}" pid="3" name="KSOProductBuildVer">
    <vt:lpwstr>1033-12.1.0.26880</vt:lpwstr>
  </property>
  <property fmtid="{D5CDD505-2E9C-101B-9397-08002B2CF9AE}" pid="4" name="ICV">
    <vt:lpwstr>A39FB03D8E7A47D5B5DA3CD622A434C4_12</vt:lpwstr>
  </property>
</Properties>
</file>